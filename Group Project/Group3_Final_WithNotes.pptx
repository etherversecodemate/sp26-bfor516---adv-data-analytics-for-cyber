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36" autoAdjust="0"/>
  </p:normalViewPr>
  <p:slideViewPr>
    <p:cSldViewPr snapToGrid="0">
      <p:cViewPr varScale="1">
        <p:scale>
          <a:sx n="97" d="100"/>
          <a:sy n="97"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har, Muhammad H" userId="S::mbahar@albany.edu::84031f88-3164-421f-897b-6250739e55f4" providerId="AD" clId="Web-{EB9B67E4-5983-0066-EDB6-5BD4D10F0685}"/>
    <pc:docChg chg="modSld">
      <pc:chgData name="Bahar, Muhammad H" userId="S::mbahar@albany.edu::84031f88-3164-421f-897b-6250739e55f4" providerId="AD" clId="Web-{EB9B67E4-5983-0066-EDB6-5BD4D10F0685}" dt="2026-04-21T03:21:32.054" v="11" actId="14100"/>
      <pc:docMkLst>
        <pc:docMk/>
      </pc:docMkLst>
      <pc:sldChg chg="modSp">
        <pc:chgData name="Bahar, Muhammad H" userId="S::mbahar@albany.edu::84031f88-3164-421f-897b-6250739e55f4" providerId="AD" clId="Web-{EB9B67E4-5983-0066-EDB6-5BD4D10F0685}" dt="2026-04-21T03:21:32.054" v="11" actId="14100"/>
        <pc:sldMkLst>
          <pc:docMk/>
          <pc:sldMk cId="0" sldId="256"/>
        </pc:sldMkLst>
        <pc:spChg chg="mod">
          <ac:chgData name="Bahar, Muhammad H" userId="S::mbahar@albany.edu::84031f88-3164-421f-897b-6250739e55f4" providerId="AD" clId="Web-{EB9B67E4-5983-0066-EDB6-5BD4D10F0685}" dt="2026-04-21T03:21:32.054" v="11" actId="14100"/>
          <ac:spMkLst>
            <pc:docMk/>
            <pc:sldMk cId="0" sldId="256"/>
            <ac:spMk id="3" creationId="{00000000-0000-0000-0000-000000000000}"/>
          </ac:spMkLst>
        </pc:spChg>
        <pc:spChg chg="mod">
          <ac:chgData name="Bahar, Muhammad H" userId="S::mbahar@albany.edu::84031f88-3164-421f-897b-6250739e55f4" providerId="AD" clId="Web-{EB9B67E4-5983-0066-EDB6-5BD4D10F0685}" dt="2026-04-21T03:21:31.867" v="10" actId="14100"/>
          <ac:spMkLst>
            <pc:docMk/>
            <pc:sldMk cId="0" sldId="256"/>
            <ac:spMk id="4" creationId="{00000000-0000-0000-0000-000000000000}"/>
          </ac:spMkLst>
        </pc:spChg>
      </pc:sldChg>
    </pc:docChg>
  </pc:docChgLst>
  <pc:docChgLst>
    <pc:chgData name="Kone, Spencer" userId="fe97bbf2-0709-451b-a93b-b6a6a83b987d" providerId="ADAL" clId="{36E9DCAE-5048-499D-B829-D4CB4FC117E5}"/>
    <pc:docChg chg="modSld">
      <pc:chgData name="Kone, Spencer" userId="fe97bbf2-0709-451b-a93b-b6a6a83b987d" providerId="ADAL" clId="{36E9DCAE-5048-499D-B829-D4CB4FC117E5}" dt="2026-04-28T22:32:35.362" v="33" actId="20577"/>
      <pc:docMkLst>
        <pc:docMk/>
      </pc:docMkLst>
      <pc:sldChg chg="modSp mod modNotesTx">
        <pc:chgData name="Kone, Spencer" userId="fe97bbf2-0709-451b-a93b-b6a6a83b987d" providerId="ADAL" clId="{36E9DCAE-5048-499D-B829-D4CB4FC117E5}" dt="2026-04-28T22:32:35.362" v="33" actId="20577"/>
        <pc:sldMkLst>
          <pc:docMk/>
          <pc:sldMk cId="0" sldId="256"/>
        </pc:sldMkLst>
        <pc:spChg chg="mod">
          <ac:chgData name="Kone, Spencer" userId="fe97bbf2-0709-451b-a93b-b6a6a83b987d" providerId="ADAL" clId="{36E9DCAE-5048-499D-B829-D4CB4FC117E5}" dt="2026-04-28T22:32:16.827" v="0" actId="1076"/>
          <ac:spMkLst>
            <pc:docMk/>
            <pc:sldMk cId="0" sldId="256"/>
            <ac:spMk id="3" creationId="{00000000-0000-0000-0000-000000000000}"/>
          </ac:spMkLst>
        </pc:spChg>
        <pc:spChg chg="mod">
          <ac:chgData name="Kone, Spencer" userId="fe97bbf2-0709-451b-a93b-b6a6a83b987d" providerId="ADAL" clId="{36E9DCAE-5048-499D-B829-D4CB4FC117E5}" dt="2026-04-28T22:32:20.568" v="1" actId="1076"/>
          <ac:spMkLst>
            <pc:docMk/>
            <pc:sldMk cId="0" sldId="25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barChart>
        <c:barDir val="col"/>
        <c:grouping val="clustered"/>
        <c:varyColors val="0"/>
        <c:ser>
          <c:idx val="0"/>
          <c:order val="0"/>
          <c:tx>
            <c:strRef>
              <c:f>Sheet1!$B$1</c:f>
              <c:strCache>
                <c:ptCount val="1"/>
                <c:pt idx="0">
                  <c:v>Logistic Regression</c:v>
                </c:pt>
              </c:strCache>
            </c:strRef>
          </c:tx>
          <c:spPr>
            <a:solidFill>
              <a:srgbClr val="1565C0"/>
            </a:solidFill>
            <a:effectLst/>
          </c:spPr>
          <c:invertIfNegative val="0"/>
          <c:cat>
            <c:strRef>
              <c:f>Sheet1!$A$2:$A$6</c:f>
              <c:strCache>
                <c:ptCount val="5"/>
                <c:pt idx="0">
                  <c:v>Accuracy</c:v>
                </c:pt>
                <c:pt idx="1">
                  <c:v>Precision*</c:v>
                </c:pt>
                <c:pt idx="2">
                  <c:v>Recall*</c:v>
                </c:pt>
                <c:pt idx="3">
                  <c:v>F1-Score*</c:v>
                </c:pt>
                <c:pt idx="4">
                  <c:v>ROC-AUC</c:v>
                </c:pt>
              </c:strCache>
            </c:strRef>
          </c:cat>
          <c:val>
            <c:numRef>
              <c:f>Sheet1!$B$2:$B$6</c:f>
              <c:numCache>
                <c:formatCode>General</c:formatCode>
                <c:ptCount val="5"/>
                <c:pt idx="0">
                  <c:v>0.67949999999999999</c:v>
                </c:pt>
                <c:pt idx="1">
                  <c:v>0.36709999999999998</c:v>
                </c:pt>
                <c:pt idx="2">
                  <c:v>0.62019999999999997</c:v>
                </c:pt>
                <c:pt idx="3">
                  <c:v>0.4612</c:v>
                </c:pt>
                <c:pt idx="4">
                  <c:v>0.70840000000000003</c:v>
                </c:pt>
              </c:numCache>
            </c:numRef>
          </c:val>
          <c:extLst>
            <c:ext xmlns:c16="http://schemas.microsoft.com/office/drawing/2014/chart" uri="{C3380CC4-5D6E-409C-BE32-E72D297353CC}">
              <c16:uniqueId val="{00000000-7E1A-44ED-9873-5996C4CF7C8A}"/>
            </c:ext>
          </c:extLst>
        </c:ser>
        <c:ser>
          <c:idx val="1"/>
          <c:order val="1"/>
          <c:tx>
            <c:strRef>
              <c:f>Sheet1!$C$1</c:f>
              <c:strCache>
                <c:ptCount val="1"/>
                <c:pt idx="0">
                  <c:v>Gaussian Naive Bayes</c:v>
                </c:pt>
              </c:strCache>
            </c:strRef>
          </c:tx>
          <c:spPr>
            <a:solidFill>
              <a:srgbClr val="7B1FA2"/>
            </a:solidFill>
            <a:effectLst/>
          </c:spPr>
          <c:invertIfNegative val="0"/>
          <c:cat>
            <c:strRef>
              <c:f>Sheet1!$A$2:$A$6</c:f>
              <c:strCache>
                <c:ptCount val="5"/>
                <c:pt idx="0">
                  <c:v>Accuracy</c:v>
                </c:pt>
                <c:pt idx="1">
                  <c:v>Precision*</c:v>
                </c:pt>
                <c:pt idx="2">
                  <c:v>Recall*</c:v>
                </c:pt>
                <c:pt idx="3">
                  <c:v>F1-Score*</c:v>
                </c:pt>
                <c:pt idx="4">
                  <c:v>ROC-AUC</c:v>
                </c:pt>
              </c:strCache>
            </c:strRef>
          </c:cat>
          <c:val>
            <c:numRef>
              <c:f>Sheet1!$C$2:$C$6</c:f>
              <c:numCache>
                <c:formatCode>General</c:formatCode>
                <c:ptCount val="5"/>
                <c:pt idx="0">
                  <c:v>0.75180000000000002</c:v>
                </c:pt>
                <c:pt idx="1">
                  <c:v>0.45040000000000002</c:v>
                </c:pt>
                <c:pt idx="2">
                  <c:v>0.55389999999999995</c:v>
                </c:pt>
                <c:pt idx="3">
                  <c:v>0.49680000000000002</c:v>
                </c:pt>
                <c:pt idx="4">
                  <c:v>0.7248</c:v>
                </c:pt>
              </c:numCache>
            </c:numRef>
          </c:val>
          <c:extLst>
            <c:ext xmlns:c16="http://schemas.microsoft.com/office/drawing/2014/chart" uri="{C3380CC4-5D6E-409C-BE32-E72D297353CC}">
              <c16:uniqueId val="{00000001-7E1A-44ED-9873-5996C4CF7C8A}"/>
            </c:ext>
          </c:extLst>
        </c:ser>
        <c:ser>
          <c:idx val="2"/>
          <c:order val="2"/>
          <c:tx>
            <c:strRef>
              <c:f>Sheet1!$D$1</c:f>
              <c:strCache>
                <c:ptCount val="1"/>
                <c:pt idx="0">
                  <c:v>Decision Tree</c:v>
                </c:pt>
              </c:strCache>
            </c:strRef>
          </c:tx>
          <c:spPr>
            <a:solidFill>
              <a:srgbClr val="00695C"/>
            </a:solidFill>
            <a:effectLst/>
          </c:spPr>
          <c:invertIfNegative val="0"/>
          <c:cat>
            <c:strRef>
              <c:f>Sheet1!$A$2:$A$6</c:f>
              <c:strCache>
                <c:ptCount val="5"/>
                <c:pt idx="0">
                  <c:v>Accuracy</c:v>
                </c:pt>
                <c:pt idx="1">
                  <c:v>Precision*</c:v>
                </c:pt>
                <c:pt idx="2">
                  <c:v>Recall*</c:v>
                </c:pt>
                <c:pt idx="3">
                  <c:v>F1-Score*</c:v>
                </c:pt>
                <c:pt idx="4">
                  <c:v>ROC-AUC</c:v>
                </c:pt>
              </c:strCache>
            </c:strRef>
          </c:cat>
          <c:val>
            <c:numRef>
              <c:f>Sheet1!$D$2:$D$6</c:f>
              <c:numCache>
                <c:formatCode>General</c:formatCode>
                <c:ptCount val="5"/>
                <c:pt idx="0">
                  <c:v>0.77229999999999999</c:v>
                </c:pt>
                <c:pt idx="1">
                  <c:v>0.48699999999999999</c:v>
                </c:pt>
                <c:pt idx="2">
                  <c:v>0.55159999999999998</c:v>
                </c:pt>
                <c:pt idx="3">
                  <c:v>0.51729999999999998</c:v>
                </c:pt>
                <c:pt idx="4">
                  <c:v>0.75890000000000002</c:v>
                </c:pt>
              </c:numCache>
            </c:numRef>
          </c:val>
          <c:extLst>
            <c:ext xmlns:c16="http://schemas.microsoft.com/office/drawing/2014/chart" uri="{C3380CC4-5D6E-409C-BE32-E72D297353CC}">
              <c16:uniqueId val="{00000002-7E1A-44ED-9873-5996C4CF7C8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BBDEF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pPr>
          <a:endParaRPr lang="en-US"/>
        </a:p>
      </c:txPr>
    </c:legend>
    <c:plotVisOnly val="1"/>
    <c:dispBlanksAs val="span"/>
    <c:showDLblsOverMax val="1"/>
  </c:chart>
  <c:spPr>
    <a:solidFill>
      <a:srgbClr val="F0F6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Gini Importance (%)</c:v>
                </c:pt>
              </c:strCache>
            </c:strRef>
          </c:tx>
          <c:spPr>
            <a:solidFill>
              <a:srgbClr val="00B8D4"/>
            </a:solidFill>
            <a:effectLst/>
          </c:spPr>
          <c:invertIfNegative val="0"/>
          <c:dPt>
            <c:idx val="0"/>
            <c:invertIfNegative val="0"/>
            <c:bubble3D val="0"/>
            <c:extLst>
              <c:ext xmlns:c16="http://schemas.microsoft.com/office/drawing/2014/chart" uri="{C3380CC4-5D6E-409C-BE32-E72D297353CC}">
                <c16:uniqueId val="{00000001-1697-450C-A5A2-D055D2C17CAB}"/>
              </c:ext>
            </c:extLst>
          </c:dPt>
          <c:dPt>
            <c:idx val="1"/>
            <c:invertIfNegative val="0"/>
            <c:bubble3D val="0"/>
            <c:spPr>
              <a:solidFill>
                <a:srgbClr val="1565C0"/>
              </a:solidFill>
              <a:effectLst/>
            </c:spPr>
            <c:extLst>
              <c:ext xmlns:c16="http://schemas.microsoft.com/office/drawing/2014/chart" uri="{C3380CC4-5D6E-409C-BE32-E72D297353CC}">
                <c16:uniqueId val="{00000003-1697-450C-A5A2-D055D2C17CAB}"/>
              </c:ext>
            </c:extLst>
          </c:dPt>
          <c:dPt>
            <c:idx val="2"/>
            <c:invertIfNegative val="0"/>
            <c:bubble3D val="0"/>
            <c:spPr>
              <a:solidFill>
                <a:srgbClr val="1565C0"/>
              </a:solidFill>
              <a:effectLst/>
            </c:spPr>
            <c:extLst>
              <c:ext xmlns:c16="http://schemas.microsoft.com/office/drawing/2014/chart" uri="{C3380CC4-5D6E-409C-BE32-E72D297353CC}">
                <c16:uniqueId val="{00000005-1697-450C-A5A2-D055D2C17CAB}"/>
              </c:ext>
            </c:extLst>
          </c:dPt>
          <c:dPt>
            <c:idx val="3"/>
            <c:invertIfNegative val="0"/>
            <c:bubble3D val="0"/>
            <c:spPr>
              <a:solidFill>
                <a:srgbClr val="1565C0"/>
              </a:solidFill>
              <a:effectLst/>
            </c:spPr>
            <c:extLst>
              <c:ext xmlns:c16="http://schemas.microsoft.com/office/drawing/2014/chart" uri="{C3380CC4-5D6E-409C-BE32-E72D297353CC}">
                <c16:uniqueId val="{00000007-1697-450C-A5A2-D055D2C17CAB}"/>
              </c:ext>
            </c:extLst>
          </c:dPt>
          <c:dPt>
            <c:idx val="4"/>
            <c:invertIfNegative val="0"/>
            <c:bubble3D val="0"/>
            <c:spPr>
              <a:solidFill>
                <a:srgbClr val="1565C0"/>
              </a:solidFill>
              <a:effectLst/>
            </c:spPr>
            <c:extLst>
              <c:ext xmlns:c16="http://schemas.microsoft.com/office/drawing/2014/chart" uri="{C3380CC4-5D6E-409C-BE32-E72D297353CC}">
                <c16:uniqueId val="{00000009-1697-450C-A5A2-D055D2C17CAB}"/>
              </c:ext>
            </c:extLst>
          </c:dPt>
          <c:dPt>
            <c:idx val="5"/>
            <c:invertIfNegative val="0"/>
            <c:bubble3D val="0"/>
            <c:spPr>
              <a:solidFill>
                <a:srgbClr val="1565C0"/>
              </a:solidFill>
              <a:effectLst/>
            </c:spPr>
            <c:extLst>
              <c:ext xmlns:c16="http://schemas.microsoft.com/office/drawing/2014/chart" uri="{C3380CC4-5D6E-409C-BE32-E72D297353CC}">
                <c16:uniqueId val="{0000000B-1697-450C-A5A2-D055D2C17CAB}"/>
              </c:ext>
            </c:extLst>
          </c:dPt>
          <c:dPt>
            <c:idx val="6"/>
            <c:invertIfNegative val="0"/>
            <c:bubble3D val="0"/>
            <c:spPr>
              <a:solidFill>
                <a:srgbClr val="1565C0"/>
              </a:solidFill>
              <a:effectLst/>
            </c:spPr>
            <c:extLst>
              <c:ext xmlns:c16="http://schemas.microsoft.com/office/drawing/2014/chart" uri="{C3380CC4-5D6E-409C-BE32-E72D297353CC}">
                <c16:uniqueId val="{0000000D-1697-450C-A5A2-D055D2C17CAB}"/>
              </c:ext>
            </c:extLst>
          </c:dPt>
          <c:dPt>
            <c:idx val="7"/>
            <c:invertIfNegative val="0"/>
            <c:bubble3D val="0"/>
            <c:spPr>
              <a:solidFill>
                <a:srgbClr val="1565C0"/>
              </a:solidFill>
              <a:effectLst/>
            </c:spPr>
            <c:extLst>
              <c:ext xmlns:c16="http://schemas.microsoft.com/office/drawing/2014/chart" uri="{C3380CC4-5D6E-409C-BE32-E72D297353CC}">
                <c16:uniqueId val="{0000000F-1697-450C-A5A2-D055D2C17CAB}"/>
              </c:ext>
            </c:extLst>
          </c:dPt>
          <c:dPt>
            <c:idx val="8"/>
            <c:invertIfNegative val="0"/>
            <c:bubble3D val="0"/>
            <c:spPr>
              <a:solidFill>
                <a:srgbClr val="1565C0"/>
              </a:solidFill>
              <a:effectLst/>
            </c:spPr>
            <c:extLst>
              <c:ext xmlns:c16="http://schemas.microsoft.com/office/drawing/2014/chart" uri="{C3380CC4-5D6E-409C-BE32-E72D297353CC}">
                <c16:uniqueId val="{00000011-1697-450C-A5A2-D055D2C17CAB}"/>
              </c:ext>
            </c:extLst>
          </c:dPt>
          <c:dPt>
            <c:idx val="9"/>
            <c:invertIfNegative val="0"/>
            <c:bubble3D val="0"/>
            <c:spPr>
              <a:solidFill>
                <a:srgbClr val="1565C0"/>
              </a:solidFill>
              <a:effectLst/>
            </c:spPr>
            <c:extLst>
              <c:ext xmlns:c16="http://schemas.microsoft.com/office/drawing/2014/chart" uri="{C3380CC4-5D6E-409C-BE32-E72D297353CC}">
                <c16:uniqueId val="{00000013-1697-450C-A5A2-D055D2C17CAB}"/>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PAY_0</c:v>
                </c:pt>
                <c:pt idx="1">
                  <c:v>PAY_AMT2</c:v>
                </c:pt>
                <c:pt idx="2">
                  <c:v>PAY_4</c:v>
                </c:pt>
                <c:pt idx="3">
                  <c:v>LIMIT_BAL</c:v>
                </c:pt>
                <c:pt idx="4">
                  <c:v>PAY_3</c:v>
                </c:pt>
                <c:pt idx="5">
                  <c:v>PAY_2</c:v>
                </c:pt>
                <c:pt idx="6">
                  <c:v>PAY_AMT4</c:v>
                </c:pt>
                <c:pt idx="7">
                  <c:v>PAY_AMT3</c:v>
                </c:pt>
                <c:pt idx="8">
                  <c:v>PAY_AMT1</c:v>
                </c:pt>
                <c:pt idx="9">
                  <c:v>BILL_AMT2</c:v>
                </c:pt>
              </c:strCache>
            </c:strRef>
          </c:cat>
          <c:val>
            <c:numRef>
              <c:f>Sheet1!$B$2:$B$11</c:f>
              <c:numCache>
                <c:formatCode>General</c:formatCode>
                <c:ptCount val="10"/>
                <c:pt idx="0">
                  <c:v>74.61</c:v>
                </c:pt>
                <c:pt idx="1">
                  <c:v>7.37</c:v>
                </c:pt>
                <c:pt idx="2">
                  <c:v>3.72</c:v>
                </c:pt>
                <c:pt idx="3">
                  <c:v>2.76</c:v>
                </c:pt>
                <c:pt idx="4">
                  <c:v>2.25</c:v>
                </c:pt>
                <c:pt idx="5">
                  <c:v>2</c:v>
                </c:pt>
                <c:pt idx="6">
                  <c:v>1.5</c:v>
                </c:pt>
                <c:pt idx="7">
                  <c:v>1.48</c:v>
                </c:pt>
                <c:pt idx="8">
                  <c:v>1.05</c:v>
                </c:pt>
                <c:pt idx="9">
                  <c:v>0.89</c:v>
                </c:pt>
              </c:numCache>
            </c:numRef>
          </c:val>
          <c:extLst>
            <c:ext xmlns:c16="http://schemas.microsoft.com/office/drawing/2014/chart" uri="{C3380CC4-5D6E-409C-BE32-E72D297353CC}">
              <c16:uniqueId val="{00000014-1697-450C-A5A2-D055D2C17C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90CAF9"/>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0"/>
        <c:axPos val="b"/>
        <c:majorGridlines>
          <c:spPr>
            <a:ln w="6350" cap="flat">
              <a:solidFill>
                <a:srgbClr val="1F4A7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0CAF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213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800" b="0" i="0" u="none" strike="noStrike">
                <a:solidFill>
                  <a:srgbClr val="000000"/>
                </a:solidFill>
                <a:latin typeface="Arial"/>
              </a:defRPr>
            </a:pPr>
            <a:r>
              <a:rPr sz="1800" b="0" i="0" u="none" strike="noStrike">
                <a:solidFill>
                  <a:srgbClr val="000000"/>
                </a:solidFill>
                <a:latin typeface="Arial"/>
              </a:rPr>
              <a:t>Cumulative Explained Variance by PCA Components</a:t>
            </a:r>
          </a:p>
        </c:rich>
      </c:tx>
      <c:overlay val="0"/>
    </c:title>
    <c:autoTitleDeleted val="0"/>
    <c:plotArea>
      <c:layout/>
      <c:lineChart>
        <c:grouping val="standard"/>
        <c:varyColors val="0"/>
        <c:ser>
          <c:idx val="0"/>
          <c:order val="0"/>
          <c:tx>
            <c:strRef>
              <c:f>Sheet1!$B$1</c:f>
              <c:strCache>
                <c:ptCount val="1"/>
                <c:pt idx="0">
                  <c:v>Cumulative Variance Explained</c:v>
                </c:pt>
              </c:strCache>
            </c:strRef>
          </c:tx>
          <c:spPr>
            <a:ln w="38100" cap="flat">
              <a:solidFill>
                <a:srgbClr val="1565C0"/>
              </a:solidFill>
              <a:prstDash val="solid"/>
              <a:round/>
            </a:ln>
            <a:effectLst/>
          </c:spPr>
          <c:marker>
            <c:symbol val="circle"/>
            <c:size val="6"/>
            <c:spPr>
              <a:solidFill>
                <a:srgbClr val="1565C0"/>
              </a:solidFill>
              <a:ln w="9525" cap="flat">
                <a:solidFill>
                  <a:srgbClr val="1565C0"/>
                </a:solidFill>
                <a:prstDash val="solid"/>
                <a:round/>
              </a:ln>
              <a:effectLst/>
            </c:spPr>
          </c:marker>
          <c:cat>
            <c:strRef>
              <c:f>Sheet1!$A$2:$A$20</c:f>
              <c:strCache>
                <c:ptCount val="19"/>
                <c:pt idx="0">
                  <c:v>PC1</c:v>
                </c:pt>
                <c:pt idx="1">
                  <c:v>PC2</c:v>
                </c:pt>
                <c:pt idx="2">
                  <c:v>PC3</c:v>
                </c:pt>
                <c:pt idx="3">
                  <c:v>PC4</c:v>
                </c:pt>
                <c:pt idx="4">
                  <c:v>PC5</c:v>
                </c:pt>
                <c:pt idx="5">
                  <c:v>PC6</c:v>
                </c:pt>
                <c:pt idx="6">
                  <c:v>PC7</c:v>
                </c:pt>
                <c:pt idx="7">
                  <c:v>PC8</c:v>
                </c:pt>
                <c:pt idx="8">
                  <c:v>PC9</c:v>
                </c:pt>
                <c:pt idx="9">
                  <c:v>PC10</c:v>
                </c:pt>
                <c:pt idx="10">
                  <c:v>PC11</c:v>
                </c:pt>
                <c:pt idx="11">
                  <c:v>PC12</c:v>
                </c:pt>
                <c:pt idx="12">
                  <c:v>PC13</c:v>
                </c:pt>
                <c:pt idx="13">
                  <c:v>PC14</c:v>
                </c:pt>
                <c:pt idx="14">
                  <c:v>PC15</c:v>
                </c:pt>
                <c:pt idx="15">
                  <c:v>PC16</c:v>
                </c:pt>
                <c:pt idx="16">
                  <c:v>PC17</c:v>
                </c:pt>
                <c:pt idx="17">
                  <c:v>PC18</c:v>
                </c:pt>
                <c:pt idx="18">
                  <c:v>PC19</c:v>
                </c:pt>
              </c:strCache>
            </c:strRef>
          </c:cat>
          <c:val>
            <c:numRef>
              <c:f>Sheet1!$B$2:$B$20</c:f>
              <c:numCache>
                <c:formatCode>General</c:formatCode>
                <c:ptCount val="19"/>
                <c:pt idx="0">
                  <c:v>28.5</c:v>
                </c:pt>
                <c:pt idx="1">
                  <c:v>46.4</c:v>
                </c:pt>
                <c:pt idx="2">
                  <c:v>56</c:v>
                </c:pt>
                <c:pt idx="3">
                  <c:v>62</c:v>
                </c:pt>
                <c:pt idx="4">
                  <c:v>64.2</c:v>
                </c:pt>
                <c:pt idx="5">
                  <c:v>67.5</c:v>
                </c:pt>
                <c:pt idx="6">
                  <c:v>70.5</c:v>
                </c:pt>
                <c:pt idx="7">
                  <c:v>73</c:v>
                </c:pt>
                <c:pt idx="8">
                  <c:v>75.5</c:v>
                </c:pt>
                <c:pt idx="9">
                  <c:v>83.1</c:v>
                </c:pt>
                <c:pt idx="10">
                  <c:v>84.5</c:v>
                </c:pt>
                <c:pt idx="11">
                  <c:v>86</c:v>
                </c:pt>
                <c:pt idx="12">
                  <c:v>87.5</c:v>
                </c:pt>
                <c:pt idx="13">
                  <c:v>89</c:v>
                </c:pt>
                <c:pt idx="14">
                  <c:v>91.5</c:v>
                </c:pt>
                <c:pt idx="15">
                  <c:v>93</c:v>
                </c:pt>
                <c:pt idx="16">
                  <c:v>95</c:v>
                </c:pt>
                <c:pt idx="17">
                  <c:v>97</c:v>
                </c:pt>
                <c:pt idx="18">
                  <c:v>99</c:v>
                </c:pt>
              </c:numCache>
            </c:numRef>
          </c:val>
          <c:smooth val="1"/>
          <c:extLst>
            <c:ext xmlns:c16="http://schemas.microsoft.com/office/drawing/2014/chart" uri="{C3380CC4-5D6E-409C-BE32-E72D297353CC}">
              <c16:uniqueId val="{00000000-E234-4B0A-A1C4-707A3001542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0BFCF48-CA5B-4806-9798-296E93EE5D0C}" type="datetimeFigureOut">
              <a:t>28/04/2026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C9A18B9-4859-4842-9184-AFFED091AC37}" type="slidenum">
              <a:t>‹N°›</a:t>
            </a:fld>
            <a:endParaRPr lang="en-US"/>
          </a:p>
        </p:txBody>
      </p:sp>
    </p:spTree>
    <p:extLst>
      <p:ext uri="{BB962C8B-B14F-4D97-AF65-F5344CB8AC3E}">
        <p14:creationId xmlns:p14="http://schemas.microsoft.com/office/powerpoint/2010/main" val="1898826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~30 seconds. Introduce team, set expectations.]</a:t>
            </a:r>
          </a:p>
          <a:p>
            <a:r>
              <a:rPr lang="en-US" sz="1100" dirty="0">
                <a:latin typeface="Calibri"/>
              </a:rPr>
              <a:t>Good morning, everyone. Our team comprised of Spencer Kone, Muhammad H. Bahar, Kunapureddy Leela Pavan Kumar, and Maddirala Shalem Raju — Group 3 in BFOR 516.</a:t>
            </a:r>
          </a:p>
          <a:p>
            <a:r>
              <a:rPr lang="en-US" sz="1100" dirty="0">
                <a:latin typeface="Calibri"/>
              </a:rPr>
              <a:t>Today we are presenting our final Milestone 3 work: a machine learning system for predicting credit card defaults using a real-world dataset of 30,000 Taiwanese credit card clients.</a:t>
            </a:r>
          </a:p>
          <a:p>
            <a:r>
              <a:rPr lang="en-US" sz="1100" dirty="0">
                <a:latin typeface="Calibri"/>
              </a:rPr>
              <a:t>Our presentation runs approximately 10 to 12 minutes. We will cover the problem motivation, our full data preparation pipeline, model selection rationale, results, feature importance analysis, dimensionality insights via PCA, the improvements we implemented after Milestone 2, and our final conclusions.</a:t>
            </a:r>
          </a:p>
          <a:p>
            <a:r>
              <a:rPr lang="en-US" sz="1100" dirty="0">
                <a:latin typeface="Calibri"/>
              </a:rPr>
              <a:t>Each team member contributed to every major section. We are all prepared to answer questions on any part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Establish why this problem is hard and domain-specific.]</a:t>
            </a:r>
          </a:p>
          <a:p>
            <a:r>
              <a:rPr lang="en-US" sz="1100" dirty="0">
                <a:latin typeface="Calibri"/>
              </a:rPr>
              <a:t>Let us start with why credit default prediction is a genuinely difficult and high-stakes problem.</a:t>
            </a:r>
          </a:p>
          <a:p>
            <a:r>
              <a:rPr lang="en-US" sz="1100" dirty="0">
                <a:latin typeface="Calibri"/>
              </a:rPr>
              <a:t>From a financial perspective, unpaid credit balances represent direct monetary losses to the bank. Early identification of likely defaulters allows the bank to intervene — tightening credit limits, flagging accounts for review, or adjusting interest rates — before the loss materialises.</a:t>
            </a:r>
          </a:p>
          <a:p>
            <a:r>
              <a:rPr lang="en-US" sz="1100" dirty="0">
                <a:latin typeface="Calibri"/>
              </a:rPr>
              <a:t>The first technical challenge is class imbalance. In our dataset, 77.88% of clients do not default and 22.12% do. That 3.5-to-1 ratio means a naive model that always predicts 'no default' achieves 78% accuracy while being completely worthless. Accuracy is therefore a misleading metric for this problem.</a:t>
            </a:r>
          </a:p>
          <a:p>
            <a:r>
              <a:rPr lang="en-US" sz="1100" dirty="0">
                <a:latin typeface="Calibri"/>
              </a:rPr>
              <a:t>The second challenge is asymmetric error costs. A false negative — predicting 'safe' when the client will actually default — means the bank extends credit to someone who will not repay. That is the most costly error. A false positive — flagging a creditworthy client as risky — means the bank loses a good customer and potential revenue.</a:t>
            </a:r>
          </a:p>
          <a:p>
            <a:r>
              <a:rPr lang="en-US" sz="1100" dirty="0">
                <a:latin typeface="Calibri"/>
              </a:rPr>
              <a:t>These two facts — imbalance and asymmetric costs — shaped every decision we made about model training, class weighting, and metric selection throughout this entire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Walk through each stat and what it implies.]</a:t>
            </a:r>
          </a:p>
          <a:p>
            <a:r>
              <a:rPr lang="en-US" sz="1100" dirty="0">
                <a:latin typeface="Calibri"/>
              </a:rPr>
              <a:t>Our data comes from the UCI Machine Learning Repository — the Default of Credit Card Clients dataset, published by Yeh and Lien in their 2009 Expert Systems paper. This is a widely cited benchmark dataset for credit risk research.</a:t>
            </a:r>
          </a:p>
          <a:p>
            <a:r>
              <a:rPr lang="en-US" sz="1100" dirty="0">
                <a:latin typeface="Calibri"/>
              </a:rPr>
              <a:t>The dataset covers 30,000 Taiwanese credit card holders observed over six consecutive months: April through September 2005. The 23 features fall into three categories: client demographics (age, sex, education, marriage), credit and billing information (credit limit, monthly bill amounts), and repayment behavior (monthly payment amounts and repayment status codes).</a:t>
            </a:r>
          </a:p>
          <a:p>
            <a:r>
              <a:rPr lang="en-US" sz="1100" dirty="0">
                <a:latin typeface="Calibri"/>
              </a:rPr>
              <a:t>The 22.12% default rate creates the class imbalance we just discussed. The 3.5-to-1 ratio is moderate — not extreme like 99-to-1 fraud detection datasets — but significant enough that naive training will bias toward the majority class.</a:t>
            </a:r>
          </a:p>
          <a:p>
            <a:r>
              <a:rPr lang="en-US" sz="1100" dirty="0">
                <a:latin typeface="Calibri"/>
              </a:rPr>
              <a:t>The average credit limit of NT$167,484 with a maximum of NT$1,000,000 tells us there is high variation in client profiles. The average age of 35 and range of 21 to 79 gives us a broad demographic spread. Both factors mean no single demographic group dominates the data.</a:t>
            </a:r>
          </a:p>
          <a:p>
            <a:r>
              <a:rPr lang="en-US" sz="1100" dirty="0">
                <a:latin typeface="Calibri"/>
              </a:rPr>
              <a:t>These statistics are all confirmed directly from our notebook output — not approximations.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Walk left column then right column, finish with summary bar.]</a:t>
            </a:r>
          </a:p>
          <a:p>
            <a:r>
              <a:rPr lang="en-US" sz="1100" dirty="0">
                <a:latin typeface="Calibri"/>
              </a:rPr>
              <a:t>Before any model training, we executed a rigorous five-step data cleaning and preprocessing pipeline. This slide is organized into two columns: the left covers data quality corrections, the right covers the ML pipeline steps.</a:t>
            </a:r>
          </a:p>
          <a:p>
            <a:r>
              <a:rPr lang="en-US" sz="1100" dirty="0">
                <a:latin typeface="Calibri"/>
              </a:rPr>
              <a:t>Step 01 — Initial Inspection: We confirmed 30,000 rows and 24 columns, all integer type, with zero missing values. We identified 35 duplicate rows — we chose to retain them because in a credit dataset, two different clients can legitimately share the same observed feature values. Dropping them would have deleted real observations.</a:t>
            </a:r>
          </a:p>
          <a:p>
            <a:r>
              <a:rPr lang="en-US" sz="1100" dirty="0">
                <a:latin typeface="Calibri"/>
              </a:rPr>
              <a:t>Step 02 — EDUCATION Cleaning: The original paper by Yeh and Lien defines only categories 1 through 4. However, our dataset also contained values 0, 5, and 6, with no documentation. We remapped all three to category 4, 'Others,' affecting 345 rows. No rows were deleted.</a:t>
            </a:r>
          </a:p>
          <a:p>
            <a:r>
              <a:rPr lang="en-US" sz="1100" dirty="0">
                <a:latin typeface="Calibri"/>
              </a:rPr>
              <a:t>Step 03 — MARRIAGE Cleaning: Similarly, MARRIAGE contained undocumented value 0. We remapped these 54 rows to category 3, 'Others.' Total corrected: 399 rows, or 1.3% of the dataset.</a:t>
            </a:r>
          </a:p>
          <a:p>
            <a:r>
              <a:rPr lang="en-US" sz="1100" dirty="0">
                <a:latin typeface="Calibri"/>
              </a:rPr>
              <a:t>Step 04 — Stratified Train/Test Split: We split 80/20 with random_state=42 and stratify=y. The stratification parameter is critical — it guarantees that the 22.12% default rate is preserved identically in both the 24,000-sample training set and the 6,000-sample test set.</a:t>
            </a:r>
          </a:p>
          <a:p>
            <a:r>
              <a:rPr lang="en-US" sz="1100" dirty="0">
                <a:latin typeface="Calibri"/>
              </a:rPr>
              <a:t>Step 05 — StandardScaler Normalization: We fitted the scaler on training data only, then applied the fitted transform to both training and test sets. Fitting on the full dataset would introduce test set statistics into training — a form of data leakage that artificially inflates model performance.</a:t>
            </a:r>
          </a:p>
          <a:p>
            <a:r>
              <a:rPr lang="en-US" sz="1100" dirty="0">
                <a:latin typeface="Calibri"/>
              </a:rPr>
              <a:t>The summary bar confirms the clean result: 30,000 records retained, 399 corrected, 24,000 train, 6,000 test, zero leakage.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Justify each model as a deliberate choice, not a random pick.]</a:t>
            </a:r>
          </a:p>
          <a:p>
            <a:r>
              <a:rPr lang="en-US" sz="1100" dirty="0">
                <a:latin typeface="Calibri"/>
              </a:rPr>
              <a:t>We selected three models that represent meaningfully different modeling philosophies, so that our comparison would generate genuine insight rather than just confirming that one algorithm scores higher.</a:t>
            </a:r>
          </a:p>
          <a:p>
            <a:r>
              <a:rPr lang="en-US" sz="1100" dirty="0">
                <a:latin typeface="Calibri"/>
              </a:rPr>
              <a:t>Model 1 — Logistic Regression: This is the standard baseline in financial risk modeling. Banks and regulators favor it because the model coefficients are directly interpretable — a positive coefficient on PAY_0 means higher repayment delay increases default probability by a quantifiable amount. We used solver='lbfgs', max_iter=1000 for convergence on 24,000 samples, C=1.0 for L2 regularization, and class_weight='balanced' to compensate for the imbalance. Its core limitation is the linear decision boundary assumption.</a:t>
            </a:r>
          </a:p>
          <a:p>
            <a:r>
              <a:rPr lang="en-US" sz="1100" dirty="0">
                <a:latin typeface="Calibri"/>
              </a:rPr>
              <a:t>Model 2 — Gaussian Naive Bayes: This is our probabilistic baseline. It applies Bayes' theorem with the assumption that each feature follows a Gaussian distribution within each class, and that features are conditionally independent. We used it to contrast with the deterministic, linear structure of Logistic Regression. Its fatal limitation in our dataset is the independence assumption — which we will show is strongly violated by correlated payment columns.</a:t>
            </a:r>
          </a:p>
          <a:p>
            <a:r>
              <a:rPr lang="en-US" sz="1100" dirty="0">
                <a:latin typeface="Calibri"/>
              </a:rPr>
              <a:t>Model 3 — Decision Tree: This is our primary candidate. It partitions the feature space recursively without requiring a linear boundary, making it naturally suited to non-linear class separation. It requires no feature scaling, making it easy to apply and inspect. We controlled depth to max_depth=5, min_samples_split=50, and min_samples_leaf=20 to prevent overfitting. We used Gini impurity as the split criterion because it directly quantifies feature importance in a way that Logistic Regression and Naive Bayes cannot match.</a:t>
            </a:r>
          </a:p>
          <a:p>
            <a:r>
              <a:rPr lang="en-US" sz="1100" dirty="0">
                <a:latin typeface="Calibri"/>
              </a:rPr>
              <a:t>The comparison strategy was multi-metric from the start: classification report, confusion matrix, ROC curve, and 5-fold stratified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Explain each metric's role — this is the methodological backbone of the results.]</a:t>
            </a:r>
          </a:p>
          <a:p>
            <a:r>
              <a:rPr lang="en-US" sz="1100" dirty="0">
                <a:latin typeface="Calibri"/>
              </a:rPr>
              <a:t>Choosing the right evaluation metrics is as important as choosing the right model. With a 78/22 class split, accuracy is actively misleading. We used five complementary metrics, each answering a different question.</a:t>
            </a:r>
          </a:p>
          <a:p>
            <a:r>
              <a:rPr lang="en-US" sz="1100" dirty="0">
                <a:latin typeface="Calibri"/>
              </a:rPr>
              <a:t>Recall for the default class — marked Highest Priority — asks: of all the real defaulters in the test set, what fraction did we catch? A missed defaulter is a false negative — the bank extends credit to someone who will not repay. This is the costliest error in a credit context, which is why recall is our north star.</a:t>
            </a:r>
          </a:p>
          <a:p>
            <a:r>
              <a:rPr lang="en-US" sz="1100" dirty="0">
                <a:latin typeface="Calibri"/>
              </a:rPr>
              <a:t>Precision for the default class asks: of all the clients we flagged as defaulters, what fraction actually were? False positives mean rejecting creditworthy applicants — a customer service failure and a lost revenue opportunity. We cannot sacrifice precision entirely in pursuit of recall.</a:t>
            </a:r>
          </a:p>
          <a:p>
            <a:r>
              <a:rPr lang="en-US" sz="1100" dirty="0">
                <a:latin typeface="Calibri"/>
              </a:rPr>
              <a:t>F1-Score is the harmonic mean of precision and recall. It heavily penalizes extreme imbalances between the two — a model with recall of 0.99 and precision of 0.01 gets an F1 of about 0.02. It gives us a single number that honestly reflects the trade-off.</a:t>
            </a:r>
          </a:p>
          <a:p>
            <a:r>
              <a:rPr lang="en-US" sz="1100" dirty="0">
                <a:latin typeface="Calibri"/>
              </a:rPr>
              <a:t>ROC-AUC measures discrimination ability across all classification thresholds simultaneously. Because it is threshold-independent, it does not reward models that just lower their decision boundary to catch more positives — it captures genuine separability. It is also robust to class imbalance in a way that standard accuracy is not. This is our primary comparison metric.</a:t>
            </a:r>
          </a:p>
          <a:p>
            <a:r>
              <a:rPr lang="en-US" sz="1100" dirty="0">
                <a:latin typeface="Calibri"/>
              </a:rPr>
              <a:t>5-fold Stratified Cross-Validation: each fold preserves the 22.12% default rate, meaning every fold is a fair evaluation under real-world conditions. The standard deviation across folds tells us how stable — or how lucky — each model's test performance is. A model with high mean AUC but high variance is less trustworthy than one with slightly lower mean AUC and near-zero variance.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Read the table carefully, narrate the trade-offs, highlight callout boxes.]</a:t>
            </a:r>
          </a:p>
          <a:p>
            <a:r>
              <a:rPr lang="en-US" sz="1100" dirty="0">
                <a:latin typeface="Calibri"/>
              </a:rPr>
              <a:t>Here are the concrete results from our 6,000-sample stratified holdout test set. All precision, recall, and F1-score values are reported for the Default class — class 1 — which is the minority we care about detecting.</a:t>
            </a:r>
          </a:p>
          <a:p>
            <a:r>
              <a:rPr lang="en-US" sz="1100" dirty="0">
                <a:latin typeface="Calibri"/>
              </a:rPr>
              <a:t>Logistic Regression achieved accuracy of 0.68, default-class recall of 0.62, but precision of only 0.37. It is the most aggressive at catching defaulters, but it generates many false positives — it incorrectly flags a large fraction of safe customers. Its ROC-AUC of 0.71 and cross-validation AUC of 0.73 plus or minus 0.011 confirm that it is a decent but unstable baseline.</a:t>
            </a:r>
          </a:p>
          <a:p>
            <a:r>
              <a:rPr lang="en-US" sz="1100" dirty="0">
                <a:latin typeface="Calibri"/>
              </a:rPr>
              <a:t>Gaussian Naive Bayes landed in the middle: accuracy 0.75, recall 0.55, precision 0.45, F1 of 0.50. Despite having higher accuracy than Logistic Regression, its F1 and recall are both lower. The violated independence assumption constrains it throughout.</a:t>
            </a:r>
          </a:p>
          <a:p>
            <a:r>
              <a:rPr lang="en-US" sz="1100" dirty="0">
                <a:latin typeface="Calibri"/>
              </a:rPr>
              <a:t>Decision Tree is the clear winner across all aggregate metrics: accuracy 0.77, precision 0.49, recall 0.55, F1 of 0.52, ROC-AUC of 0.76, and cross-validation AUC of 0.76 plus or minus just 0.007. That tiny standard deviation is particularly important — it means the Decision Tree's performance generalises reliably across different data splits, not just on this particular holdout.</a:t>
            </a:r>
          </a:p>
          <a:p>
            <a:r>
              <a:rPr lang="en-US" sz="1100" dirty="0">
                <a:latin typeface="Calibri"/>
              </a:rPr>
              <a:t>The four callout boxes summarise the headline comparisons. Best F1 and best AUC both go to Decision Tree. Best recall goes to Logistic Regression — worth noting for contexts where catching every single defaulter is the absolute priority regardless of false positives. Lowest CV variance also goes to Decision Tree.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~45 seconds. Let the chart speak, then synthesise the pattern.]</a:t>
            </a:r>
          </a:p>
          <a:p>
            <a:r>
              <a:rPr lang="en-US" sz="1100" dirty="0">
                <a:latin typeface="Calibri"/>
              </a:rPr>
              <a:t>This chart visualises the same results as the table so the comparison is immediately visible without reading numbers.</a:t>
            </a:r>
          </a:p>
          <a:p>
            <a:r>
              <a:rPr lang="en-US" sz="1100" dirty="0">
                <a:latin typeface="Calibri"/>
              </a:rPr>
              <a:t>Blue bars are Logistic Regression. Purple bars are Gaussian Naive Bayes. Green bars are the Decision Tree.</a:t>
            </a:r>
          </a:p>
          <a:p>
            <a:r>
              <a:rPr lang="en-US" sz="1100" dirty="0">
                <a:latin typeface="Calibri"/>
              </a:rPr>
              <a:t>The pattern is clear. Logistic Regression leads on recall — the leftmost bars in the Recall group — but falls behind on every other metric, especially precision where it has the shortest bar by a significant margin. Decision Tree — the green bars — is consistently the tallest or co-tallest across accuracy, precision, F1, and ROC-AUC.</a:t>
            </a:r>
          </a:p>
          <a:p>
            <a:r>
              <a:rPr lang="en-US" sz="1100" dirty="0">
                <a:latin typeface="Calibri"/>
              </a:rPr>
              <a:t>The gaps are not dramatic. These are all reasonable classifiers producing results within a reasonable range of each other. But the Decision Tree's advantage is consistent across every metric, not just one. That consistency across metrics — combined with the lowest cross-validation variance we saw on the previous slide — is what justifies selecting it as the final model.</a:t>
            </a:r>
          </a:p>
          <a:p>
            <a:r>
              <a:rPr lang="en-US" sz="1100" dirty="0">
                <a:latin typeface="Calibri"/>
              </a:rPr>
              <a:t>Naive Bayes sits in the middle throughout. Never the worst, never the best.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This is the most memorable finding — give it space and emphasis.]</a:t>
            </a:r>
          </a:p>
          <a:p>
            <a:r>
              <a:rPr lang="en-US" sz="1100" dirty="0">
                <a:latin typeface="Calibri"/>
              </a:rPr>
              <a:t>This is the single most striking result of the entire project, and it deserves careful attention.</a:t>
            </a:r>
          </a:p>
          <a:p>
            <a:r>
              <a:rPr lang="en-US" sz="1100" dirty="0">
                <a:latin typeface="Calibri"/>
              </a:rPr>
              <a:t>PAY_0 — the repayment status code for the most recent month — accounts for 74.61% of the Decision Tree's total Gini feature importance. To put that in perspective: all other 22 features combined contribute just 25.39%. One feature out of 23 is doing three quarters of the work.</a:t>
            </a:r>
          </a:p>
          <a:p>
            <a:r>
              <a:rPr lang="en-US" sz="1100" dirty="0">
                <a:latin typeface="Calibri"/>
              </a:rPr>
              <a:t>The second most important feature is PAY_AMT2, at 7.37%. The third is PAY_4, at 3.72%. Look at the bar chart — PAY_0 extends to almost 75 on the scale where no other feature reaches even 8. That is not a small lead; it is dominance.</a:t>
            </a:r>
          </a:p>
          <a:p>
            <a:r>
              <a:rPr lang="en-US" sz="1100" dirty="0">
                <a:latin typeface="Calibri"/>
              </a:rPr>
              <a:t>The top 10 features are overwhelmingly payment-related: repayment status codes and payment amounts from recent months. Demographic variables like age, education, sex, and marital status barely register.</a:t>
            </a:r>
          </a:p>
          <a:p>
            <a:r>
              <a:rPr lang="en-US" sz="1100" dirty="0">
                <a:latin typeface="Calibri"/>
              </a:rPr>
              <a:t>This result is not a data artifact. Yeh and Lien's original 2009 paper identified the same pattern — recent repayment status as the primary predictor of future default. Our independent replication of their finding on the same dataset confirms our methodology is sound.</a:t>
            </a:r>
          </a:p>
          <a:p>
            <a:r>
              <a:rPr lang="en-US" sz="1100" dirty="0">
                <a:latin typeface="Calibri"/>
              </a:rPr>
              <a:t>The practical implication for a bank building a real credit scoring system is immediate and actionable: the most recent month's payment behavior is the strongest signal you have. If a customer was late last month, they are very likely to default next month. Weight that feature above everything else. Historical credit limits, demographics, and billing amounts are secondary signals.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Explain both the dimensionality story and the linear separability story.]</a:t>
            </a:r>
          </a:p>
          <a:p>
            <a:r>
              <a:rPr lang="en-US" sz="1100" dirty="0">
                <a:latin typeface="Calibri"/>
              </a:rPr>
              <a:t>We ran Principal Component Analysis for two distinct purposes: to characterise the dataset's dimensionality structure, and to provide a geometric explanation for why linear models underperform on this data.</a:t>
            </a:r>
          </a:p>
          <a:p>
            <a:r>
              <a:rPr lang="en-US" sz="1100" dirty="0">
                <a:latin typeface="Calibri"/>
              </a:rPr>
              <a:t>The variance threshold table tells the first story. To explain 90% of the total variance in the original 23 features, you need 13 principal components. To reach 95%, you need 15. To reach 99%, you need 19. The original dimensionality is 23, so these numbers tell us the dataset is moderately correlated — there is some redundancy, but the features cannot be strongly compressed. PCA is useful for understanding, but not for aggressive dimensionality reduction here.</a:t>
            </a:r>
          </a:p>
          <a:p>
            <a:r>
              <a:rPr lang="en-US" sz="1100" dirty="0">
                <a:latin typeface="Calibri"/>
              </a:rPr>
              <a:t>The first 5 components explain 64.17% of variance. The first 10 explain 83.09%. The cumulative curve on the left shows a gradual, smooth elbow — no single dominant component doing most of the work alone.</a:t>
            </a:r>
          </a:p>
          <a:p>
            <a:r>
              <a:rPr lang="en-US" sz="1100" dirty="0">
                <a:latin typeface="Calibri"/>
              </a:rPr>
              <a:t>The second and more important story comes from the 2D scatter plot we presented in Milestone 2: when you project the data onto PC1 and PC2 — which together explain only 46.4% of variance — the two classes overlap massively. You cannot draw a straight line in that 2D space that would cleanly separate defaulters from non-defaulters.</a:t>
            </a:r>
          </a:p>
          <a:p>
            <a:r>
              <a:rPr lang="en-US" sz="1100" dirty="0">
                <a:latin typeface="Calibri"/>
              </a:rPr>
              <a:t>This class overlap is the geometric reason Logistic Regression underperforms. Its linear decision boundary is fundamentally insufficient for this data structure. The Decision Tree, which draws axis-aligned rectangular boundaries recursively, is not constrained the same way. That structural difference — not hyperparameter luck — explains the consistent performance gap we observed.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Be analytical and honest about each model, not just 'DT won'.]</a:t>
            </a:r>
          </a:p>
          <a:p>
            <a:r>
              <a:rPr lang="en-US" sz="1100" dirty="0">
                <a:latin typeface="Calibri"/>
              </a:rPr>
              <a:t>This slide steps back from the raw numbers to evaluate each model honestly on its own terms and extract transferable lessons.</a:t>
            </a:r>
          </a:p>
          <a:p>
            <a:r>
              <a:rPr lang="en-US" sz="1100" dirty="0">
                <a:latin typeface="Calibri"/>
              </a:rPr>
              <a:t>Logistic Regression: Its strength is recall — 0.62 — because with class_weight='balanced', it aggressively lowers the decision threshold for the minority class. In a domain where missing a single defaulter carries catastrophic consequences and false positives are relatively cheap to manage, this is actually a defensible choice. Its weakness is structural: the linear boundary assumption is violated, which caps how well it can perform regardless of tuning. No amount of regularisation adjustment will fix a fundamental geometric mismatch.</a:t>
            </a:r>
          </a:p>
          <a:p>
            <a:r>
              <a:rPr lang="en-US" sz="1100" dirty="0">
                <a:latin typeface="Calibri"/>
              </a:rPr>
              <a:t>Gaussian Naive Bayes: The PAY_AMT1 through PAY_AMT6 features correlate with each other at values above 0.9 — far above the independence threshold the model requires. This violation is severe enough that we would have expected poor performance even before running the experiments. The results confirmed it. Naive Bayes is not a good fit for this dataset, and we kept it specifically as a diagnostic baseline to demonstrate what happens when model assumptions fail.</a:t>
            </a:r>
          </a:p>
          <a:p>
            <a:r>
              <a:rPr lang="en-US" sz="1100" dirty="0">
                <a:latin typeface="Calibri"/>
              </a:rPr>
              <a:t>Decision Tree: It captured the non-linear boundaries that Logistic Regression could not, producing the best F1, AUC, and CV stability. The Gini importance output transparently revealed PAY_0 dominance without any additional post-hoc analysis — the model itself told us what mattered. Controlled depth parameters prevented overfitting on the 24,000-sample training set.</a:t>
            </a:r>
          </a:p>
          <a:p>
            <a:r>
              <a:rPr lang="en-US" sz="1100" dirty="0">
                <a:latin typeface="Calibri"/>
              </a:rPr>
              <a:t>The overall project lesson extends beyond this dataset: model selection is not about picking the algorithm with the highest headline number. It requires matching the model's structural assumptions to the data's actual geometry, understanding which errors the domain can tolerate, and verifying that performance is stable across different splits rather than contingent on one lucky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Walk through all four improvements sequentially.]</a:t>
            </a:r>
          </a:p>
          <a:p>
            <a:r>
              <a:rPr lang="en-US" sz="1100" dirty="0">
                <a:latin typeface="Calibri"/>
              </a:rPr>
              <a:t>After Milestone 2 established our baseline, we implemented four targeted improvements between March 24th and April 14th.</a:t>
            </a:r>
          </a:p>
          <a:p>
            <a:r>
              <a:rPr lang="en-US" sz="1100" dirty="0">
                <a:latin typeface="Calibri"/>
              </a:rPr>
              <a:t>Hyperparameter Tuning via GridSearchCV: Rather than using our initial hand-picked parameters, we systematically searched over a parameter grid. For Logistic Regression, we varied the regularisation strength C across values from 0.01 to 100. For the Decision Tree, we searched over max_depth from 3 to 10 and min_samples_leaf from 10 to 50. GridSearchCV with 5-fold stratified CV selected the optimal combination for each model.</a:t>
            </a:r>
          </a:p>
          <a:p>
            <a:r>
              <a:rPr lang="en-US" sz="1100" dirty="0">
                <a:latin typeface="Calibri"/>
              </a:rPr>
              <a:t>SMOTE Resampling: We applied Synthetic Minority Oversampling Technique from the imblearn library. Rather than relying solely on class_weight='balanced' — which re-weights existing samples — SMOTE generates new synthetic minority-class samples by interpolating between existing defaulter observations in feature space. We then trained all models on the SMOTE-balanced training set and evaluated on the original unmodified test set.</a:t>
            </a:r>
          </a:p>
          <a:p>
            <a:r>
              <a:rPr lang="en-US" sz="1100" dirty="0">
                <a:latin typeface="Calibri"/>
              </a:rPr>
              <a:t>Feature Engineering: We created six new payment utilization ratio features — PAY_AMT divided by BILL_AMT for each of the six months. These ratios capture the fraction of the outstanding bill that was actually paid, which provides richer signal than raw payment amounts alone. We also imputed zeros in cases where BILL_AMT was zero to avoid division errors.</a:t>
            </a:r>
          </a:p>
          <a:p>
            <a:r>
              <a:rPr lang="en-US" sz="1100" dirty="0">
                <a:latin typeface="Calibri"/>
              </a:rPr>
              <a:t>Random Forest Testing: We added Random Forest as an ensemble baseline, using 100 trees with the same balanced class weighting. This allowed us to assess whether bagging and feature subsampling could push performance beyond the single Decision Tree.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Deliver each takeaway as a standalone point with one breath each.]</a:t>
            </a:r>
          </a:p>
          <a:p>
            <a:r>
              <a:rPr lang="en-US" sz="1100" dirty="0">
                <a:latin typeface="Calibri"/>
              </a:rPr>
              <a:t>Five final takeaways — each grounded directly in our results.</a:t>
            </a:r>
          </a:p>
          <a:p>
            <a:r>
              <a:rPr lang="en-US" sz="1100" dirty="0">
                <a:latin typeface="Calibri"/>
              </a:rPr>
              <a:t>One: Decision Tree is our final model recommendation. It leads on F1-score at 0.52, ROC-AUC at 0.759, and cross-validation stability at plus or minus 0.007. These advantages are consistent across metrics, not a single-metric fluke.</a:t>
            </a:r>
          </a:p>
          <a:p>
            <a:r>
              <a:rPr lang="en-US" sz="1100" dirty="0">
                <a:latin typeface="Calibri"/>
              </a:rPr>
              <a:t>Two: PAY_0 dominates at 74.6% Gini importance — more than all other 22 features combined. A real credit risk system built on this data should weight the most recent payment month as its primary signal. Demographics and billing history are secondary.</a:t>
            </a:r>
          </a:p>
          <a:p>
            <a:r>
              <a:rPr lang="en-US" sz="1100" dirty="0">
                <a:latin typeface="Calibri"/>
              </a:rPr>
              <a:t>Three: Linear models fail when classes are not linearly separable. This is a structural issue, not a tuning issue. PCA confirmed the class overlap geometrically; the performance gap confirmed it empirically. Switching from Logistic Regression to Decision Tree is not a marginal improvement — it reflects a better match between model and data structure.</a:t>
            </a:r>
          </a:p>
          <a:p>
            <a:r>
              <a:rPr lang="en-US" sz="1100" dirty="0">
                <a:latin typeface="Calibri"/>
              </a:rPr>
              <a:t>Four: Class imbalance cannot be ignored or assumed away. Without balanced class weighting, every model in this experiment optimised for the majority class and failed to detect most defaulters. The imbalance handling — whether through class weights or SMOTE — was a non-negotiable requirement, not an optional enhancement.</a:t>
            </a:r>
          </a:p>
          <a:p>
            <a:r>
              <a:rPr lang="en-US" sz="1100" dirty="0">
                <a:latin typeface="Calibri"/>
              </a:rPr>
              <a:t>Five: Metric choice is domain-driven. The right metric depends on which errors the business can tolerate. For a bank, recall is the north star — catching defaulters. But recall cannot be maximised at the cost of catastrophically low precision, which would reject too many good customers. F1-Score and ROC-AUC give the most honest assessment of that trade-off across the full threshold range.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~30 seconds. Displayed during Q&amp;A or when asked about sources.]</a:t>
            </a:r>
          </a:p>
          <a:p>
            <a:r>
              <a:rPr lang="en-US" sz="1100" dirty="0">
                <a:latin typeface="Calibri"/>
              </a:rPr>
              <a:t>This slide documents our AI tool usage and full academic reference list, as required by BFOR 516 course policy.</a:t>
            </a:r>
          </a:p>
          <a:p>
            <a:r>
              <a:rPr lang="en-US" sz="1100" dirty="0">
                <a:latin typeface="Calibri"/>
              </a:rPr>
              <a:t>Left side — AI Declaration: We used Claude by Anthropic via claude.ai to generate Python notebook boilerplate, preprocessing templates, and visualization scaffolding. All code was reviewed, modified, and executed by the team. All analytical interpretation, model comparisons, feature importance conclusions, PCA analysis, and written conclusions are original team work. Evidence is in our GitHub repository.</a:t>
            </a:r>
          </a:p>
          <a:p>
            <a:r>
              <a:rPr lang="en-US" sz="1100" dirty="0">
                <a:latin typeface="Calibri"/>
              </a:rPr>
              <a:t>Right side — Academic References: Primary citation is Yeh and Lien 2009, the original paper for this dataset. We also cite the UCI ML Repository, Scikit-learn by Pedregosa et al. 2011, NumPy by Harris et al. 2020, Matplotlib by Hunter 2007, seaborn by Waskom 2021, and the Pandas Development Team 2024.</a:t>
            </a:r>
          </a:p>
          <a:p>
            <a:r>
              <a:rPr lang="en-US" sz="1100" dirty="0">
                <a:latin typeface="Calibri"/>
              </a:rPr>
              <a:t>These references cover every data source, algorithm library, and visualization tool used in our analysis.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~20 seconds. Keep it brief — let Q&amp;A begin quickly.]</a:t>
            </a:r>
          </a:p>
          <a:p>
            <a:r>
              <a:rPr lang="en-US" sz="1100" dirty="0">
                <a:latin typeface="Calibri"/>
              </a:rPr>
              <a:t>This slide marks the end of our prepared presentation. We are happy to take questions on any aspect of the project.</a:t>
            </a:r>
          </a:p>
          <a:p>
            <a:r>
              <a:rPr lang="en-US" sz="1100" dirty="0">
                <a:latin typeface="Calibri"/>
              </a:rPr>
              <a:t>If you would like to go deeper on specific topics — the SMOTE results versus class weighting comparison, the GridSearchCV optimal parameters for each model, the Random Forest baseline performance, the full feature importance ranking beyond the top 10, or the detailed confusion matrices for each model — we are ready to walk through those.</a:t>
            </a:r>
          </a:p>
          <a:p>
            <a:r>
              <a:rPr lang="en-US" sz="1100" dirty="0">
                <a:latin typeface="Calibri"/>
              </a:rPr>
              <a:t>Group 3: Spencer Kone, Muhammad H. Bahar, Kunapureddy Leela Pavan Kumar, and Maddirala Shalem Raju.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8D4"/>
          </a:solidFill>
          <a:ln w="12700">
            <a:solidFill>
              <a:srgbClr val="00B8D4"/>
            </a:solidFill>
            <a:prstDash val="solid"/>
          </a:ln>
        </p:spPr>
        <p:txBody>
          <a:bodyPr/>
          <a:lstStyle/>
          <a:p>
            <a:endParaRPr lang="fr-FR"/>
          </a:p>
        </p:txBody>
      </p:sp>
      <p:sp>
        <p:nvSpPr>
          <p:cNvPr id="3" name="Shape 1"/>
          <p:cNvSpPr/>
          <p:nvPr/>
        </p:nvSpPr>
        <p:spPr>
          <a:xfrm>
            <a:off x="5486400" y="429768"/>
            <a:ext cx="3657600" cy="3657600"/>
          </a:xfrm>
          <a:prstGeom prst="ellipse">
            <a:avLst/>
          </a:prstGeom>
          <a:solidFill>
            <a:srgbClr val="1A3A5C"/>
          </a:solidFill>
          <a:ln w="12700">
            <a:solidFill>
              <a:srgbClr val="1F4A7A"/>
            </a:solidFill>
            <a:prstDash val="solid"/>
          </a:ln>
        </p:spPr>
        <p:txBody>
          <a:bodyPr/>
          <a:lstStyle/>
          <a:p>
            <a:endParaRPr lang="fr-FR"/>
          </a:p>
        </p:txBody>
      </p:sp>
      <p:sp>
        <p:nvSpPr>
          <p:cNvPr id="4" name="Shape 2"/>
          <p:cNvSpPr/>
          <p:nvPr/>
        </p:nvSpPr>
        <p:spPr>
          <a:xfrm>
            <a:off x="6181659" y="1005840"/>
            <a:ext cx="2377440" cy="2377440"/>
          </a:xfrm>
          <a:prstGeom prst="ellipse">
            <a:avLst/>
          </a:prstGeom>
          <a:solidFill>
            <a:srgbClr val="234870"/>
          </a:solidFill>
          <a:ln w="12700">
            <a:solidFill>
              <a:srgbClr val="00B8D4"/>
            </a:solidFill>
            <a:prstDash val="solid"/>
          </a:ln>
        </p:spPr>
        <p:txBody>
          <a:bodyPr/>
          <a:lstStyle/>
          <a:p>
            <a:endParaRPr lang="fr-FR"/>
          </a:p>
        </p:txBody>
      </p:sp>
      <p:sp>
        <p:nvSpPr>
          <p:cNvPr id="5" name="Text 3"/>
          <p:cNvSpPr/>
          <p:nvPr/>
        </p:nvSpPr>
        <p:spPr>
          <a:xfrm>
            <a:off x="457200" y="548640"/>
            <a:ext cx="5669280" cy="640080"/>
          </a:xfrm>
          <a:prstGeom prst="rect">
            <a:avLst/>
          </a:prstGeom>
          <a:noFill/>
          <a:ln/>
        </p:spPr>
        <p:txBody>
          <a:bodyPr wrap="square" rtlCol="0" anchor="ctr"/>
          <a:lstStyle/>
          <a:p>
            <a:pPr marL="0" indent="0">
              <a:buNone/>
            </a:pPr>
            <a:r>
              <a:rPr lang="en-US" sz="1300" b="1" kern="0" spc="600">
                <a:solidFill>
                  <a:srgbClr val="00B8D4"/>
                </a:solidFill>
                <a:latin typeface="Calibri" pitchFamily="34" charset="0"/>
                <a:ea typeface="Calibri" pitchFamily="34" charset="-122"/>
                <a:cs typeface="Calibri" pitchFamily="34" charset="-120"/>
              </a:rPr>
              <a:t>PREDICTING</a:t>
            </a:r>
            <a:endParaRPr lang="en-US" sz="1300"/>
          </a:p>
        </p:txBody>
      </p:sp>
      <p:sp>
        <p:nvSpPr>
          <p:cNvPr id="6" name="Text 4"/>
          <p:cNvSpPr/>
          <p:nvPr/>
        </p:nvSpPr>
        <p:spPr>
          <a:xfrm>
            <a:off x="457200" y="1005840"/>
            <a:ext cx="5669280" cy="1371600"/>
          </a:xfrm>
          <a:prstGeom prst="rect">
            <a:avLst/>
          </a:prstGeom>
          <a:noFill/>
          <a:ln/>
        </p:spPr>
        <p:txBody>
          <a:bodyPr wrap="square" lIns="0" tIns="0" rIns="0" bIns="0" rtlCol="0" anchor="ctr"/>
          <a:lstStyle/>
          <a:p>
            <a:pPr marL="0" indent="0">
              <a:buNone/>
            </a:pPr>
            <a:r>
              <a:rPr lang="en-US" sz="4000" b="1">
                <a:solidFill>
                  <a:srgbClr val="FFFFFF"/>
                </a:solidFill>
                <a:latin typeface="Calibri" pitchFamily="34" charset="0"/>
                <a:ea typeface="Calibri" pitchFamily="34" charset="-122"/>
                <a:cs typeface="Calibri" pitchFamily="34" charset="-120"/>
              </a:rPr>
              <a:t>Credit Card Defaults</a:t>
            </a:r>
            <a:endParaRPr lang="en-US" sz="4000"/>
          </a:p>
        </p:txBody>
      </p:sp>
      <p:sp>
        <p:nvSpPr>
          <p:cNvPr id="7" name="Text 5"/>
          <p:cNvSpPr/>
          <p:nvPr/>
        </p:nvSpPr>
        <p:spPr>
          <a:xfrm>
            <a:off x="457200" y="2286000"/>
            <a:ext cx="5669280" cy="548640"/>
          </a:xfrm>
          <a:prstGeom prst="rect">
            <a:avLst/>
          </a:prstGeom>
          <a:noFill/>
          <a:ln/>
        </p:spPr>
        <p:txBody>
          <a:bodyPr wrap="square" rtlCol="0" anchor="ctr"/>
          <a:lstStyle/>
          <a:p>
            <a:pPr marL="0" indent="0">
              <a:buNone/>
            </a:pPr>
            <a:r>
              <a:rPr lang="en-US" sz="1800">
                <a:solidFill>
                  <a:srgbClr val="4FC3F7"/>
                </a:solidFill>
                <a:latin typeface="Calibri" pitchFamily="34" charset="0"/>
                <a:ea typeface="Calibri" pitchFamily="34" charset="-122"/>
                <a:cs typeface="Calibri" pitchFamily="34" charset="-120"/>
              </a:rPr>
              <a:t>Using Machine Learning Techniques</a:t>
            </a:r>
            <a:endParaRPr lang="en-US" sz="1800"/>
          </a:p>
        </p:txBody>
      </p:sp>
      <p:sp>
        <p:nvSpPr>
          <p:cNvPr id="8" name="Shape 6"/>
          <p:cNvSpPr/>
          <p:nvPr/>
        </p:nvSpPr>
        <p:spPr>
          <a:xfrm>
            <a:off x="457200" y="2926080"/>
            <a:ext cx="2286000" cy="36576"/>
          </a:xfrm>
          <a:prstGeom prst="rect">
            <a:avLst/>
          </a:prstGeom>
          <a:solidFill>
            <a:srgbClr val="00B8D4"/>
          </a:solidFill>
          <a:ln w="12700">
            <a:solidFill>
              <a:srgbClr val="00B8D4"/>
            </a:solidFill>
            <a:prstDash val="solid"/>
          </a:ln>
        </p:spPr>
        <p:txBody>
          <a:bodyPr/>
          <a:lstStyle/>
          <a:p>
            <a:endParaRPr lang="fr-FR"/>
          </a:p>
        </p:txBody>
      </p:sp>
      <p:sp>
        <p:nvSpPr>
          <p:cNvPr id="9" name="Text 7"/>
          <p:cNvSpPr/>
          <p:nvPr/>
        </p:nvSpPr>
        <p:spPr>
          <a:xfrm>
            <a:off x="457200" y="3063240"/>
            <a:ext cx="6400800" cy="320040"/>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BFOR 516 – Advanced Data Analytics for Cybersecurity  |  Spring 2026</a:t>
            </a:r>
            <a:endParaRPr lang="en-US" sz="1100"/>
          </a:p>
        </p:txBody>
      </p:sp>
      <p:sp>
        <p:nvSpPr>
          <p:cNvPr id="10" name="Shape 8"/>
          <p:cNvSpPr/>
          <p:nvPr/>
        </p:nvSpPr>
        <p:spPr>
          <a:xfrm>
            <a:off x="457200" y="3520440"/>
            <a:ext cx="45720" cy="256032"/>
          </a:xfrm>
          <a:prstGeom prst="rect">
            <a:avLst/>
          </a:prstGeom>
          <a:solidFill>
            <a:srgbClr val="00B8D4"/>
          </a:solidFill>
          <a:ln w="12700">
            <a:solidFill>
              <a:srgbClr val="00B8D4"/>
            </a:solidFill>
            <a:prstDash val="solid"/>
          </a:ln>
        </p:spPr>
        <p:txBody>
          <a:bodyPr/>
          <a:lstStyle/>
          <a:p>
            <a:endParaRPr lang="fr-FR"/>
          </a:p>
        </p:txBody>
      </p:sp>
      <p:sp>
        <p:nvSpPr>
          <p:cNvPr id="11" name="Text 9"/>
          <p:cNvSpPr/>
          <p:nvPr/>
        </p:nvSpPr>
        <p:spPr>
          <a:xfrm>
            <a:off x="658368" y="3520440"/>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Spencer Kone</a:t>
            </a:r>
            <a:endParaRPr lang="en-US" sz="1200"/>
          </a:p>
        </p:txBody>
      </p:sp>
      <p:sp>
        <p:nvSpPr>
          <p:cNvPr id="12" name="Shape 10"/>
          <p:cNvSpPr/>
          <p:nvPr/>
        </p:nvSpPr>
        <p:spPr>
          <a:xfrm>
            <a:off x="457200" y="3867912"/>
            <a:ext cx="45720" cy="256032"/>
          </a:xfrm>
          <a:prstGeom prst="rect">
            <a:avLst/>
          </a:prstGeom>
          <a:solidFill>
            <a:srgbClr val="00B8D4"/>
          </a:solidFill>
          <a:ln w="12700">
            <a:solidFill>
              <a:srgbClr val="00B8D4"/>
            </a:solidFill>
            <a:prstDash val="solid"/>
          </a:ln>
        </p:spPr>
        <p:txBody>
          <a:bodyPr/>
          <a:lstStyle/>
          <a:p>
            <a:endParaRPr lang="fr-FR"/>
          </a:p>
        </p:txBody>
      </p:sp>
      <p:sp>
        <p:nvSpPr>
          <p:cNvPr id="13" name="Text 11"/>
          <p:cNvSpPr/>
          <p:nvPr/>
        </p:nvSpPr>
        <p:spPr>
          <a:xfrm>
            <a:off x="658368" y="3867912"/>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Muhammad H. Bahar</a:t>
            </a:r>
            <a:endParaRPr lang="en-US" sz="1200"/>
          </a:p>
        </p:txBody>
      </p:sp>
      <p:sp>
        <p:nvSpPr>
          <p:cNvPr id="14" name="Shape 12"/>
          <p:cNvSpPr/>
          <p:nvPr/>
        </p:nvSpPr>
        <p:spPr>
          <a:xfrm>
            <a:off x="457200" y="4215384"/>
            <a:ext cx="45720" cy="256032"/>
          </a:xfrm>
          <a:prstGeom prst="rect">
            <a:avLst/>
          </a:prstGeom>
          <a:solidFill>
            <a:srgbClr val="00B8D4"/>
          </a:solidFill>
          <a:ln w="12700">
            <a:solidFill>
              <a:srgbClr val="00B8D4"/>
            </a:solidFill>
            <a:prstDash val="solid"/>
          </a:ln>
        </p:spPr>
        <p:txBody>
          <a:bodyPr/>
          <a:lstStyle/>
          <a:p>
            <a:endParaRPr lang="fr-FR"/>
          </a:p>
        </p:txBody>
      </p:sp>
      <p:sp>
        <p:nvSpPr>
          <p:cNvPr id="15" name="Text 13"/>
          <p:cNvSpPr/>
          <p:nvPr/>
        </p:nvSpPr>
        <p:spPr>
          <a:xfrm>
            <a:off x="658368" y="4215384"/>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Kunapureddy Leela Pavan Kumar</a:t>
            </a:r>
            <a:endParaRPr lang="en-US" sz="1200"/>
          </a:p>
        </p:txBody>
      </p:sp>
      <p:sp>
        <p:nvSpPr>
          <p:cNvPr id="16" name="Shape 14"/>
          <p:cNvSpPr/>
          <p:nvPr/>
        </p:nvSpPr>
        <p:spPr>
          <a:xfrm>
            <a:off x="457200" y="4562856"/>
            <a:ext cx="45720" cy="256032"/>
          </a:xfrm>
          <a:prstGeom prst="rect">
            <a:avLst/>
          </a:prstGeom>
          <a:solidFill>
            <a:srgbClr val="00B8D4"/>
          </a:solidFill>
          <a:ln w="12700">
            <a:solidFill>
              <a:srgbClr val="00B8D4"/>
            </a:solidFill>
            <a:prstDash val="solid"/>
          </a:ln>
        </p:spPr>
        <p:txBody>
          <a:bodyPr/>
          <a:lstStyle/>
          <a:p>
            <a:endParaRPr lang="fr-FR"/>
          </a:p>
        </p:txBody>
      </p:sp>
      <p:sp>
        <p:nvSpPr>
          <p:cNvPr id="17" name="Text 15"/>
          <p:cNvSpPr/>
          <p:nvPr/>
        </p:nvSpPr>
        <p:spPr>
          <a:xfrm>
            <a:off x="658368" y="4562856"/>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Maddirala Shalem Raju</a:t>
            </a:r>
            <a:endParaRPr lang="en-US" sz="1200"/>
          </a:p>
        </p:txBody>
      </p:sp>
      <p:sp>
        <p:nvSpPr>
          <p:cNvPr id="18" name="Text 16"/>
          <p:cNvSpPr/>
          <p:nvPr/>
        </p:nvSpPr>
        <p:spPr>
          <a:xfrm>
            <a:off x="457200" y="4846320"/>
            <a:ext cx="5486400" cy="228600"/>
          </a:xfrm>
          <a:prstGeom prst="rect">
            <a:avLst/>
          </a:prstGeom>
          <a:noFill/>
          <a:ln/>
        </p:spPr>
        <p:txBody>
          <a:bodyPr wrap="square" rtlCol="0" anchor="ctr"/>
          <a:lstStyle/>
          <a:p>
            <a:pPr marL="0" indent="0">
              <a:buNone/>
            </a:pPr>
            <a:r>
              <a:rPr lang="en-US" sz="1000">
                <a:solidFill>
                  <a:srgbClr val="546E7A"/>
                </a:solidFill>
                <a:latin typeface="Calibri" pitchFamily="34" charset="0"/>
                <a:ea typeface="Calibri" pitchFamily="34" charset="-122"/>
                <a:cs typeface="Calibri" pitchFamily="34" charset="-120"/>
              </a:rPr>
              <a:t>Faculty: Dr. Srishti Gupta  |  Group 3</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0"/>
            <a:ext cx="6400800" cy="822960"/>
          </a:xfrm>
          <a:prstGeom prst="rect">
            <a:avLst/>
          </a:prstGeom>
          <a:noFill/>
          <a:ln/>
        </p:spPr>
        <p:txBody>
          <a:bodyPr wrap="square" rtlCol="0" anchor="ctr"/>
          <a:lstStyle/>
          <a:p>
            <a:pPr marL="0" indent="0">
              <a:buNone/>
            </a:pPr>
            <a:r>
              <a:rPr lang="en-US" sz="1100" b="1" kern="0" spc="500">
                <a:solidFill>
                  <a:srgbClr val="00B8D4"/>
                </a:solidFill>
                <a:latin typeface="Calibri" pitchFamily="34" charset="0"/>
                <a:ea typeface="Calibri" pitchFamily="34" charset="-122"/>
                <a:cs typeface="Calibri" pitchFamily="34" charset="-120"/>
              </a:rPr>
              <a:t>WHY THIS MATTERS</a:t>
            </a:r>
            <a:endParaRPr lang="en-US" sz="1100"/>
          </a:p>
        </p:txBody>
      </p:sp>
      <p:sp>
        <p:nvSpPr>
          <p:cNvPr id="4" name="Text 2"/>
          <p:cNvSpPr/>
          <p:nvPr/>
        </p:nvSpPr>
        <p:spPr>
          <a:xfrm>
            <a:off x="457200" y="0"/>
            <a:ext cx="6400800" cy="822960"/>
          </a:xfrm>
          <a:prstGeom prst="rect">
            <a:avLst/>
          </a:prstGeom>
          <a:noFill/>
          <a:ln/>
        </p:spPr>
        <p:txBody>
          <a:bodyPr wrap="square" rtlCol="0" anchor="ctr"/>
          <a:lstStyle/>
          <a:p>
            <a:pPr marL="0" indent="0" algn="r">
              <a:buNone/>
            </a:pPr>
            <a:r>
              <a:rPr lang="en-US" sz="2800" b="1">
                <a:solidFill>
                  <a:srgbClr val="FFFFFF"/>
                </a:solidFill>
                <a:latin typeface="Calibri" pitchFamily="34" charset="0"/>
                <a:ea typeface="Calibri" pitchFamily="34" charset="-122"/>
                <a:cs typeface="Calibri" pitchFamily="34" charset="-120"/>
              </a:rPr>
              <a:t>The Problem &amp; Stakes</a:t>
            </a:r>
            <a:endParaRPr lang="en-US" sz="2800"/>
          </a:p>
        </p:txBody>
      </p:sp>
      <p:sp>
        <p:nvSpPr>
          <p:cNvPr id="5" name="Shape 3"/>
          <p:cNvSpPr/>
          <p:nvPr/>
        </p:nvSpPr>
        <p:spPr>
          <a:xfrm>
            <a:off x="365760" y="100584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6" name="Shape 4"/>
          <p:cNvSpPr/>
          <p:nvPr/>
        </p:nvSpPr>
        <p:spPr>
          <a:xfrm>
            <a:off x="365760" y="1005840"/>
            <a:ext cx="73152" cy="1645920"/>
          </a:xfrm>
          <a:prstGeom prst="rect">
            <a:avLst/>
          </a:prstGeom>
          <a:solidFill>
            <a:srgbClr val="00B8D4"/>
          </a:solidFill>
          <a:ln w="12700">
            <a:solidFill>
              <a:srgbClr val="00B8D4"/>
            </a:solidFill>
            <a:prstDash val="solid"/>
          </a:ln>
        </p:spPr>
        <p:txBody>
          <a:bodyPr/>
          <a:lstStyle/>
          <a:p>
            <a:endParaRPr lang="fr-FR"/>
          </a:p>
        </p:txBody>
      </p:sp>
      <p:sp>
        <p:nvSpPr>
          <p:cNvPr id="7" name="Text 5"/>
          <p:cNvSpPr/>
          <p:nvPr/>
        </p:nvSpPr>
        <p:spPr>
          <a:xfrm>
            <a:off x="548640" y="113385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Financial Risk</a:t>
            </a:r>
            <a:endParaRPr lang="en-US" sz="1400"/>
          </a:p>
        </p:txBody>
      </p:sp>
      <p:sp>
        <p:nvSpPr>
          <p:cNvPr id="8" name="Text 6"/>
          <p:cNvSpPr/>
          <p:nvPr/>
        </p:nvSpPr>
        <p:spPr>
          <a:xfrm>
            <a:off x="548640" y="148132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Credit defaults cost banks billions annually — predicting them early prevents major losses</a:t>
            </a:r>
            <a:endParaRPr lang="en-US" sz="1200"/>
          </a:p>
        </p:txBody>
      </p:sp>
      <p:sp>
        <p:nvSpPr>
          <p:cNvPr id="9" name="Shape 7"/>
          <p:cNvSpPr/>
          <p:nvPr/>
        </p:nvSpPr>
        <p:spPr>
          <a:xfrm>
            <a:off x="4754880" y="100584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0" name="Shape 8"/>
          <p:cNvSpPr/>
          <p:nvPr/>
        </p:nvSpPr>
        <p:spPr>
          <a:xfrm>
            <a:off x="4754880" y="1005840"/>
            <a:ext cx="73152" cy="1645920"/>
          </a:xfrm>
          <a:prstGeom prst="rect">
            <a:avLst/>
          </a:prstGeom>
          <a:solidFill>
            <a:srgbClr val="00B8D4"/>
          </a:solidFill>
          <a:ln w="12700">
            <a:solidFill>
              <a:srgbClr val="00B8D4"/>
            </a:solidFill>
            <a:prstDash val="solid"/>
          </a:ln>
        </p:spPr>
        <p:txBody>
          <a:bodyPr/>
          <a:lstStyle/>
          <a:p>
            <a:endParaRPr lang="fr-FR"/>
          </a:p>
        </p:txBody>
      </p:sp>
      <p:sp>
        <p:nvSpPr>
          <p:cNvPr id="11" name="Text 9"/>
          <p:cNvSpPr/>
          <p:nvPr/>
        </p:nvSpPr>
        <p:spPr>
          <a:xfrm>
            <a:off x="4937760" y="113385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Class Imbalance</a:t>
            </a:r>
            <a:endParaRPr lang="en-US" sz="1400"/>
          </a:p>
        </p:txBody>
      </p:sp>
      <p:sp>
        <p:nvSpPr>
          <p:cNvPr id="12" name="Text 10"/>
          <p:cNvSpPr/>
          <p:nvPr/>
        </p:nvSpPr>
        <p:spPr>
          <a:xfrm>
            <a:off x="4937760" y="148132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Only 22% of clients default, making prediction harder — the model must detect the minority</a:t>
            </a:r>
            <a:endParaRPr lang="en-US" sz="1200"/>
          </a:p>
        </p:txBody>
      </p:sp>
      <p:sp>
        <p:nvSpPr>
          <p:cNvPr id="13" name="Shape 11"/>
          <p:cNvSpPr/>
          <p:nvPr/>
        </p:nvSpPr>
        <p:spPr>
          <a:xfrm>
            <a:off x="365760" y="288036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4" name="Shape 12"/>
          <p:cNvSpPr/>
          <p:nvPr/>
        </p:nvSpPr>
        <p:spPr>
          <a:xfrm>
            <a:off x="365760" y="2880360"/>
            <a:ext cx="73152" cy="1645920"/>
          </a:xfrm>
          <a:prstGeom prst="rect">
            <a:avLst/>
          </a:prstGeom>
          <a:solidFill>
            <a:srgbClr val="00B8D4"/>
          </a:solidFill>
          <a:ln w="12700">
            <a:solidFill>
              <a:srgbClr val="00B8D4"/>
            </a:solidFill>
            <a:prstDash val="solid"/>
          </a:ln>
        </p:spPr>
        <p:txBody>
          <a:bodyPr/>
          <a:lstStyle/>
          <a:p>
            <a:endParaRPr lang="fr-FR"/>
          </a:p>
        </p:txBody>
      </p:sp>
      <p:sp>
        <p:nvSpPr>
          <p:cNvPr id="15" name="Text 13"/>
          <p:cNvSpPr/>
          <p:nvPr/>
        </p:nvSpPr>
        <p:spPr>
          <a:xfrm>
            <a:off x="548640" y="300837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Real-World Dataset</a:t>
            </a:r>
            <a:endParaRPr lang="en-US" sz="1400"/>
          </a:p>
        </p:txBody>
      </p:sp>
      <p:sp>
        <p:nvSpPr>
          <p:cNvPr id="16" name="Text 14"/>
          <p:cNvSpPr/>
          <p:nvPr/>
        </p:nvSpPr>
        <p:spPr>
          <a:xfrm>
            <a:off x="548640" y="335584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30,000 Taiwan credit card clients from UCI ML Repository — real behavior, real stakes</a:t>
            </a:r>
            <a:endParaRPr lang="en-US" sz="1200"/>
          </a:p>
        </p:txBody>
      </p:sp>
      <p:sp>
        <p:nvSpPr>
          <p:cNvPr id="17" name="Shape 15"/>
          <p:cNvSpPr/>
          <p:nvPr/>
        </p:nvSpPr>
        <p:spPr>
          <a:xfrm>
            <a:off x="4754880" y="288036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8" name="Shape 16"/>
          <p:cNvSpPr/>
          <p:nvPr/>
        </p:nvSpPr>
        <p:spPr>
          <a:xfrm>
            <a:off x="4754880" y="2880360"/>
            <a:ext cx="73152" cy="1645920"/>
          </a:xfrm>
          <a:prstGeom prst="rect">
            <a:avLst/>
          </a:prstGeom>
          <a:solidFill>
            <a:srgbClr val="00B8D4"/>
          </a:solidFill>
          <a:ln w="12700">
            <a:solidFill>
              <a:srgbClr val="00B8D4"/>
            </a:solidFill>
            <a:prstDash val="solid"/>
          </a:ln>
        </p:spPr>
        <p:txBody>
          <a:bodyPr/>
          <a:lstStyle/>
          <a:p>
            <a:endParaRPr lang="fr-FR"/>
          </a:p>
        </p:txBody>
      </p:sp>
      <p:sp>
        <p:nvSpPr>
          <p:cNvPr id="19" name="Text 17"/>
          <p:cNvSpPr/>
          <p:nvPr/>
        </p:nvSpPr>
        <p:spPr>
          <a:xfrm>
            <a:off x="4937760" y="300837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Multiple Metrics</a:t>
            </a:r>
            <a:endParaRPr lang="en-US" sz="1400"/>
          </a:p>
        </p:txBody>
      </p:sp>
      <p:sp>
        <p:nvSpPr>
          <p:cNvPr id="20" name="Text 18"/>
          <p:cNvSpPr/>
          <p:nvPr/>
        </p:nvSpPr>
        <p:spPr>
          <a:xfrm>
            <a:off x="4937760" y="335584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Accuracy alone is misleading — recall matters most since missing a defaulter is costlier</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Dataset at a Glance</a:t>
            </a:r>
            <a:endParaRPr lang="en-US" sz="3000"/>
          </a:p>
        </p:txBody>
      </p:sp>
      <p:sp>
        <p:nvSpPr>
          <p:cNvPr id="3" name="Text 1"/>
          <p:cNvSpPr/>
          <p:nvPr/>
        </p:nvSpPr>
        <p:spPr>
          <a:xfrm>
            <a:off x="457200" y="822960"/>
            <a:ext cx="8229600" cy="27432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Default of Credit Card Clients  |  UCI Machine Learning Repository  |  Yeh &amp; Lien (2009)</a:t>
            </a:r>
            <a:endParaRPr lang="en-US" sz="1100"/>
          </a:p>
        </p:txBody>
      </p:sp>
      <p:sp>
        <p:nvSpPr>
          <p:cNvPr id="4" name="Shape 2"/>
          <p:cNvSpPr/>
          <p:nvPr/>
        </p:nvSpPr>
        <p:spPr>
          <a:xfrm>
            <a:off x="457200" y="1097280"/>
            <a:ext cx="8229600" cy="27432"/>
          </a:xfrm>
          <a:prstGeom prst="rect">
            <a:avLst/>
          </a:prstGeom>
          <a:solidFill>
            <a:srgbClr val="00B8D4"/>
          </a:solidFill>
          <a:ln w="12700">
            <a:solidFill>
              <a:srgbClr val="00B8D4"/>
            </a:solidFill>
            <a:prstDash val="solid"/>
          </a:ln>
        </p:spPr>
        <p:txBody>
          <a:bodyPr/>
          <a:lstStyle/>
          <a:p>
            <a:endParaRPr lang="fr-FR"/>
          </a:p>
        </p:txBody>
      </p:sp>
      <p:sp>
        <p:nvSpPr>
          <p:cNvPr id="5" name="Shape 3"/>
          <p:cNvSpPr/>
          <p:nvPr/>
        </p:nvSpPr>
        <p:spPr>
          <a:xfrm>
            <a:off x="32004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6" name="Shape 4"/>
          <p:cNvSpPr/>
          <p:nvPr/>
        </p:nvSpPr>
        <p:spPr>
          <a:xfrm>
            <a:off x="320040" y="1325880"/>
            <a:ext cx="2560320" cy="45720"/>
          </a:xfrm>
          <a:prstGeom prst="rect">
            <a:avLst/>
          </a:prstGeom>
          <a:solidFill>
            <a:srgbClr val="00B8D4"/>
          </a:solidFill>
          <a:ln w="12700">
            <a:solidFill>
              <a:srgbClr val="00B8D4"/>
            </a:solidFill>
            <a:prstDash val="solid"/>
          </a:ln>
        </p:spPr>
        <p:txBody>
          <a:bodyPr/>
          <a:lstStyle/>
          <a:p>
            <a:endParaRPr lang="fr-FR"/>
          </a:p>
        </p:txBody>
      </p:sp>
      <p:sp>
        <p:nvSpPr>
          <p:cNvPr id="7" name="Text 5"/>
          <p:cNvSpPr/>
          <p:nvPr/>
        </p:nvSpPr>
        <p:spPr>
          <a:xfrm>
            <a:off x="32004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30,000</a:t>
            </a:r>
            <a:endParaRPr lang="en-US" sz="3400"/>
          </a:p>
        </p:txBody>
      </p:sp>
      <p:sp>
        <p:nvSpPr>
          <p:cNvPr id="8" name="Text 6"/>
          <p:cNvSpPr/>
          <p:nvPr/>
        </p:nvSpPr>
        <p:spPr>
          <a:xfrm>
            <a:off x="32004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Client Records</a:t>
            </a:r>
            <a:endParaRPr lang="en-US" sz="1200"/>
          </a:p>
        </p:txBody>
      </p:sp>
      <p:sp>
        <p:nvSpPr>
          <p:cNvPr id="9" name="Shape 7"/>
          <p:cNvSpPr/>
          <p:nvPr/>
        </p:nvSpPr>
        <p:spPr>
          <a:xfrm>
            <a:off x="315468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0" name="Shape 8"/>
          <p:cNvSpPr/>
          <p:nvPr/>
        </p:nvSpPr>
        <p:spPr>
          <a:xfrm>
            <a:off x="3154680" y="1325880"/>
            <a:ext cx="2560320" cy="45720"/>
          </a:xfrm>
          <a:prstGeom prst="rect">
            <a:avLst/>
          </a:prstGeom>
          <a:solidFill>
            <a:srgbClr val="00B8D4"/>
          </a:solidFill>
          <a:ln w="12700">
            <a:solidFill>
              <a:srgbClr val="00B8D4"/>
            </a:solidFill>
            <a:prstDash val="solid"/>
          </a:ln>
        </p:spPr>
        <p:txBody>
          <a:bodyPr/>
          <a:lstStyle/>
          <a:p>
            <a:endParaRPr lang="fr-FR"/>
          </a:p>
        </p:txBody>
      </p:sp>
      <p:sp>
        <p:nvSpPr>
          <p:cNvPr id="11" name="Text 9"/>
          <p:cNvSpPr/>
          <p:nvPr/>
        </p:nvSpPr>
        <p:spPr>
          <a:xfrm>
            <a:off x="315468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23</a:t>
            </a:r>
            <a:endParaRPr lang="en-US" sz="3400"/>
          </a:p>
        </p:txBody>
      </p:sp>
      <p:sp>
        <p:nvSpPr>
          <p:cNvPr id="12" name="Text 10"/>
          <p:cNvSpPr/>
          <p:nvPr/>
        </p:nvSpPr>
        <p:spPr>
          <a:xfrm>
            <a:off x="315468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Features</a:t>
            </a:r>
            <a:endParaRPr lang="en-US" sz="1200"/>
          </a:p>
        </p:txBody>
      </p:sp>
      <p:sp>
        <p:nvSpPr>
          <p:cNvPr id="13" name="Shape 11"/>
          <p:cNvSpPr/>
          <p:nvPr/>
        </p:nvSpPr>
        <p:spPr>
          <a:xfrm>
            <a:off x="598932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4" name="Shape 12"/>
          <p:cNvSpPr/>
          <p:nvPr/>
        </p:nvSpPr>
        <p:spPr>
          <a:xfrm>
            <a:off x="5989320" y="1325880"/>
            <a:ext cx="2560320" cy="45720"/>
          </a:xfrm>
          <a:prstGeom prst="rect">
            <a:avLst/>
          </a:prstGeom>
          <a:solidFill>
            <a:srgbClr val="00B8D4"/>
          </a:solidFill>
          <a:ln w="12700">
            <a:solidFill>
              <a:srgbClr val="00B8D4"/>
            </a:solidFill>
            <a:prstDash val="solid"/>
          </a:ln>
        </p:spPr>
        <p:txBody>
          <a:bodyPr/>
          <a:lstStyle/>
          <a:p>
            <a:endParaRPr lang="fr-FR"/>
          </a:p>
        </p:txBody>
      </p:sp>
      <p:sp>
        <p:nvSpPr>
          <p:cNvPr id="15" name="Text 13"/>
          <p:cNvSpPr/>
          <p:nvPr/>
        </p:nvSpPr>
        <p:spPr>
          <a:xfrm>
            <a:off x="598932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22.12%</a:t>
            </a:r>
            <a:endParaRPr lang="en-US" sz="3400"/>
          </a:p>
        </p:txBody>
      </p:sp>
      <p:sp>
        <p:nvSpPr>
          <p:cNvPr id="16" name="Text 14"/>
          <p:cNvSpPr/>
          <p:nvPr/>
        </p:nvSpPr>
        <p:spPr>
          <a:xfrm>
            <a:off x="598932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Default Rate</a:t>
            </a:r>
            <a:endParaRPr lang="en-US" sz="1200"/>
          </a:p>
        </p:txBody>
      </p:sp>
      <p:sp>
        <p:nvSpPr>
          <p:cNvPr id="17" name="Shape 15"/>
          <p:cNvSpPr/>
          <p:nvPr/>
        </p:nvSpPr>
        <p:spPr>
          <a:xfrm>
            <a:off x="32004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8" name="Shape 16"/>
          <p:cNvSpPr/>
          <p:nvPr/>
        </p:nvSpPr>
        <p:spPr>
          <a:xfrm>
            <a:off x="320040" y="3063240"/>
            <a:ext cx="2560320" cy="45720"/>
          </a:xfrm>
          <a:prstGeom prst="rect">
            <a:avLst/>
          </a:prstGeom>
          <a:solidFill>
            <a:srgbClr val="00B8D4"/>
          </a:solidFill>
          <a:ln w="12700">
            <a:solidFill>
              <a:srgbClr val="00B8D4"/>
            </a:solidFill>
            <a:prstDash val="solid"/>
          </a:ln>
        </p:spPr>
        <p:txBody>
          <a:bodyPr/>
          <a:lstStyle/>
          <a:p>
            <a:endParaRPr lang="fr-FR"/>
          </a:p>
        </p:txBody>
      </p:sp>
      <p:sp>
        <p:nvSpPr>
          <p:cNvPr id="19" name="Text 17"/>
          <p:cNvSpPr/>
          <p:nvPr/>
        </p:nvSpPr>
        <p:spPr>
          <a:xfrm>
            <a:off x="32004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3.5:1</a:t>
            </a:r>
            <a:endParaRPr lang="en-US" sz="3400"/>
          </a:p>
        </p:txBody>
      </p:sp>
      <p:sp>
        <p:nvSpPr>
          <p:cNvPr id="20" name="Text 18"/>
          <p:cNvSpPr/>
          <p:nvPr/>
        </p:nvSpPr>
        <p:spPr>
          <a:xfrm>
            <a:off x="32004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Class Imbalance</a:t>
            </a:r>
            <a:endParaRPr lang="en-US" sz="1200"/>
          </a:p>
        </p:txBody>
      </p:sp>
      <p:sp>
        <p:nvSpPr>
          <p:cNvPr id="21" name="Shape 19"/>
          <p:cNvSpPr/>
          <p:nvPr/>
        </p:nvSpPr>
        <p:spPr>
          <a:xfrm>
            <a:off x="315468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22" name="Shape 20"/>
          <p:cNvSpPr/>
          <p:nvPr/>
        </p:nvSpPr>
        <p:spPr>
          <a:xfrm>
            <a:off x="3154680" y="3063240"/>
            <a:ext cx="2560320" cy="45720"/>
          </a:xfrm>
          <a:prstGeom prst="rect">
            <a:avLst/>
          </a:prstGeom>
          <a:solidFill>
            <a:srgbClr val="00B8D4"/>
          </a:solidFill>
          <a:ln w="12700">
            <a:solidFill>
              <a:srgbClr val="00B8D4"/>
            </a:solidFill>
            <a:prstDash val="solid"/>
          </a:ln>
        </p:spPr>
        <p:txBody>
          <a:bodyPr/>
          <a:lstStyle/>
          <a:p>
            <a:endParaRPr lang="fr-FR"/>
          </a:p>
        </p:txBody>
      </p:sp>
      <p:sp>
        <p:nvSpPr>
          <p:cNvPr id="23" name="Text 21"/>
          <p:cNvSpPr/>
          <p:nvPr/>
        </p:nvSpPr>
        <p:spPr>
          <a:xfrm>
            <a:off x="315468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NT$167K</a:t>
            </a:r>
            <a:endParaRPr lang="en-US" sz="3400"/>
          </a:p>
        </p:txBody>
      </p:sp>
      <p:sp>
        <p:nvSpPr>
          <p:cNvPr id="24" name="Text 22"/>
          <p:cNvSpPr/>
          <p:nvPr/>
        </p:nvSpPr>
        <p:spPr>
          <a:xfrm>
            <a:off x="315468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Avg Credit Limit</a:t>
            </a:r>
            <a:endParaRPr lang="en-US" sz="1200"/>
          </a:p>
        </p:txBody>
      </p:sp>
      <p:sp>
        <p:nvSpPr>
          <p:cNvPr id="25" name="Shape 23"/>
          <p:cNvSpPr/>
          <p:nvPr/>
        </p:nvSpPr>
        <p:spPr>
          <a:xfrm>
            <a:off x="598932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26" name="Shape 24"/>
          <p:cNvSpPr/>
          <p:nvPr/>
        </p:nvSpPr>
        <p:spPr>
          <a:xfrm>
            <a:off x="5989320" y="3063240"/>
            <a:ext cx="2560320" cy="45720"/>
          </a:xfrm>
          <a:prstGeom prst="rect">
            <a:avLst/>
          </a:prstGeom>
          <a:solidFill>
            <a:srgbClr val="00B8D4"/>
          </a:solidFill>
          <a:ln w="12700">
            <a:solidFill>
              <a:srgbClr val="00B8D4"/>
            </a:solidFill>
            <a:prstDash val="solid"/>
          </a:ln>
        </p:spPr>
        <p:txBody>
          <a:bodyPr/>
          <a:lstStyle/>
          <a:p>
            <a:endParaRPr lang="fr-FR"/>
          </a:p>
        </p:txBody>
      </p:sp>
      <p:sp>
        <p:nvSpPr>
          <p:cNvPr id="27" name="Text 25"/>
          <p:cNvSpPr/>
          <p:nvPr/>
        </p:nvSpPr>
        <p:spPr>
          <a:xfrm>
            <a:off x="598932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35 yrs</a:t>
            </a:r>
            <a:endParaRPr lang="en-US" sz="3400"/>
          </a:p>
        </p:txBody>
      </p:sp>
      <p:sp>
        <p:nvSpPr>
          <p:cNvPr id="28" name="Text 26"/>
          <p:cNvSpPr/>
          <p:nvPr/>
        </p:nvSpPr>
        <p:spPr>
          <a:xfrm>
            <a:off x="598932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Average Age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Data Preparation &amp; Cleaning</a:t>
            </a:r>
            <a:endParaRPr lang="en-US" sz="2600"/>
          </a:p>
        </p:txBody>
      </p:sp>
      <p:sp>
        <p:nvSpPr>
          <p:cNvPr id="4" name="Text 2"/>
          <p:cNvSpPr/>
          <p:nvPr/>
        </p:nvSpPr>
        <p:spPr>
          <a:xfrm>
            <a:off x="365760" y="914400"/>
            <a:ext cx="3931920" cy="256032"/>
          </a:xfrm>
          <a:prstGeom prst="rect">
            <a:avLst/>
          </a:prstGeom>
          <a:noFill/>
          <a:ln/>
        </p:spPr>
        <p:txBody>
          <a:bodyPr wrap="square" rtlCol="0" anchor="ctr"/>
          <a:lstStyle/>
          <a:p>
            <a:pPr marL="0" indent="0">
              <a:buNone/>
            </a:pPr>
            <a:r>
              <a:rPr lang="en-US" sz="900" b="1" kern="0" spc="300">
                <a:solidFill>
                  <a:srgbClr val="00B8D4"/>
                </a:solidFill>
                <a:latin typeface="Calibri" pitchFamily="34" charset="0"/>
                <a:ea typeface="Calibri" pitchFamily="34" charset="-122"/>
                <a:cs typeface="Calibri" pitchFamily="34" charset="-120"/>
              </a:rPr>
              <a:t>DATA CLEANING</a:t>
            </a:r>
            <a:endParaRPr lang="en-US" sz="900"/>
          </a:p>
        </p:txBody>
      </p:sp>
      <p:sp>
        <p:nvSpPr>
          <p:cNvPr id="5" name="Text 3"/>
          <p:cNvSpPr/>
          <p:nvPr/>
        </p:nvSpPr>
        <p:spPr>
          <a:xfrm>
            <a:off x="4663440" y="914400"/>
            <a:ext cx="4297680" cy="256032"/>
          </a:xfrm>
          <a:prstGeom prst="rect">
            <a:avLst/>
          </a:prstGeom>
          <a:noFill/>
          <a:ln/>
        </p:spPr>
        <p:txBody>
          <a:bodyPr wrap="square" rtlCol="0" anchor="ctr"/>
          <a:lstStyle/>
          <a:p>
            <a:pPr marL="0" indent="0">
              <a:buNone/>
            </a:pPr>
            <a:r>
              <a:rPr lang="en-US" sz="900" b="1" kern="0" spc="300">
                <a:solidFill>
                  <a:srgbClr val="FFB300"/>
                </a:solidFill>
                <a:latin typeface="Calibri" pitchFamily="34" charset="0"/>
                <a:ea typeface="Calibri" pitchFamily="34" charset="-122"/>
                <a:cs typeface="Calibri" pitchFamily="34" charset="-120"/>
              </a:rPr>
              <a:t>PREPROCESSING PIPELINE</a:t>
            </a:r>
            <a:endParaRPr lang="en-US" sz="900"/>
          </a:p>
        </p:txBody>
      </p:sp>
      <p:sp>
        <p:nvSpPr>
          <p:cNvPr id="6" name="Shape 4"/>
          <p:cNvSpPr/>
          <p:nvPr/>
        </p:nvSpPr>
        <p:spPr>
          <a:xfrm>
            <a:off x="365760" y="118872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7" name="Shape 5"/>
          <p:cNvSpPr/>
          <p:nvPr/>
        </p:nvSpPr>
        <p:spPr>
          <a:xfrm>
            <a:off x="365760" y="1188720"/>
            <a:ext cx="438912" cy="1097280"/>
          </a:xfrm>
          <a:prstGeom prst="rect">
            <a:avLst/>
          </a:prstGeom>
          <a:solidFill>
            <a:srgbClr val="0D2137"/>
          </a:solidFill>
          <a:ln w="12700">
            <a:solidFill>
              <a:srgbClr val="0D2137"/>
            </a:solidFill>
            <a:prstDash val="solid"/>
          </a:ln>
        </p:spPr>
        <p:txBody>
          <a:bodyPr/>
          <a:lstStyle/>
          <a:p>
            <a:endParaRPr lang="fr-FR"/>
          </a:p>
        </p:txBody>
      </p:sp>
      <p:sp>
        <p:nvSpPr>
          <p:cNvPr id="8" name="Text 6"/>
          <p:cNvSpPr/>
          <p:nvPr/>
        </p:nvSpPr>
        <p:spPr>
          <a:xfrm>
            <a:off x="365760" y="118872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01</a:t>
            </a:r>
            <a:endParaRPr lang="en-US" sz="1300"/>
          </a:p>
        </p:txBody>
      </p:sp>
      <p:sp>
        <p:nvSpPr>
          <p:cNvPr id="9" name="Text 7"/>
          <p:cNvSpPr/>
          <p:nvPr/>
        </p:nvSpPr>
        <p:spPr>
          <a:xfrm>
            <a:off x="914400" y="128016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Initial Inspection</a:t>
            </a:r>
            <a:endParaRPr lang="en-US" sz="1200"/>
          </a:p>
        </p:txBody>
      </p:sp>
      <p:sp>
        <p:nvSpPr>
          <p:cNvPr id="10" name="Text 8"/>
          <p:cNvSpPr/>
          <p:nvPr/>
        </p:nvSpPr>
        <p:spPr>
          <a:xfrm>
            <a:off x="914400" y="159105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30,000 rows × 24 cols, all int64</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0 missing values — 35 duplicate rows kept</a:t>
            </a:r>
            <a:endParaRPr lang="en-US" sz="1050"/>
          </a:p>
        </p:txBody>
      </p:sp>
      <p:sp>
        <p:nvSpPr>
          <p:cNvPr id="11" name="Shape 9"/>
          <p:cNvSpPr/>
          <p:nvPr/>
        </p:nvSpPr>
        <p:spPr>
          <a:xfrm>
            <a:off x="365760" y="242316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2" name="Shape 10"/>
          <p:cNvSpPr/>
          <p:nvPr/>
        </p:nvSpPr>
        <p:spPr>
          <a:xfrm>
            <a:off x="365760" y="2423160"/>
            <a:ext cx="438912" cy="1097280"/>
          </a:xfrm>
          <a:prstGeom prst="rect">
            <a:avLst/>
          </a:prstGeom>
          <a:solidFill>
            <a:srgbClr val="0D2137"/>
          </a:solidFill>
          <a:ln w="12700">
            <a:solidFill>
              <a:srgbClr val="0D2137"/>
            </a:solidFill>
            <a:prstDash val="solid"/>
          </a:ln>
        </p:spPr>
        <p:txBody>
          <a:bodyPr/>
          <a:lstStyle/>
          <a:p>
            <a:endParaRPr lang="fr-FR"/>
          </a:p>
        </p:txBody>
      </p:sp>
      <p:sp>
        <p:nvSpPr>
          <p:cNvPr id="13" name="Text 11"/>
          <p:cNvSpPr/>
          <p:nvPr/>
        </p:nvSpPr>
        <p:spPr>
          <a:xfrm>
            <a:off x="365760" y="242316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02</a:t>
            </a:r>
            <a:endParaRPr lang="en-US" sz="1300"/>
          </a:p>
        </p:txBody>
      </p:sp>
      <p:sp>
        <p:nvSpPr>
          <p:cNvPr id="14" name="Text 12"/>
          <p:cNvSpPr/>
          <p:nvPr/>
        </p:nvSpPr>
        <p:spPr>
          <a:xfrm>
            <a:off x="914400" y="251460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EDUCATION Cleaning</a:t>
            </a:r>
            <a:endParaRPr lang="en-US" sz="1200"/>
          </a:p>
        </p:txBody>
      </p:sp>
      <p:sp>
        <p:nvSpPr>
          <p:cNvPr id="15" name="Text 13"/>
          <p:cNvSpPr/>
          <p:nvPr/>
        </p:nvSpPr>
        <p:spPr>
          <a:xfrm>
            <a:off x="914400" y="282549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Values 0, 5, 6 undocumented → remapped to 4</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345 rows affected (1.15%)</a:t>
            </a:r>
            <a:endParaRPr lang="en-US" sz="1050"/>
          </a:p>
        </p:txBody>
      </p:sp>
      <p:sp>
        <p:nvSpPr>
          <p:cNvPr id="16" name="Shape 14"/>
          <p:cNvSpPr/>
          <p:nvPr/>
        </p:nvSpPr>
        <p:spPr>
          <a:xfrm>
            <a:off x="365760" y="365760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5"/>
          <p:cNvSpPr/>
          <p:nvPr/>
        </p:nvSpPr>
        <p:spPr>
          <a:xfrm>
            <a:off x="365760" y="3657600"/>
            <a:ext cx="438912" cy="1097280"/>
          </a:xfrm>
          <a:prstGeom prst="rect">
            <a:avLst/>
          </a:prstGeom>
          <a:solidFill>
            <a:srgbClr val="0D2137"/>
          </a:solidFill>
          <a:ln w="12700">
            <a:solidFill>
              <a:srgbClr val="0D2137"/>
            </a:solidFill>
            <a:prstDash val="solid"/>
          </a:ln>
        </p:spPr>
        <p:txBody>
          <a:bodyPr/>
          <a:lstStyle/>
          <a:p>
            <a:endParaRPr lang="fr-FR"/>
          </a:p>
        </p:txBody>
      </p:sp>
      <p:sp>
        <p:nvSpPr>
          <p:cNvPr id="18" name="Text 16"/>
          <p:cNvSpPr/>
          <p:nvPr/>
        </p:nvSpPr>
        <p:spPr>
          <a:xfrm>
            <a:off x="365760" y="365760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03</a:t>
            </a:r>
            <a:endParaRPr lang="en-US" sz="1300"/>
          </a:p>
        </p:txBody>
      </p:sp>
      <p:sp>
        <p:nvSpPr>
          <p:cNvPr id="19" name="Text 17"/>
          <p:cNvSpPr/>
          <p:nvPr/>
        </p:nvSpPr>
        <p:spPr>
          <a:xfrm>
            <a:off x="914400" y="374904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MARRIAGE Cleaning</a:t>
            </a:r>
            <a:endParaRPr lang="en-US" sz="1200"/>
          </a:p>
        </p:txBody>
      </p:sp>
      <p:sp>
        <p:nvSpPr>
          <p:cNvPr id="20" name="Text 18"/>
          <p:cNvSpPr/>
          <p:nvPr/>
        </p:nvSpPr>
        <p:spPr>
          <a:xfrm>
            <a:off x="914400" y="405993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Value 0 undocumented → remapped to 3</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54 rows affected. Total cleaned: 399 rows (1.3%)</a:t>
            </a:r>
            <a:endParaRPr lang="en-US" sz="1050"/>
          </a:p>
        </p:txBody>
      </p:sp>
      <p:sp>
        <p:nvSpPr>
          <p:cNvPr id="21" name="Shape 19"/>
          <p:cNvSpPr/>
          <p:nvPr/>
        </p:nvSpPr>
        <p:spPr>
          <a:xfrm>
            <a:off x="4663440" y="1188720"/>
            <a:ext cx="429768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22" name="Shape 20"/>
          <p:cNvSpPr/>
          <p:nvPr/>
        </p:nvSpPr>
        <p:spPr>
          <a:xfrm>
            <a:off x="4663440" y="1188720"/>
            <a:ext cx="438912" cy="1097280"/>
          </a:xfrm>
          <a:prstGeom prst="rect">
            <a:avLst/>
          </a:prstGeom>
          <a:solidFill>
            <a:srgbClr val="0D2137"/>
          </a:solidFill>
          <a:ln w="12700">
            <a:solidFill>
              <a:srgbClr val="0D2137"/>
            </a:solidFill>
            <a:prstDash val="solid"/>
          </a:ln>
        </p:spPr>
        <p:txBody>
          <a:bodyPr/>
          <a:lstStyle/>
          <a:p>
            <a:endParaRPr lang="fr-FR"/>
          </a:p>
        </p:txBody>
      </p:sp>
      <p:sp>
        <p:nvSpPr>
          <p:cNvPr id="23" name="Text 21"/>
          <p:cNvSpPr/>
          <p:nvPr/>
        </p:nvSpPr>
        <p:spPr>
          <a:xfrm>
            <a:off x="4663440" y="1188720"/>
            <a:ext cx="438912" cy="1097280"/>
          </a:xfrm>
          <a:prstGeom prst="rect">
            <a:avLst/>
          </a:prstGeom>
          <a:noFill/>
          <a:ln/>
        </p:spPr>
        <p:txBody>
          <a:bodyPr wrap="square" rtlCol="0" anchor="ctr"/>
          <a:lstStyle/>
          <a:p>
            <a:pPr marL="0" indent="0" algn="ctr">
              <a:buNone/>
            </a:pPr>
            <a:r>
              <a:rPr lang="en-US" sz="1300" b="1">
                <a:solidFill>
                  <a:srgbClr val="FFB300"/>
                </a:solidFill>
                <a:latin typeface="Calibri" pitchFamily="34" charset="0"/>
                <a:ea typeface="Calibri" pitchFamily="34" charset="-122"/>
                <a:cs typeface="Calibri" pitchFamily="34" charset="-120"/>
              </a:rPr>
              <a:t>04</a:t>
            </a:r>
            <a:endParaRPr lang="en-US" sz="1300"/>
          </a:p>
        </p:txBody>
      </p:sp>
      <p:sp>
        <p:nvSpPr>
          <p:cNvPr id="24" name="Text 22"/>
          <p:cNvSpPr/>
          <p:nvPr/>
        </p:nvSpPr>
        <p:spPr>
          <a:xfrm>
            <a:off x="5212080" y="1280160"/>
            <a:ext cx="365760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Stratified Train/Test Split</a:t>
            </a:r>
            <a:endParaRPr lang="en-US" sz="1200"/>
          </a:p>
        </p:txBody>
      </p:sp>
      <p:sp>
        <p:nvSpPr>
          <p:cNvPr id="25" name="Text 23"/>
          <p:cNvSpPr/>
          <p:nvPr/>
        </p:nvSpPr>
        <p:spPr>
          <a:xfrm>
            <a:off x="5212080" y="1591056"/>
            <a:ext cx="365760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80/20 split (random_state=42, stratify=y)</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Default rate 22.12% preserved in both sets</a:t>
            </a:r>
            <a:endParaRPr lang="en-US" sz="1050"/>
          </a:p>
        </p:txBody>
      </p:sp>
      <p:sp>
        <p:nvSpPr>
          <p:cNvPr id="26" name="Shape 24"/>
          <p:cNvSpPr/>
          <p:nvPr/>
        </p:nvSpPr>
        <p:spPr>
          <a:xfrm>
            <a:off x="4663440" y="2423160"/>
            <a:ext cx="429768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27" name="Shape 25"/>
          <p:cNvSpPr/>
          <p:nvPr/>
        </p:nvSpPr>
        <p:spPr>
          <a:xfrm>
            <a:off x="4663440" y="2423160"/>
            <a:ext cx="438912" cy="1097280"/>
          </a:xfrm>
          <a:prstGeom prst="rect">
            <a:avLst/>
          </a:prstGeom>
          <a:solidFill>
            <a:srgbClr val="0D2137"/>
          </a:solidFill>
          <a:ln w="12700">
            <a:solidFill>
              <a:srgbClr val="0D2137"/>
            </a:solidFill>
            <a:prstDash val="solid"/>
          </a:ln>
        </p:spPr>
        <p:txBody>
          <a:bodyPr/>
          <a:lstStyle/>
          <a:p>
            <a:endParaRPr lang="fr-FR"/>
          </a:p>
        </p:txBody>
      </p:sp>
      <p:sp>
        <p:nvSpPr>
          <p:cNvPr id="28" name="Text 26"/>
          <p:cNvSpPr/>
          <p:nvPr/>
        </p:nvSpPr>
        <p:spPr>
          <a:xfrm>
            <a:off x="4663440" y="2423160"/>
            <a:ext cx="438912" cy="1097280"/>
          </a:xfrm>
          <a:prstGeom prst="rect">
            <a:avLst/>
          </a:prstGeom>
          <a:noFill/>
          <a:ln/>
        </p:spPr>
        <p:txBody>
          <a:bodyPr wrap="square" rtlCol="0" anchor="ctr"/>
          <a:lstStyle/>
          <a:p>
            <a:pPr marL="0" indent="0" algn="ctr">
              <a:buNone/>
            </a:pPr>
            <a:r>
              <a:rPr lang="en-US" sz="1300" b="1">
                <a:solidFill>
                  <a:srgbClr val="FFB300"/>
                </a:solidFill>
                <a:latin typeface="Calibri" pitchFamily="34" charset="0"/>
                <a:ea typeface="Calibri" pitchFamily="34" charset="-122"/>
                <a:cs typeface="Calibri" pitchFamily="34" charset="-120"/>
              </a:rPr>
              <a:t>05</a:t>
            </a:r>
            <a:endParaRPr lang="en-US" sz="1300"/>
          </a:p>
        </p:txBody>
      </p:sp>
      <p:sp>
        <p:nvSpPr>
          <p:cNvPr id="29" name="Text 27"/>
          <p:cNvSpPr/>
          <p:nvPr/>
        </p:nvSpPr>
        <p:spPr>
          <a:xfrm>
            <a:off x="5212080" y="2514600"/>
            <a:ext cx="365760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StandardScaler Normalization</a:t>
            </a:r>
            <a:endParaRPr lang="en-US" sz="1200"/>
          </a:p>
        </p:txBody>
      </p:sp>
      <p:sp>
        <p:nvSpPr>
          <p:cNvPr id="30" name="Text 28"/>
          <p:cNvSpPr/>
          <p:nvPr/>
        </p:nvSpPr>
        <p:spPr>
          <a:xfrm>
            <a:off x="5212080" y="2825496"/>
            <a:ext cx="365760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Fitted on train only → applied to both sets</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Prevents data leakage from test set</a:t>
            </a:r>
            <a:endParaRPr lang="en-US" sz="1050"/>
          </a:p>
        </p:txBody>
      </p:sp>
      <p:sp>
        <p:nvSpPr>
          <p:cNvPr id="31" name="Shape 29"/>
          <p:cNvSpPr/>
          <p:nvPr/>
        </p:nvSpPr>
        <p:spPr>
          <a:xfrm>
            <a:off x="365760" y="4663440"/>
            <a:ext cx="8595360" cy="384048"/>
          </a:xfrm>
          <a:prstGeom prst="rect">
            <a:avLst/>
          </a:prstGeom>
          <a:solidFill>
            <a:srgbClr val="EBF5FB"/>
          </a:solidFill>
          <a:ln w="12700">
            <a:solidFill>
              <a:srgbClr val="BBDEFB"/>
            </a:solidFill>
            <a:prstDash val="solid"/>
          </a:ln>
        </p:spPr>
        <p:txBody>
          <a:bodyPr/>
          <a:lstStyle/>
          <a:p>
            <a:endParaRPr lang="fr-FR"/>
          </a:p>
        </p:txBody>
      </p:sp>
      <p:sp>
        <p:nvSpPr>
          <p:cNvPr id="32" name="Text 30"/>
          <p:cNvSpPr/>
          <p:nvPr/>
        </p:nvSpPr>
        <p:spPr>
          <a:xfrm>
            <a:off x="457200" y="4681728"/>
            <a:ext cx="8412480" cy="347472"/>
          </a:xfrm>
          <a:prstGeom prst="rect">
            <a:avLst/>
          </a:prstGeom>
          <a:noFill/>
          <a:ln/>
        </p:spPr>
        <p:txBody>
          <a:bodyPr wrap="square" rtlCol="0" anchor="ctr"/>
          <a:lstStyle/>
          <a:p>
            <a:pPr marL="0" indent="0" algn="ctr">
              <a:buNone/>
            </a:pPr>
            <a:r>
              <a:rPr lang="en-US" sz="1100">
                <a:solidFill>
                  <a:srgbClr val="0D2137"/>
                </a:solidFill>
                <a:latin typeface="Calibri" pitchFamily="34" charset="0"/>
                <a:ea typeface="Calibri" pitchFamily="34" charset="-122"/>
                <a:cs typeface="Calibri" pitchFamily="34" charset="-120"/>
              </a:rPr>
              <a:t>Result: 30,000 clean records  •  399 rows corrected (1.3%)  •  24,000 train / 6,000 test  •  No data leakage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Model Selection Rationale</a:t>
            </a:r>
            <a:endParaRPr lang="en-US" sz="2600"/>
          </a:p>
        </p:txBody>
      </p:sp>
      <p:sp>
        <p:nvSpPr>
          <p:cNvPr id="4" name="Shape 2"/>
          <p:cNvSpPr/>
          <p:nvPr/>
        </p:nvSpPr>
        <p:spPr>
          <a:xfrm>
            <a:off x="228600"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228600" y="914400"/>
            <a:ext cx="2743200" cy="365760"/>
          </a:xfrm>
          <a:prstGeom prst="rect">
            <a:avLst/>
          </a:prstGeom>
          <a:solidFill>
            <a:srgbClr val="1565C0"/>
          </a:solidFill>
          <a:ln w="12700">
            <a:solidFill>
              <a:srgbClr val="1565C0"/>
            </a:solidFill>
            <a:prstDash val="solid"/>
          </a:ln>
        </p:spPr>
        <p:txBody>
          <a:bodyPr/>
          <a:lstStyle/>
          <a:p>
            <a:endParaRPr lang="fr-FR"/>
          </a:p>
        </p:txBody>
      </p:sp>
      <p:sp>
        <p:nvSpPr>
          <p:cNvPr id="6" name="Text 4"/>
          <p:cNvSpPr/>
          <p:nvPr/>
        </p:nvSpPr>
        <p:spPr>
          <a:xfrm>
            <a:off x="228600"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BASELINE</a:t>
            </a:r>
            <a:endParaRPr lang="en-US" sz="1000"/>
          </a:p>
        </p:txBody>
      </p:sp>
      <p:sp>
        <p:nvSpPr>
          <p:cNvPr id="7" name="Text 5"/>
          <p:cNvSpPr/>
          <p:nvPr/>
        </p:nvSpPr>
        <p:spPr>
          <a:xfrm>
            <a:off x="338328"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Logistic Regression</a:t>
            </a:r>
            <a:endParaRPr lang="en-US" sz="1400"/>
          </a:p>
        </p:txBody>
      </p:sp>
      <p:sp>
        <p:nvSpPr>
          <p:cNvPr id="8" name="Text 6"/>
          <p:cNvSpPr/>
          <p:nvPr/>
        </p:nvSpPr>
        <p:spPr>
          <a:xfrm>
            <a:off x="338328" y="192024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WHY CHOSEN</a:t>
            </a:r>
            <a:endParaRPr lang="en-US" sz="900"/>
          </a:p>
        </p:txBody>
      </p:sp>
      <p:sp>
        <p:nvSpPr>
          <p:cNvPr id="9" name="Text 7"/>
          <p:cNvSpPr/>
          <p:nvPr/>
        </p:nvSpPr>
        <p:spPr>
          <a:xfrm>
            <a:off x="338328"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Industry-standard in finance; interpretable coefficients show feature impact on default probability</a:t>
            </a:r>
            <a:endParaRPr lang="en-US" sz="1050"/>
          </a:p>
        </p:txBody>
      </p:sp>
      <p:sp>
        <p:nvSpPr>
          <p:cNvPr id="10" name="Text 8"/>
          <p:cNvSpPr/>
          <p:nvPr/>
        </p:nvSpPr>
        <p:spPr>
          <a:xfrm>
            <a:off x="338328" y="288036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LIMITATION</a:t>
            </a:r>
            <a:endParaRPr lang="en-US" sz="900"/>
          </a:p>
        </p:txBody>
      </p:sp>
      <p:sp>
        <p:nvSpPr>
          <p:cNvPr id="11" name="Text 9"/>
          <p:cNvSpPr/>
          <p:nvPr/>
        </p:nvSpPr>
        <p:spPr>
          <a:xfrm>
            <a:off x="338328"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Assumes linear separability — violated here (PCA shows class overlap)</a:t>
            </a:r>
            <a:endParaRPr lang="en-US" sz="1050"/>
          </a:p>
        </p:txBody>
      </p:sp>
      <p:sp>
        <p:nvSpPr>
          <p:cNvPr id="12" name="Text 10"/>
          <p:cNvSpPr/>
          <p:nvPr/>
        </p:nvSpPr>
        <p:spPr>
          <a:xfrm>
            <a:off x="338328" y="384048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KEY FIX</a:t>
            </a:r>
            <a:endParaRPr lang="en-US" sz="900"/>
          </a:p>
        </p:txBody>
      </p:sp>
      <p:sp>
        <p:nvSpPr>
          <p:cNvPr id="13" name="Text 11"/>
          <p:cNvSpPr/>
          <p:nvPr/>
        </p:nvSpPr>
        <p:spPr>
          <a:xfrm>
            <a:off x="338328"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class_weight='balanced' to counter 3.5:1 imbalance</a:t>
            </a:r>
            <a:endParaRPr lang="en-US" sz="1050"/>
          </a:p>
        </p:txBody>
      </p:sp>
      <p:sp>
        <p:nvSpPr>
          <p:cNvPr id="14" name="Shape 12"/>
          <p:cNvSpPr/>
          <p:nvPr/>
        </p:nvSpPr>
        <p:spPr>
          <a:xfrm>
            <a:off x="3136392"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5" name="Shape 13"/>
          <p:cNvSpPr/>
          <p:nvPr/>
        </p:nvSpPr>
        <p:spPr>
          <a:xfrm>
            <a:off x="3136392" y="914400"/>
            <a:ext cx="2743200" cy="365760"/>
          </a:xfrm>
          <a:prstGeom prst="rect">
            <a:avLst/>
          </a:prstGeom>
          <a:solidFill>
            <a:srgbClr val="7B1FA2"/>
          </a:solidFill>
          <a:ln w="12700">
            <a:solidFill>
              <a:srgbClr val="7B1FA2"/>
            </a:solidFill>
            <a:prstDash val="solid"/>
          </a:ln>
        </p:spPr>
        <p:txBody>
          <a:bodyPr/>
          <a:lstStyle/>
          <a:p>
            <a:endParaRPr lang="fr-FR"/>
          </a:p>
        </p:txBody>
      </p:sp>
      <p:sp>
        <p:nvSpPr>
          <p:cNvPr id="16" name="Text 14"/>
          <p:cNvSpPr/>
          <p:nvPr/>
        </p:nvSpPr>
        <p:spPr>
          <a:xfrm>
            <a:off x="3136392"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PROBABILISTIC</a:t>
            </a:r>
            <a:endParaRPr lang="en-US" sz="1000"/>
          </a:p>
        </p:txBody>
      </p:sp>
      <p:sp>
        <p:nvSpPr>
          <p:cNvPr id="17" name="Text 15"/>
          <p:cNvSpPr/>
          <p:nvPr/>
        </p:nvSpPr>
        <p:spPr>
          <a:xfrm>
            <a:off x="3246120"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Gaussian Naive Bayes</a:t>
            </a:r>
            <a:endParaRPr lang="en-US" sz="1400"/>
          </a:p>
        </p:txBody>
      </p:sp>
      <p:sp>
        <p:nvSpPr>
          <p:cNvPr id="18" name="Text 16"/>
          <p:cNvSpPr/>
          <p:nvPr/>
        </p:nvSpPr>
        <p:spPr>
          <a:xfrm>
            <a:off x="3246120" y="192024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WHY CHOSEN</a:t>
            </a:r>
            <a:endParaRPr lang="en-US" sz="900"/>
          </a:p>
        </p:txBody>
      </p:sp>
      <p:sp>
        <p:nvSpPr>
          <p:cNvPr id="19" name="Text 17"/>
          <p:cNvSpPr/>
          <p:nvPr/>
        </p:nvSpPr>
        <p:spPr>
          <a:xfrm>
            <a:off x="3246120"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Probabilistic approach using Bayes theorem — good contrast to deterministic LR</a:t>
            </a:r>
            <a:endParaRPr lang="en-US" sz="1050"/>
          </a:p>
        </p:txBody>
      </p:sp>
      <p:sp>
        <p:nvSpPr>
          <p:cNvPr id="20" name="Text 18"/>
          <p:cNvSpPr/>
          <p:nvPr/>
        </p:nvSpPr>
        <p:spPr>
          <a:xfrm>
            <a:off x="3246120" y="288036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LIMITATION</a:t>
            </a:r>
            <a:endParaRPr lang="en-US" sz="900"/>
          </a:p>
        </p:txBody>
      </p:sp>
      <p:sp>
        <p:nvSpPr>
          <p:cNvPr id="21" name="Text 19"/>
          <p:cNvSpPr/>
          <p:nvPr/>
        </p:nvSpPr>
        <p:spPr>
          <a:xfrm>
            <a:off x="3246120"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Assumes feature independence — violated (PAY_AMT1–6 correlations &gt; 0.9)</a:t>
            </a:r>
            <a:endParaRPr lang="en-US" sz="1050"/>
          </a:p>
        </p:txBody>
      </p:sp>
      <p:sp>
        <p:nvSpPr>
          <p:cNvPr id="22" name="Text 20"/>
          <p:cNvSpPr/>
          <p:nvPr/>
        </p:nvSpPr>
        <p:spPr>
          <a:xfrm>
            <a:off x="3246120" y="384048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KEY FIX</a:t>
            </a:r>
            <a:endParaRPr lang="en-US" sz="900"/>
          </a:p>
        </p:txBody>
      </p:sp>
      <p:sp>
        <p:nvSpPr>
          <p:cNvPr id="23" name="Text 21"/>
          <p:cNvSpPr/>
          <p:nvPr/>
        </p:nvSpPr>
        <p:spPr>
          <a:xfrm>
            <a:off x="3246120"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No class_weight support; expected lower performance</a:t>
            </a:r>
            <a:endParaRPr lang="en-US" sz="1050"/>
          </a:p>
        </p:txBody>
      </p:sp>
      <p:sp>
        <p:nvSpPr>
          <p:cNvPr id="24" name="Shape 22"/>
          <p:cNvSpPr/>
          <p:nvPr/>
        </p:nvSpPr>
        <p:spPr>
          <a:xfrm>
            <a:off x="6044184"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25" name="Shape 23"/>
          <p:cNvSpPr/>
          <p:nvPr/>
        </p:nvSpPr>
        <p:spPr>
          <a:xfrm>
            <a:off x="6044184" y="914400"/>
            <a:ext cx="2743200" cy="365760"/>
          </a:xfrm>
          <a:prstGeom prst="rect">
            <a:avLst/>
          </a:prstGeom>
          <a:solidFill>
            <a:srgbClr val="00695C"/>
          </a:solidFill>
          <a:ln w="12700">
            <a:solidFill>
              <a:srgbClr val="00695C"/>
            </a:solidFill>
            <a:prstDash val="solid"/>
          </a:ln>
        </p:spPr>
        <p:txBody>
          <a:bodyPr/>
          <a:lstStyle/>
          <a:p>
            <a:endParaRPr lang="fr-FR"/>
          </a:p>
        </p:txBody>
      </p:sp>
      <p:sp>
        <p:nvSpPr>
          <p:cNvPr id="26" name="Text 24"/>
          <p:cNvSpPr/>
          <p:nvPr/>
        </p:nvSpPr>
        <p:spPr>
          <a:xfrm>
            <a:off x="6044184"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BEST MODEL</a:t>
            </a:r>
            <a:endParaRPr lang="en-US" sz="1000"/>
          </a:p>
        </p:txBody>
      </p:sp>
      <p:sp>
        <p:nvSpPr>
          <p:cNvPr id="27" name="Text 25"/>
          <p:cNvSpPr/>
          <p:nvPr/>
        </p:nvSpPr>
        <p:spPr>
          <a:xfrm>
            <a:off x="6153912"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Decision Tree</a:t>
            </a:r>
            <a:endParaRPr lang="en-US" sz="1400"/>
          </a:p>
        </p:txBody>
      </p:sp>
      <p:sp>
        <p:nvSpPr>
          <p:cNvPr id="28" name="Text 26"/>
          <p:cNvSpPr/>
          <p:nvPr/>
        </p:nvSpPr>
        <p:spPr>
          <a:xfrm>
            <a:off x="6153912" y="192024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WHY CHOSEN</a:t>
            </a:r>
            <a:endParaRPr lang="en-US" sz="900"/>
          </a:p>
        </p:txBody>
      </p:sp>
      <p:sp>
        <p:nvSpPr>
          <p:cNvPr id="29" name="Text 27"/>
          <p:cNvSpPr/>
          <p:nvPr/>
        </p:nvSpPr>
        <p:spPr>
          <a:xfrm>
            <a:off x="6153912"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Captures non-linear relationships without requiring feature scaling</a:t>
            </a:r>
            <a:endParaRPr lang="en-US" sz="1050"/>
          </a:p>
        </p:txBody>
      </p:sp>
      <p:sp>
        <p:nvSpPr>
          <p:cNvPr id="30" name="Text 28"/>
          <p:cNvSpPr/>
          <p:nvPr/>
        </p:nvSpPr>
        <p:spPr>
          <a:xfrm>
            <a:off x="6153912" y="288036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LIMITATION</a:t>
            </a:r>
            <a:endParaRPr lang="en-US" sz="900"/>
          </a:p>
        </p:txBody>
      </p:sp>
      <p:sp>
        <p:nvSpPr>
          <p:cNvPr id="31" name="Text 29"/>
          <p:cNvSpPr/>
          <p:nvPr/>
        </p:nvSpPr>
        <p:spPr>
          <a:xfrm>
            <a:off x="6153912"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Prone to overfitting — controlled with max_depth=5, min_samples_leaf=20</a:t>
            </a:r>
            <a:endParaRPr lang="en-US" sz="1050"/>
          </a:p>
        </p:txBody>
      </p:sp>
      <p:sp>
        <p:nvSpPr>
          <p:cNvPr id="32" name="Text 30"/>
          <p:cNvSpPr/>
          <p:nvPr/>
        </p:nvSpPr>
        <p:spPr>
          <a:xfrm>
            <a:off x="6153912" y="384048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KEY FIX</a:t>
            </a:r>
            <a:endParaRPr lang="en-US" sz="900"/>
          </a:p>
        </p:txBody>
      </p:sp>
      <p:sp>
        <p:nvSpPr>
          <p:cNvPr id="33" name="Text 31"/>
          <p:cNvSpPr/>
          <p:nvPr/>
        </p:nvSpPr>
        <p:spPr>
          <a:xfrm>
            <a:off x="6153912"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Gini impurity as criterion; class_weight='balanced' applied</a:t>
            </a:r>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Evaluation Framework</a:t>
            </a:r>
            <a:endParaRPr lang="en-US" sz="3000"/>
          </a:p>
        </p:txBody>
      </p:sp>
      <p:sp>
        <p:nvSpPr>
          <p:cNvPr id="3" name="Shape 1"/>
          <p:cNvSpPr/>
          <p:nvPr/>
        </p:nvSpPr>
        <p:spPr>
          <a:xfrm>
            <a:off x="457200" y="822960"/>
            <a:ext cx="8229600" cy="27432"/>
          </a:xfrm>
          <a:prstGeom prst="rect">
            <a:avLst/>
          </a:prstGeom>
          <a:solidFill>
            <a:srgbClr val="00B8D4"/>
          </a:solidFill>
          <a:ln w="12700">
            <a:solidFill>
              <a:srgbClr val="00B8D4"/>
            </a:solidFill>
            <a:prstDash val="solid"/>
          </a:ln>
        </p:spPr>
        <p:txBody>
          <a:bodyPr/>
          <a:lstStyle/>
          <a:p>
            <a:endParaRPr lang="fr-FR"/>
          </a:p>
        </p:txBody>
      </p:sp>
      <p:sp>
        <p:nvSpPr>
          <p:cNvPr id="4" name="Text 2"/>
          <p:cNvSpPr/>
          <p:nvPr/>
        </p:nvSpPr>
        <p:spPr>
          <a:xfrm>
            <a:off x="457200" y="868680"/>
            <a:ext cx="8229600" cy="274320"/>
          </a:xfrm>
          <a:prstGeom prst="rect">
            <a:avLst/>
          </a:prstGeom>
          <a:noFill/>
          <a:ln/>
        </p:spPr>
        <p:txBody>
          <a:bodyPr wrap="square" rtlCol="0" anchor="ctr"/>
          <a:lstStyle/>
          <a:p>
            <a:pPr marL="0" indent="0">
              <a:buNone/>
            </a:pPr>
            <a:r>
              <a:rPr lang="en-US" sz="1200">
                <a:solidFill>
                  <a:srgbClr val="4FC3F7"/>
                </a:solidFill>
                <a:latin typeface="Calibri" pitchFamily="34" charset="0"/>
                <a:ea typeface="Calibri" pitchFamily="34" charset="-122"/>
                <a:cs typeface="Calibri" pitchFamily="34" charset="-120"/>
              </a:rPr>
              <a:t>Why we used multiple metrics — accuracy alone is misleading with 78/22 class split</a:t>
            </a:r>
            <a:endParaRPr lang="en-US" sz="1200"/>
          </a:p>
        </p:txBody>
      </p:sp>
      <p:sp>
        <p:nvSpPr>
          <p:cNvPr id="5" name="Shape 3"/>
          <p:cNvSpPr/>
          <p:nvPr/>
        </p:nvSpPr>
        <p:spPr>
          <a:xfrm>
            <a:off x="27432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6" name="Shape 4"/>
          <p:cNvSpPr/>
          <p:nvPr/>
        </p:nvSpPr>
        <p:spPr>
          <a:xfrm>
            <a:off x="274320" y="1234440"/>
            <a:ext cx="2651760" cy="54864"/>
          </a:xfrm>
          <a:prstGeom prst="rect">
            <a:avLst/>
          </a:prstGeom>
          <a:solidFill>
            <a:srgbClr val="F44336"/>
          </a:solidFill>
          <a:ln w="12700">
            <a:solidFill>
              <a:srgbClr val="F44336"/>
            </a:solidFill>
            <a:prstDash val="solid"/>
          </a:ln>
        </p:spPr>
        <p:txBody>
          <a:bodyPr/>
          <a:lstStyle/>
          <a:p>
            <a:endParaRPr lang="fr-FR"/>
          </a:p>
        </p:txBody>
      </p:sp>
      <p:sp>
        <p:nvSpPr>
          <p:cNvPr id="7" name="Text 5"/>
          <p:cNvSpPr/>
          <p:nvPr/>
        </p:nvSpPr>
        <p:spPr>
          <a:xfrm>
            <a:off x="384048" y="1325880"/>
            <a:ext cx="2432304" cy="201168"/>
          </a:xfrm>
          <a:prstGeom prst="rect">
            <a:avLst/>
          </a:prstGeom>
          <a:noFill/>
          <a:ln/>
        </p:spPr>
        <p:txBody>
          <a:bodyPr wrap="square" rtlCol="0" anchor="ctr"/>
          <a:lstStyle/>
          <a:p>
            <a:pPr marL="0" indent="0">
              <a:buNone/>
            </a:pPr>
            <a:r>
              <a:rPr lang="en-US" sz="850" b="1" kern="0" spc="100">
                <a:solidFill>
                  <a:srgbClr val="F44336"/>
                </a:solidFill>
                <a:latin typeface="Calibri" pitchFamily="34" charset="0"/>
                <a:ea typeface="Calibri" pitchFamily="34" charset="-122"/>
                <a:cs typeface="Calibri" pitchFamily="34" charset="-120"/>
              </a:rPr>
              <a:t>★ HIGHEST PRIORITY</a:t>
            </a:r>
            <a:endParaRPr lang="en-US" sz="850"/>
          </a:p>
        </p:txBody>
      </p:sp>
      <p:sp>
        <p:nvSpPr>
          <p:cNvPr id="8" name="Text 6"/>
          <p:cNvSpPr/>
          <p:nvPr/>
        </p:nvSpPr>
        <p:spPr>
          <a:xfrm>
            <a:off x="38404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Recall (Default class)</a:t>
            </a:r>
            <a:endParaRPr lang="en-US" sz="1300"/>
          </a:p>
        </p:txBody>
      </p:sp>
      <p:sp>
        <p:nvSpPr>
          <p:cNvPr id="9" name="Shape 7"/>
          <p:cNvSpPr/>
          <p:nvPr/>
        </p:nvSpPr>
        <p:spPr>
          <a:xfrm>
            <a:off x="384048" y="1892808"/>
            <a:ext cx="2286000" cy="18288"/>
          </a:xfrm>
          <a:prstGeom prst="rect">
            <a:avLst/>
          </a:prstGeom>
          <a:solidFill>
            <a:srgbClr val="1F4A7A"/>
          </a:solidFill>
          <a:ln w="12700">
            <a:solidFill>
              <a:srgbClr val="1F4A7A"/>
            </a:solidFill>
            <a:prstDash val="solid"/>
          </a:ln>
        </p:spPr>
        <p:txBody>
          <a:bodyPr/>
          <a:lstStyle/>
          <a:p>
            <a:endParaRPr lang="fr-FR"/>
          </a:p>
        </p:txBody>
      </p:sp>
      <p:sp>
        <p:nvSpPr>
          <p:cNvPr id="10" name="Text 8"/>
          <p:cNvSpPr/>
          <p:nvPr/>
        </p:nvSpPr>
        <p:spPr>
          <a:xfrm>
            <a:off x="38404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Missing a real defaulter is the most costly error for the bank — false negatives mean undetected risk</a:t>
            </a:r>
            <a:endParaRPr lang="en-US" sz="1050"/>
          </a:p>
        </p:txBody>
      </p:sp>
      <p:sp>
        <p:nvSpPr>
          <p:cNvPr id="11" name="Shape 9"/>
          <p:cNvSpPr/>
          <p:nvPr/>
        </p:nvSpPr>
        <p:spPr>
          <a:xfrm>
            <a:off x="315468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2" name="Shape 10"/>
          <p:cNvSpPr/>
          <p:nvPr/>
        </p:nvSpPr>
        <p:spPr>
          <a:xfrm>
            <a:off x="3154680" y="1234440"/>
            <a:ext cx="2651760" cy="54864"/>
          </a:xfrm>
          <a:prstGeom prst="rect">
            <a:avLst/>
          </a:prstGeom>
          <a:solidFill>
            <a:srgbClr val="FFB300"/>
          </a:solidFill>
          <a:ln w="12700">
            <a:solidFill>
              <a:srgbClr val="FFB300"/>
            </a:solidFill>
            <a:prstDash val="solid"/>
          </a:ln>
        </p:spPr>
        <p:txBody>
          <a:bodyPr/>
          <a:lstStyle/>
          <a:p>
            <a:endParaRPr lang="fr-FR"/>
          </a:p>
        </p:txBody>
      </p:sp>
      <p:sp>
        <p:nvSpPr>
          <p:cNvPr id="13" name="Text 11"/>
          <p:cNvSpPr/>
          <p:nvPr/>
        </p:nvSpPr>
        <p:spPr>
          <a:xfrm>
            <a:off x="3264408" y="1325880"/>
            <a:ext cx="2432304" cy="201168"/>
          </a:xfrm>
          <a:prstGeom prst="rect">
            <a:avLst/>
          </a:prstGeom>
          <a:noFill/>
          <a:ln/>
        </p:spPr>
        <p:txBody>
          <a:bodyPr wrap="square" rtlCol="0" anchor="ctr"/>
          <a:lstStyle/>
          <a:p>
            <a:pPr marL="0" indent="0">
              <a:buNone/>
            </a:pPr>
            <a:r>
              <a:rPr lang="en-US" sz="850" b="1" kern="0" spc="100">
                <a:solidFill>
                  <a:srgbClr val="FFB300"/>
                </a:solidFill>
                <a:latin typeface="Calibri" pitchFamily="34" charset="0"/>
                <a:ea typeface="Calibri" pitchFamily="34" charset="-122"/>
                <a:cs typeface="Calibri" pitchFamily="34" charset="-120"/>
              </a:rPr>
              <a:t>SECONDARY</a:t>
            </a:r>
            <a:endParaRPr lang="en-US" sz="850"/>
          </a:p>
        </p:txBody>
      </p:sp>
      <p:sp>
        <p:nvSpPr>
          <p:cNvPr id="14" name="Text 12"/>
          <p:cNvSpPr/>
          <p:nvPr/>
        </p:nvSpPr>
        <p:spPr>
          <a:xfrm>
            <a:off x="326440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Precision (Default class)</a:t>
            </a:r>
            <a:endParaRPr lang="en-US" sz="1300"/>
          </a:p>
        </p:txBody>
      </p:sp>
      <p:sp>
        <p:nvSpPr>
          <p:cNvPr id="15" name="Shape 13"/>
          <p:cNvSpPr/>
          <p:nvPr/>
        </p:nvSpPr>
        <p:spPr>
          <a:xfrm>
            <a:off x="3264408" y="1892808"/>
            <a:ext cx="2286000" cy="18288"/>
          </a:xfrm>
          <a:prstGeom prst="rect">
            <a:avLst/>
          </a:prstGeom>
          <a:solidFill>
            <a:srgbClr val="1F4A7A"/>
          </a:solidFill>
          <a:ln w="12700">
            <a:solidFill>
              <a:srgbClr val="1F4A7A"/>
            </a:solidFill>
            <a:prstDash val="solid"/>
          </a:ln>
        </p:spPr>
        <p:txBody>
          <a:bodyPr/>
          <a:lstStyle/>
          <a:p>
            <a:endParaRPr lang="fr-FR"/>
          </a:p>
        </p:txBody>
      </p:sp>
      <p:sp>
        <p:nvSpPr>
          <p:cNvPr id="16" name="Text 14"/>
          <p:cNvSpPr/>
          <p:nvPr/>
        </p:nvSpPr>
        <p:spPr>
          <a:xfrm>
            <a:off x="326440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Also important — too many false positives rejects creditworthy customers unnecessarily</a:t>
            </a:r>
            <a:endParaRPr lang="en-US" sz="1050"/>
          </a:p>
        </p:txBody>
      </p:sp>
      <p:sp>
        <p:nvSpPr>
          <p:cNvPr id="17" name="Shape 15"/>
          <p:cNvSpPr/>
          <p:nvPr/>
        </p:nvSpPr>
        <p:spPr>
          <a:xfrm>
            <a:off x="603504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8" name="Shape 16"/>
          <p:cNvSpPr/>
          <p:nvPr/>
        </p:nvSpPr>
        <p:spPr>
          <a:xfrm>
            <a:off x="6035040" y="1234440"/>
            <a:ext cx="2651760" cy="54864"/>
          </a:xfrm>
          <a:prstGeom prst="rect">
            <a:avLst/>
          </a:prstGeom>
          <a:solidFill>
            <a:srgbClr val="00B8D4"/>
          </a:solidFill>
          <a:ln w="12700">
            <a:solidFill>
              <a:srgbClr val="00B8D4"/>
            </a:solidFill>
            <a:prstDash val="solid"/>
          </a:ln>
        </p:spPr>
        <p:txBody>
          <a:bodyPr/>
          <a:lstStyle/>
          <a:p>
            <a:endParaRPr lang="fr-FR"/>
          </a:p>
        </p:txBody>
      </p:sp>
      <p:sp>
        <p:nvSpPr>
          <p:cNvPr id="19" name="Text 17"/>
          <p:cNvSpPr/>
          <p:nvPr/>
        </p:nvSpPr>
        <p:spPr>
          <a:xfrm>
            <a:off x="6144768" y="1325880"/>
            <a:ext cx="2432304" cy="201168"/>
          </a:xfrm>
          <a:prstGeom prst="rect">
            <a:avLst/>
          </a:prstGeom>
          <a:noFill/>
          <a:ln/>
        </p:spPr>
        <p:txBody>
          <a:bodyPr wrap="square" rtlCol="0" anchor="ctr"/>
          <a:lstStyle/>
          <a:p>
            <a:pPr marL="0" indent="0">
              <a:buNone/>
            </a:pPr>
            <a:r>
              <a:rPr lang="en-US" sz="850" b="1" kern="0" spc="100">
                <a:solidFill>
                  <a:srgbClr val="00B8D4"/>
                </a:solidFill>
                <a:latin typeface="Calibri" pitchFamily="34" charset="0"/>
                <a:ea typeface="Calibri" pitchFamily="34" charset="-122"/>
                <a:cs typeface="Calibri" pitchFamily="34" charset="-120"/>
              </a:rPr>
              <a:t>BALANCE METRIC</a:t>
            </a:r>
            <a:endParaRPr lang="en-US" sz="850"/>
          </a:p>
        </p:txBody>
      </p:sp>
      <p:sp>
        <p:nvSpPr>
          <p:cNvPr id="20" name="Text 18"/>
          <p:cNvSpPr/>
          <p:nvPr/>
        </p:nvSpPr>
        <p:spPr>
          <a:xfrm>
            <a:off x="614476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F1-Score</a:t>
            </a:r>
            <a:endParaRPr lang="en-US" sz="1300"/>
          </a:p>
        </p:txBody>
      </p:sp>
      <p:sp>
        <p:nvSpPr>
          <p:cNvPr id="21" name="Shape 19"/>
          <p:cNvSpPr/>
          <p:nvPr/>
        </p:nvSpPr>
        <p:spPr>
          <a:xfrm>
            <a:off x="6144768" y="1892808"/>
            <a:ext cx="2286000" cy="18288"/>
          </a:xfrm>
          <a:prstGeom prst="rect">
            <a:avLst/>
          </a:prstGeom>
          <a:solidFill>
            <a:srgbClr val="1F4A7A"/>
          </a:solidFill>
          <a:ln w="12700">
            <a:solidFill>
              <a:srgbClr val="1F4A7A"/>
            </a:solidFill>
            <a:prstDash val="solid"/>
          </a:ln>
        </p:spPr>
        <p:txBody>
          <a:bodyPr/>
          <a:lstStyle/>
          <a:p>
            <a:endParaRPr lang="fr-FR"/>
          </a:p>
        </p:txBody>
      </p:sp>
      <p:sp>
        <p:nvSpPr>
          <p:cNvPr id="22" name="Text 20"/>
          <p:cNvSpPr/>
          <p:nvPr/>
        </p:nvSpPr>
        <p:spPr>
          <a:xfrm>
            <a:off x="614476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Harmonic mean of precision &amp; recall — single score that penalises extreme imbalance between the two</a:t>
            </a:r>
            <a:endParaRPr lang="en-US" sz="1050"/>
          </a:p>
        </p:txBody>
      </p:sp>
      <p:sp>
        <p:nvSpPr>
          <p:cNvPr id="23" name="Shape 21"/>
          <p:cNvSpPr/>
          <p:nvPr/>
        </p:nvSpPr>
        <p:spPr>
          <a:xfrm>
            <a:off x="274320" y="3200400"/>
            <a:ext cx="4114800" cy="169164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24" name="Shape 22"/>
          <p:cNvSpPr/>
          <p:nvPr/>
        </p:nvSpPr>
        <p:spPr>
          <a:xfrm>
            <a:off x="274320" y="3200400"/>
            <a:ext cx="4114800" cy="54864"/>
          </a:xfrm>
          <a:prstGeom prst="rect">
            <a:avLst/>
          </a:prstGeom>
          <a:solidFill>
            <a:srgbClr val="00C853"/>
          </a:solidFill>
          <a:ln w="12700">
            <a:solidFill>
              <a:srgbClr val="00C853"/>
            </a:solidFill>
            <a:prstDash val="solid"/>
          </a:ln>
        </p:spPr>
        <p:txBody>
          <a:bodyPr/>
          <a:lstStyle/>
          <a:p>
            <a:endParaRPr lang="fr-FR"/>
          </a:p>
        </p:txBody>
      </p:sp>
      <p:sp>
        <p:nvSpPr>
          <p:cNvPr id="25" name="Text 23"/>
          <p:cNvSpPr/>
          <p:nvPr/>
        </p:nvSpPr>
        <p:spPr>
          <a:xfrm>
            <a:off x="411480" y="3291840"/>
            <a:ext cx="3840480" cy="201168"/>
          </a:xfrm>
          <a:prstGeom prst="rect">
            <a:avLst/>
          </a:prstGeom>
          <a:noFill/>
          <a:ln/>
        </p:spPr>
        <p:txBody>
          <a:bodyPr wrap="square" rtlCol="0" anchor="ctr"/>
          <a:lstStyle/>
          <a:p>
            <a:pPr marL="0" indent="0">
              <a:buNone/>
            </a:pPr>
            <a:r>
              <a:rPr lang="en-US" sz="850" b="1" kern="0" spc="100">
                <a:solidFill>
                  <a:srgbClr val="00C853"/>
                </a:solidFill>
                <a:latin typeface="Calibri" pitchFamily="34" charset="0"/>
                <a:ea typeface="Calibri" pitchFamily="34" charset="-122"/>
                <a:cs typeface="Calibri" pitchFamily="34" charset="-120"/>
              </a:rPr>
              <a:t>PRIMARY COMPARISON</a:t>
            </a:r>
            <a:endParaRPr lang="en-US" sz="850"/>
          </a:p>
        </p:txBody>
      </p:sp>
      <p:sp>
        <p:nvSpPr>
          <p:cNvPr id="26" name="Text 24"/>
          <p:cNvSpPr/>
          <p:nvPr/>
        </p:nvSpPr>
        <p:spPr>
          <a:xfrm>
            <a:off x="411480" y="3493008"/>
            <a:ext cx="3840480" cy="347472"/>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ROC-AUC</a:t>
            </a:r>
            <a:endParaRPr lang="en-US" sz="1400"/>
          </a:p>
        </p:txBody>
      </p:sp>
      <p:sp>
        <p:nvSpPr>
          <p:cNvPr id="27" name="Shape 25"/>
          <p:cNvSpPr/>
          <p:nvPr/>
        </p:nvSpPr>
        <p:spPr>
          <a:xfrm>
            <a:off x="411480" y="3858768"/>
            <a:ext cx="3657600" cy="18288"/>
          </a:xfrm>
          <a:prstGeom prst="rect">
            <a:avLst/>
          </a:prstGeom>
          <a:solidFill>
            <a:srgbClr val="1F4A7A"/>
          </a:solidFill>
          <a:ln w="12700">
            <a:solidFill>
              <a:srgbClr val="1F4A7A"/>
            </a:solidFill>
            <a:prstDash val="solid"/>
          </a:ln>
        </p:spPr>
        <p:txBody>
          <a:bodyPr/>
          <a:lstStyle/>
          <a:p>
            <a:endParaRPr lang="fr-FR"/>
          </a:p>
        </p:txBody>
      </p:sp>
      <p:sp>
        <p:nvSpPr>
          <p:cNvPr id="28" name="Text 26"/>
          <p:cNvSpPr/>
          <p:nvPr/>
        </p:nvSpPr>
        <p:spPr>
          <a:xfrm>
            <a:off x="411480" y="3931920"/>
            <a:ext cx="3840480" cy="82296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Measures discrimination ability across ALL decision thresholds — robust to class imbalance, main ranking metric</a:t>
            </a:r>
            <a:endParaRPr lang="en-US" sz="1100"/>
          </a:p>
        </p:txBody>
      </p:sp>
      <p:sp>
        <p:nvSpPr>
          <p:cNvPr id="29" name="Shape 27"/>
          <p:cNvSpPr/>
          <p:nvPr/>
        </p:nvSpPr>
        <p:spPr>
          <a:xfrm>
            <a:off x="4617720" y="3200400"/>
            <a:ext cx="4114800" cy="169164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30" name="Shape 28"/>
          <p:cNvSpPr/>
          <p:nvPr/>
        </p:nvSpPr>
        <p:spPr>
          <a:xfrm>
            <a:off x="4617720" y="3200400"/>
            <a:ext cx="4114800" cy="54864"/>
          </a:xfrm>
          <a:prstGeom prst="rect">
            <a:avLst/>
          </a:prstGeom>
          <a:solidFill>
            <a:srgbClr val="4FC3F7"/>
          </a:solidFill>
          <a:ln w="12700">
            <a:solidFill>
              <a:srgbClr val="4FC3F7"/>
            </a:solidFill>
            <a:prstDash val="solid"/>
          </a:ln>
        </p:spPr>
        <p:txBody>
          <a:bodyPr/>
          <a:lstStyle/>
          <a:p>
            <a:endParaRPr lang="fr-FR"/>
          </a:p>
        </p:txBody>
      </p:sp>
      <p:sp>
        <p:nvSpPr>
          <p:cNvPr id="31" name="Text 29"/>
          <p:cNvSpPr/>
          <p:nvPr/>
        </p:nvSpPr>
        <p:spPr>
          <a:xfrm>
            <a:off x="4754880" y="3291840"/>
            <a:ext cx="3840480" cy="201168"/>
          </a:xfrm>
          <a:prstGeom prst="rect">
            <a:avLst/>
          </a:prstGeom>
          <a:noFill/>
          <a:ln/>
        </p:spPr>
        <p:txBody>
          <a:bodyPr wrap="square" rtlCol="0" anchor="ctr"/>
          <a:lstStyle/>
          <a:p>
            <a:pPr marL="0" indent="0">
              <a:buNone/>
            </a:pPr>
            <a:r>
              <a:rPr lang="en-US" sz="850" b="1" kern="0" spc="100">
                <a:solidFill>
                  <a:srgbClr val="4FC3F7"/>
                </a:solidFill>
                <a:latin typeface="Calibri" pitchFamily="34" charset="0"/>
                <a:ea typeface="Calibri" pitchFamily="34" charset="-122"/>
                <a:cs typeface="Calibri" pitchFamily="34" charset="-120"/>
              </a:rPr>
              <a:t>RELIABILITY CHECK</a:t>
            </a:r>
            <a:endParaRPr lang="en-US" sz="850"/>
          </a:p>
        </p:txBody>
      </p:sp>
      <p:sp>
        <p:nvSpPr>
          <p:cNvPr id="32" name="Text 30"/>
          <p:cNvSpPr/>
          <p:nvPr/>
        </p:nvSpPr>
        <p:spPr>
          <a:xfrm>
            <a:off x="4754880" y="3493008"/>
            <a:ext cx="3840480" cy="347472"/>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5-Fold Stratified CV</a:t>
            </a:r>
            <a:endParaRPr lang="en-US" sz="1400"/>
          </a:p>
        </p:txBody>
      </p:sp>
      <p:sp>
        <p:nvSpPr>
          <p:cNvPr id="33" name="Shape 31"/>
          <p:cNvSpPr/>
          <p:nvPr/>
        </p:nvSpPr>
        <p:spPr>
          <a:xfrm>
            <a:off x="4754880" y="3858768"/>
            <a:ext cx="3657600" cy="18288"/>
          </a:xfrm>
          <a:prstGeom prst="rect">
            <a:avLst/>
          </a:prstGeom>
          <a:solidFill>
            <a:srgbClr val="1F4A7A"/>
          </a:solidFill>
          <a:ln w="12700">
            <a:solidFill>
              <a:srgbClr val="1F4A7A"/>
            </a:solidFill>
            <a:prstDash val="solid"/>
          </a:ln>
        </p:spPr>
        <p:txBody>
          <a:bodyPr/>
          <a:lstStyle/>
          <a:p>
            <a:endParaRPr lang="fr-FR"/>
          </a:p>
        </p:txBody>
      </p:sp>
      <p:sp>
        <p:nvSpPr>
          <p:cNvPr id="34" name="Text 32"/>
          <p:cNvSpPr/>
          <p:nvPr/>
        </p:nvSpPr>
        <p:spPr>
          <a:xfrm>
            <a:off x="4754880" y="3931920"/>
            <a:ext cx="3840480" cy="82296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Each fold preserves the 22.12% default rate — guards against lucky/unlucky single splits and measures model stability</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Model Performance Results</a:t>
            </a:r>
            <a:endParaRPr lang="en-US" sz="2600"/>
          </a:p>
        </p:txBody>
      </p:sp>
      <p:sp>
        <p:nvSpPr>
          <p:cNvPr id="4" name="Text 2"/>
          <p:cNvSpPr/>
          <p:nvPr/>
        </p:nvSpPr>
        <p:spPr>
          <a:xfrm>
            <a:off x="457200" y="841248"/>
            <a:ext cx="8229600" cy="274320"/>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6,000-sample stratified test set  |  * Metrics for Default (1) class</a:t>
            </a:r>
            <a:endParaRPr lang="en-US" sz="11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457200">
                <a:tc>
                  <a:txBody>
                    <a:bodyPr/>
                    <a:lstStyle/>
                    <a:p>
                      <a:pPr marL="0" indent="0" algn="ctr">
                        <a:buNone/>
                      </a:pPr>
                      <a:r>
                        <a:rPr lang="en-US" sz="1200" b="1">
                          <a:solidFill>
                            <a:srgbClr val="FFFFFF"/>
                          </a:solidFill>
                        </a:rPr>
                        <a:t>Model</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Accuracy</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Precision*</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Recall*</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F1-Score*</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ROC-AUC</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CV AUC (5-fold)</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457200">
                <a:tc>
                  <a:txBody>
                    <a:bodyPr/>
                    <a:lstStyle/>
                    <a:p>
                      <a:pPr marL="0" indent="0" algn="l">
                        <a:buNone/>
                      </a:pPr>
                      <a:r>
                        <a:rPr lang="en-US" sz="1200">
                          <a:solidFill>
                            <a:srgbClr val="000000"/>
                          </a:solidFill>
                        </a:rPr>
                        <a:t>Logistic Regression</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0.6795</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0.3671</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1565C0"/>
                          </a:solidFill>
                        </a:rPr>
                        <a:t>0.6202</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0.4612</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0.7084</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a:solidFill>
                            <a:srgbClr val="000000"/>
                          </a:solidFill>
                        </a:rPr>
                        <a:t>0.7264 ± 0.011</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200">
                          <a:solidFill>
                            <a:srgbClr val="000000"/>
                          </a:solidFill>
                        </a:rPr>
                        <a:t>Gaussian Naive Bayes</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0.7518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0.4504</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0.5539</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0.4968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0.7248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a:solidFill>
                            <a:srgbClr val="000000"/>
                          </a:solidFill>
                        </a:rPr>
                        <a:t>0.7365 ± 0.010</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200" b="1">
                          <a:solidFill>
                            <a:srgbClr val="00695C"/>
                          </a:solidFill>
                        </a:rPr>
                        <a:t>Decision Tree ✓</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0.7723</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0.4870</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0.5516</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0.5173</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0.7589</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b="1">
                          <a:solidFill>
                            <a:srgbClr val="00695C"/>
                          </a:solidFill>
                        </a:rPr>
                        <a:t>0.7577 ± 0.007</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365760"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7" name="Shape 4"/>
          <p:cNvSpPr/>
          <p:nvPr/>
        </p:nvSpPr>
        <p:spPr>
          <a:xfrm>
            <a:off x="365760" y="3611880"/>
            <a:ext cx="1920240" cy="45720"/>
          </a:xfrm>
          <a:prstGeom prst="rect">
            <a:avLst/>
          </a:prstGeom>
          <a:solidFill>
            <a:srgbClr val="00695C"/>
          </a:solidFill>
          <a:ln w="12700">
            <a:solidFill>
              <a:srgbClr val="00695C"/>
            </a:solidFill>
            <a:prstDash val="solid"/>
          </a:ln>
        </p:spPr>
        <p:txBody>
          <a:bodyPr/>
          <a:lstStyle/>
          <a:p>
            <a:endParaRPr lang="fr-FR"/>
          </a:p>
        </p:txBody>
      </p:sp>
      <p:sp>
        <p:nvSpPr>
          <p:cNvPr id="5" name="Text 5"/>
          <p:cNvSpPr/>
          <p:nvPr/>
        </p:nvSpPr>
        <p:spPr>
          <a:xfrm>
            <a:off x="365760" y="3675888"/>
            <a:ext cx="1920240" cy="228600"/>
          </a:xfrm>
          <a:prstGeom prst="rect">
            <a:avLst/>
          </a:prstGeom>
          <a:noFill/>
          <a:ln/>
        </p:spPr>
        <p:txBody>
          <a:bodyPr wrap="square" rtlCol="0" anchor="ctr"/>
          <a:lstStyle/>
          <a:p>
            <a:pPr marL="0" indent="0" algn="ctr">
              <a:buNone/>
            </a:pPr>
            <a:r>
              <a:rPr lang="en-US" sz="800" b="1" kern="0" spc="200">
                <a:solidFill>
                  <a:srgbClr val="00695C"/>
                </a:solidFill>
                <a:latin typeface="Calibri" pitchFamily="34" charset="0"/>
                <a:ea typeface="Calibri" pitchFamily="34" charset="-122"/>
                <a:cs typeface="Calibri" pitchFamily="34" charset="-120"/>
              </a:rPr>
              <a:t>BEST F1</a:t>
            </a:r>
            <a:endParaRPr lang="en-US" sz="800"/>
          </a:p>
        </p:txBody>
      </p:sp>
      <p:sp>
        <p:nvSpPr>
          <p:cNvPr id="9" name="Text 6"/>
          <p:cNvSpPr/>
          <p:nvPr/>
        </p:nvSpPr>
        <p:spPr>
          <a:xfrm>
            <a:off x="365760"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0.5173</a:t>
            </a:r>
            <a:endParaRPr lang="en-US" sz="2600"/>
          </a:p>
        </p:txBody>
      </p:sp>
      <p:sp>
        <p:nvSpPr>
          <p:cNvPr id="10" name="Text 7"/>
          <p:cNvSpPr/>
          <p:nvPr/>
        </p:nvSpPr>
        <p:spPr>
          <a:xfrm>
            <a:off x="365760"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a:t>
            </a:r>
            <a:endParaRPr lang="en-US" sz="900"/>
          </a:p>
        </p:txBody>
      </p:sp>
      <p:sp>
        <p:nvSpPr>
          <p:cNvPr id="11" name="Shape 8"/>
          <p:cNvSpPr/>
          <p:nvPr/>
        </p:nvSpPr>
        <p:spPr>
          <a:xfrm>
            <a:off x="2487168"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2" name="Shape 9"/>
          <p:cNvSpPr/>
          <p:nvPr/>
        </p:nvSpPr>
        <p:spPr>
          <a:xfrm>
            <a:off x="2487168" y="3611880"/>
            <a:ext cx="1920240" cy="45720"/>
          </a:xfrm>
          <a:prstGeom prst="rect">
            <a:avLst/>
          </a:prstGeom>
          <a:solidFill>
            <a:srgbClr val="00B8D4"/>
          </a:solidFill>
          <a:ln w="12700">
            <a:solidFill>
              <a:srgbClr val="00B8D4"/>
            </a:solidFill>
            <a:prstDash val="solid"/>
          </a:ln>
        </p:spPr>
        <p:txBody>
          <a:bodyPr/>
          <a:lstStyle/>
          <a:p>
            <a:endParaRPr lang="fr-FR"/>
          </a:p>
        </p:txBody>
      </p:sp>
      <p:sp>
        <p:nvSpPr>
          <p:cNvPr id="13" name="Text 10"/>
          <p:cNvSpPr/>
          <p:nvPr/>
        </p:nvSpPr>
        <p:spPr>
          <a:xfrm>
            <a:off x="2487168" y="3675888"/>
            <a:ext cx="1920240" cy="228600"/>
          </a:xfrm>
          <a:prstGeom prst="rect">
            <a:avLst/>
          </a:prstGeom>
          <a:noFill/>
          <a:ln/>
        </p:spPr>
        <p:txBody>
          <a:bodyPr wrap="square" rtlCol="0" anchor="ctr"/>
          <a:lstStyle/>
          <a:p>
            <a:pPr marL="0" indent="0" algn="ctr">
              <a:buNone/>
            </a:pPr>
            <a:r>
              <a:rPr lang="en-US" sz="800" b="1" kern="0" spc="200">
                <a:solidFill>
                  <a:srgbClr val="00B8D4"/>
                </a:solidFill>
                <a:latin typeface="Calibri" pitchFamily="34" charset="0"/>
                <a:ea typeface="Calibri" pitchFamily="34" charset="-122"/>
                <a:cs typeface="Calibri" pitchFamily="34" charset="-120"/>
              </a:rPr>
              <a:t>BEST AUC</a:t>
            </a:r>
            <a:endParaRPr lang="en-US" sz="800"/>
          </a:p>
        </p:txBody>
      </p:sp>
      <p:sp>
        <p:nvSpPr>
          <p:cNvPr id="14" name="Text 11"/>
          <p:cNvSpPr/>
          <p:nvPr/>
        </p:nvSpPr>
        <p:spPr>
          <a:xfrm>
            <a:off x="2487168"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0.7589</a:t>
            </a:r>
            <a:endParaRPr lang="en-US" sz="2600"/>
          </a:p>
        </p:txBody>
      </p:sp>
      <p:sp>
        <p:nvSpPr>
          <p:cNvPr id="15" name="Text 12"/>
          <p:cNvSpPr/>
          <p:nvPr/>
        </p:nvSpPr>
        <p:spPr>
          <a:xfrm>
            <a:off x="2487168"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a:t>
            </a:r>
            <a:endParaRPr lang="en-US" sz="900"/>
          </a:p>
        </p:txBody>
      </p:sp>
      <p:sp>
        <p:nvSpPr>
          <p:cNvPr id="16" name="Shape 13"/>
          <p:cNvSpPr/>
          <p:nvPr/>
        </p:nvSpPr>
        <p:spPr>
          <a:xfrm>
            <a:off x="4608576"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4"/>
          <p:cNvSpPr/>
          <p:nvPr/>
        </p:nvSpPr>
        <p:spPr>
          <a:xfrm>
            <a:off x="4608576" y="3611880"/>
            <a:ext cx="1920240" cy="45720"/>
          </a:xfrm>
          <a:prstGeom prst="rect">
            <a:avLst/>
          </a:prstGeom>
          <a:solidFill>
            <a:srgbClr val="1565C0"/>
          </a:solidFill>
          <a:ln w="12700">
            <a:solidFill>
              <a:srgbClr val="1565C0"/>
            </a:solidFill>
            <a:prstDash val="solid"/>
          </a:ln>
        </p:spPr>
        <p:txBody>
          <a:bodyPr/>
          <a:lstStyle/>
          <a:p>
            <a:endParaRPr lang="fr-FR"/>
          </a:p>
        </p:txBody>
      </p:sp>
      <p:sp>
        <p:nvSpPr>
          <p:cNvPr id="18" name="Text 15"/>
          <p:cNvSpPr/>
          <p:nvPr/>
        </p:nvSpPr>
        <p:spPr>
          <a:xfrm>
            <a:off x="4608576" y="3675888"/>
            <a:ext cx="1920240" cy="228600"/>
          </a:xfrm>
          <a:prstGeom prst="rect">
            <a:avLst/>
          </a:prstGeom>
          <a:noFill/>
          <a:ln/>
        </p:spPr>
        <p:txBody>
          <a:bodyPr wrap="square" rtlCol="0" anchor="ctr"/>
          <a:lstStyle/>
          <a:p>
            <a:pPr marL="0" indent="0" algn="ctr">
              <a:buNone/>
            </a:pPr>
            <a:r>
              <a:rPr lang="en-US" sz="800" b="1" kern="0" spc="200">
                <a:solidFill>
                  <a:srgbClr val="1565C0"/>
                </a:solidFill>
                <a:latin typeface="Calibri" pitchFamily="34" charset="0"/>
                <a:ea typeface="Calibri" pitchFamily="34" charset="-122"/>
                <a:cs typeface="Calibri" pitchFamily="34" charset="-120"/>
              </a:rPr>
              <a:t>BEST RECALL</a:t>
            </a:r>
            <a:endParaRPr lang="en-US" sz="800"/>
          </a:p>
        </p:txBody>
      </p:sp>
      <p:sp>
        <p:nvSpPr>
          <p:cNvPr id="19" name="Text 16"/>
          <p:cNvSpPr/>
          <p:nvPr/>
        </p:nvSpPr>
        <p:spPr>
          <a:xfrm>
            <a:off x="4608576"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0.6202</a:t>
            </a:r>
            <a:endParaRPr lang="en-US" sz="2600"/>
          </a:p>
        </p:txBody>
      </p:sp>
      <p:sp>
        <p:nvSpPr>
          <p:cNvPr id="20" name="Text 17"/>
          <p:cNvSpPr/>
          <p:nvPr/>
        </p:nvSpPr>
        <p:spPr>
          <a:xfrm>
            <a:off x="4608576"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Logistic Regression</a:t>
            </a:r>
            <a:endParaRPr lang="en-US" sz="900"/>
          </a:p>
        </p:txBody>
      </p:sp>
      <p:sp>
        <p:nvSpPr>
          <p:cNvPr id="21" name="Shape 18"/>
          <p:cNvSpPr/>
          <p:nvPr/>
        </p:nvSpPr>
        <p:spPr>
          <a:xfrm>
            <a:off x="6729984"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22" name="Shape 19"/>
          <p:cNvSpPr/>
          <p:nvPr/>
        </p:nvSpPr>
        <p:spPr>
          <a:xfrm>
            <a:off x="6729984" y="3611880"/>
            <a:ext cx="1920240" cy="45720"/>
          </a:xfrm>
          <a:prstGeom prst="rect">
            <a:avLst/>
          </a:prstGeom>
          <a:solidFill>
            <a:srgbClr val="FFB300"/>
          </a:solidFill>
          <a:ln w="12700">
            <a:solidFill>
              <a:srgbClr val="FFB300"/>
            </a:solidFill>
            <a:prstDash val="solid"/>
          </a:ln>
        </p:spPr>
        <p:txBody>
          <a:bodyPr/>
          <a:lstStyle/>
          <a:p>
            <a:endParaRPr lang="fr-FR"/>
          </a:p>
        </p:txBody>
      </p:sp>
      <p:sp>
        <p:nvSpPr>
          <p:cNvPr id="23" name="Text 20"/>
          <p:cNvSpPr/>
          <p:nvPr/>
        </p:nvSpPr>
        <p:spPr>
          <a:xfrm>
            <a:off x="6729984" y="3675888"/>
            <a:ext cx="1920240" cy="228600"/>
          </a:xfrm>
          <a:prstGeom prst="rect">
            <a:avLst/>
          </a:prstGeom>
          <a:noFill/>
          <a:ln/>
        </p:spPr>
        <p:txBody>
          <a:bodyPr wrap="square" rtlCol="0" anchor="ctr"/>
          <a:lstStyle/>
          <a:p>
            <a:pPr marL="0" indent="0" algn="ctr">
              <a:buNone/>
            </a:pPr>
            <a:r>
              <a:rPr lang="en-US" sz="800" b="1" kern="0" spc="200">
                <a:solidFill>
                  <a:srgbClr val="FFB300"/>
                </a:solidFill>
                <a:latin typeface="Calibri" pitchFamily="34" charset="0"/>
                <a:ea typeface="Calibri" pitchFamily="34" charset="-122"/>
                <a:cs typeface="Calibri" pitchFamily="34" charset="-120"/>
              </a:rPr>
              <a:t>LOWEST CV VARIANCE</a:t>
            </a:r>
            <a:endParaRPr lang="en-US" sz="800"/>
          </a:p>
        </p:txBody>
      </p:sp>
      <p:sp>
        <p:nvSpPr>
          <p:cNvPr id="24" name="Text 21"/>
          <p:cNvSpPr/>
          <p:nvPr/>
        </p:nvSpPr>
        <p:spPr>
          <a:xfrm>
            <a:off x="6729984"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±0.007</a:t>
            </a:r>
            <a:endParaRPr lang="en-US" sz="2600"/>
          </a:p>
        </p:txBody>
      </p:sp>
      <p:sp>
        <p:nvSpPr>
          <p:cNvPr id="25" name="Text 22"/>
          <p:cNvSpPr/>
          <p:nvPr/>
        </p:nvSpPr>
        <p:spPr>
          <a:xfrm>
            <a:off x="6729984"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 – most stable</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45720"/>
            <a:ext cx="8229600" cy="64008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Visual Performance Comparison</a:t>
            </a:r>
            <a:endParaRPr lang="en-US" sz="2600"/>
          </a:p>
        </p:txBody>
      </p:sp>
      <p:graphicFrame>
        <p:nvGraphicFramePr>
          <p:cNvPr id="4" name="Chart 0"/>
          <p:cNvGraphicFramePr/>
          <p:nvPr/>
        </p:nvGraphicFramePr>
        <p:xfrm>
          <a:off x="365760" y="822960"/>
          <a:ext cx="8412480" cy="4023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The Dominant Predictor: PAY_0</a:t>
            </a:r>
            <a:endParaRPr lang="en-US" sz="3000"/>
          </a:p>
        </p:txBody>
      </p:sp>
      <p:sp>
        <p:nvSpPr>
          <p:cNvPr id="3" name="Shape 1"/>
          <p:cNvSpPr/>
          <p:nvPr/>
        </p:nvSpPr>
        <p:spPr>
          <a:xfrm>
            <a:off x="457200" y="804672"/>
            <a:ext cx="8229600" cy="27432"/>
          </a:xfrm>
          <a:prstGeom prst="rect">
            <a:avLst/>
          </a:prstGeom>
          <a:solidFill>
            <a:srgbClr val="00B8D4"/>
          </a:solidFill>
          <a:ln w="12700">
            <a:solidFill>
              <a:srgbClr val="00B8D4"/>
            </a:solidFill>
            <a:prstDash val="solid"/>
          </a:ln>
        </p:spPr>
        <p:txBody>
          <a:bodyPr/>
          <a:lstStyle/>
          <a:p>
            <a:endParaRPr lang="fr-FR"/>
          </a:p>
        </p:txBody>
      </p:sp>
      <p:sp>
        <p:nvSpPr>
          <p:cNvPr id="4" name="Text 2"/>
          <p:cNvSpPr/>
          <p:nvPr/>
        </p:nvSpPr>
        <p:spPr>
          <a:xfrm>
            <a:off x="457200" y="850392"/>
            <a:ext cx="8229600" cy="27432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Decision Tree — Gini Feature Importance  |  PAY_0 = most recent month repayment status</a:t>
            </a:r>
            <a:endParaRPr lang="en-US" sz="1100"/>
          </a:p>
        </p:txBody>
      </p:sp>
      <p:graphicFrame>
        <p:nvGraphicFramePr>
          <p:cNvPr id="5" name="Chart 0"/>
          <p:cNvGraphicFramePr/>
          <p:nvPr/>
        </p:nvGraphicFramePr>
        <p:xfrm>
          <a:off x="274320" y="118872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23444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7" name="Shape 4"/>
          <p:cNvSpPr/>
          <p:nvPr/>
        </p:nvSpPr>
        <p:spPr>
          <a:xfrm>
            <a:off x="5577840" y="1234440"/>
            <a:ext cx="54864" cy="896112"/>
          </a:xfrm>
          <a:prstGeom prst="rect">
            <a:avLst/>
          </a:prstGeom>
          <a:solidFill>
            <a:srgbClr val="00B8D4"/>
          </a:solidFill>
          <a:ln w="12700">
            <a:solidFill>
              <a:srgbClr val="00B8D4"/>
            </a:solidFill>
            <a:prstDash val="solid"/>
          </a:ln>
        </p:spPr>
        <p:txBody>
          <a:bodyPr/>
          <a:lstStyle/>
          <a:p>
            <a:endParaRPr lang="fr-FR"/>
          </a:p>
        </p:txBody>
      </p:sp>
      <p:sp>
        <p:nvSpPr>
          <p:cNvPr id="8" name="Text 5"/>
          <p:cNvSpPr/>
          <p:nvPr/>
        </p:nvSpPr>
        <p:spPr>
          <a:xfrm>
            <a:off x="5687568" y="128016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74.61%</a:t>
            </a:r>
            <a:endParaRPr lang="en-US" sz="2000"/>
          </a:p>
        </p:txBody>
      </p:sp>
      <p:sp>
        <p:nvSpPr>
          <p:cNvPr id="9" name="Text 6"/>
          <p:cNvSpPr/>
          <p:nvPr/>
        </p:nvSpPr>
        <p:spPr>
          <a:xfrm>
            <a:off x="5687568" y="162763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PAY_0 Gini Importance</a:t>
            </a:r>
            <a:endParaRPr lang="en-US" sz="1100"/>
          </a:p>
        </p:txBody>
      </p:sp>
      <p:sp>
        <p:nvSpPr>
          <p:cNvPr id="10" name="Text 7"/>
          <p:cNvSpPr/>
          <p:nvPr/>
        </p:nvSpPr>
        <p:spPr>
          <a:xfrm>
            <a:off x="5687568" y="182880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More than all other 22 features combined</a:t>
            </a:r>
            <a:endParaRPr lang="en-US" sz="1000"/>
          </a:p>
        </p:txBody>
      </p:sp>
      <p:sp>
        <p:nvSpPr>
          <p:cNvPr id="11" name="Shape 8"/>
          <p:cNvSpPr/>
          <p:nvPr/>
        </p:nvSpPr>
        <p:spPr>
          <a:xfrm>
            <a:off x="5577840" y="224028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2" name="Shape 9"/>
          <p:cNvSpPr/>
          <p:nvPr/>
        </p:nvSpPr>
        <p:spPr>
          <a:xfrm>
            <a:off x="5577840" y="2240280"/>
            <a:ext cx="54864" cy="896112"/>
          </a:xfrm>
          <a:prstGeom prst="rect">
            <a:avLst/>
          </a:prstGeom>
          <a:solidFill>
            <a:srgbClr val="00B8D4"/>
          </a:solidFill>
          <a:ln w="12700">
            <a:solidFill>
              <a:srgbClr val="00B8D4"/>
            </a:solidFill>
            <a:prstDash val="solid"/>
          </a:ln>
        </p:spPr>
        <p:txBody>
          <a:bodyPr/>
          <a:lstStyle/>
          <a:p>
            <a:endParaRPr lang="fr-FR"/>
          </a:p>
        </p:txBody>
      </p:sp>
      <p:sp>
        <p:nvSpPr>
          <p:cNvPr id="13" name="Text 10"/>
          <p:cNvSpPr/>
          <p:nvPr/>
        </p:nvSpPr>
        <p:spPr>
          <a:xfrm>
            <a:off x="5687568" y="228600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Top 3</a:t>
            </a:r>
            <a:endParaRPr lang="en-US" sz="2000"/>
          </a:p>
        </p:txBody>
      </p:sp>
      <p:sp>
        <p:nvSpPr>
          <p:cNvPr id="14" name="Text 11"/>
          <p:cNvSpPr/>
          <p:nvPr/>
        </p:nvSpPr>
        <p:spPr>
          <a:xfrm>
            <a:off x="5687568" y="263347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All payment history vars</a:t>
            </a:r>
            <a:endParaRPr lang="en-US" sz="1100"/>
          </a:p>
        </p:txBody>
      </p:sp>
      <p:sp>
        <p:nvSpPr>
          <p:cNvPr id="15" name="Text 12"/>
          <p:cNvSpPr/>
          <p:nvPr/>
        </p:nvSpPr>
        <p:spPr>
          <a:xfrm>
            <a:off x="5687568" y="283464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PAY_0, PAY_AMT2, PAY_4</a:t>
            </a:r>
            <a:endParaRPr lang="en-US" sz="1000"/>
          </a:p>
        </p:txBody>
      </p:sp>
      <p:sp>
        <p:nvSpPr>
          <p:cNvPr id="16" name="Shape 13"/>
          <p:cNvSpPr/>
          <p:nvPr/>
        </p:nvSpPr>
        <p:spPr>
          <a:xfrm>
            <a:off x="5577840" y="324612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4"/>
          <p:cNvSpPr/>
          <p:nvPr/>
        </p:nvSpPr>
        <p:spPr>
          <a:xfrm>
            <a:off x="5577840" y="3246120"/>
            <a:ext cx="54864" cy="896112"/>
          </a:xfrm>
          <a:prstGeom prst="rect">
            <a:avLst/>
          </a:prstGeom>
          <a:solidFill>
            <a:srgbClr val="00B8D4"/>
          </a:solidFill>
          <a:ln w="12700">
            <a:solidFill>
              <a:srgbClr val="00B8D4"/>
            </a:solidFill>
            <a:prstDash val="solid"/>
          </a:ln>
        </p:spPr>
        <p:txBody>
          <a:bodyPr/>
          <a:lstStyle/>
          <a:p>
            <a:endParaRPr lang="fr-FR"/>
          </a:p>
        </p:txBody>
      </p:sp>
      <p:sp>
        <p:nvSpPr>
          <p:cNvPr id="18" name="Text 15"/>
          <p:cNvSpPr/>
          <p:nvPr/>
        </p:nvSpPr>
        <p:spPr>
          <a:xfrm>
            <a:off x="5687568" y="329184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 Verified</a:t>
            </a:r>
            <a:endParaRPr lang="en-US" sz="2000"/>
          </a:p>
        </p:txBody>
      </p:sp>
      <p:sp>
        <p:nvSpPr>
          <p:cNvPr id="19" name="Text 16"/>
          <p:cNvSpPr/>
          <p:nvPr/>
        </p:nvSpPr>
        <p:spPr>
          <a:xfrm>
            <a:off x="5687568" y="363931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Yeh &amp; Lien (2009)</a:t>
            </a:r>
            <a:endParaRPr lang="en-US" sz="1100"/>
          </a:p>
        </p:txBody>
      </p:sp>
      <p:sp>
        <p:nvSpPr>
          <p:cNvPr id="20" name="Text 17"/>
          <p:cNvSpPr/>
          <p:nvPr/>
        </p:nvSpPr>
        <p:spPr>
          <a:xfrm>
            <a:off x="5687568" y="384048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Original paper confirmed same finding</a:t>
            </a:r>
            <a:endParaRPr lang="en-US" sz="1000"/>
          </a:p>
        </p:txBody>
      </p:sp>
      <p:sp>
        <p:nvSpPr>
          <p:cNvPr id="21" name="Shape 18"/>
          <p:cNvSpPr/>
          <p:nvPr/>
        </p:nvSpPr>
        <p:spPr>
          <a:xfrm>
            <a:off x="5577840" y="4297680"/>
            <a:ext cx="3291840" cy="594360"/>
          </a:xfrm>
          <a:prstGeom prst="rect">
            <a:avLst/>
          </a:prstGeom>
          <a:solidFill>
            <a:srgbClr val="1A2D1A"/>
          </a:solidFill>
          <a:ln w="12700">
            <a:solidFill>
              <a:srgbClr val="00C853"/>
            </a:solidFill>
            <a:prstDash val="solid"/>
          </a:ln>
        </p:spPr>
        <p:txBody>
          <a:bodyPr/>
          <a:lstStyle/>
          <a:p>
            <a:endParaRPr lang="fr-FR"/>
          </a:p>
        </p:txBody>
      </p:sp>
      <p:sp>
        <p:nvSpPr>
          <p:cNvPr id="22" name="Text 19"/>
          <p:cNvSpPr/>
          <p:nvPr/>
        </p:nvSpPr>
        <p:spPr>
          <a:xfrm>
            <a:off x="5669280" y="4325112"/>
            <a:ext cx="3108960" cy="530352"/>
          </a:xfrm>
          <a:prstGeom prst="rect">
            <a:avLst/>
          </a:prstGeom>
          <a:noFill/>
          <a:ln/>
        </p:spPr>
        <p:txBody>
          <a:bodyPr wrap="square" rtlCol="0" anchor="ctr"/>
          <a:lstStyle/>
          <a:p>
            <a:pPr marL="0" indent="0">
              <a:buNone/>
            </a:pPr>
            <a:r>
              <a:rPr lang="en-US" sz="1100" i="1">
                <a:solidFill>
                  <a:srgbClr val="FFB300"/>
                </a:solidFill>
                <a:latin typeface="Calibri" pitchFamily="34" charset="0"/>
                <a:ea typeface="Calibri" pitchFamily="34" charset="-122"/>
                <a:cs typeface="Calibri" pitchFamily="34" charset="-120"/>
              </a:rPr>
              <a:t>If you paid late last month → you're likely to default next month.</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PCA &amp; Dimensionality Insights</a:t>
            </a:r>
            <a:endParaRPr lang="en-US" sz="2600"/>
          </a:p>
        </p:txBody>
      </p:sp>
      <p:graphicFrame>
        <p:nvGraphicFramePr>
          <p:cNvPr id="4" name="Chart 0"/>
          <p:cNvGraphicFramePr/>
          <p:nvPr/>
        </p:nvGraphicFramePr>
        <p:xfrm>
          <a:off x="365760" y="914400"/>
          <a:ext cx="50292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577840" y="960120"/>
            <a:ext cx="3291840" cy="36576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Variance Thresholds</a:t>
            </a:r>
            <a:endParaRPr lang="en-US" sz="1400"/>
          </a:p>
        </p:txBody>
      </p:sp>
      <p:sp>
        <p:nvSpPr>
          <p:cNvPr id="6" name="Shape 3"/>
          <p:cNvSpPr/>
          <p:nvPr/>
        </p:nvSpPr>
        <p:spPr>
          <a:xfrm>
            <a:off x="5577840" y="14173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7" name="Shape 4"/>
          <p:cNvSpPr/>
          <p:nvPr/>
        </p:nvSpPr>
        <p:spPr>
          <a:xfrm>
            <a:off x="5577840" y="1417320"/>
            <a:ext cx="54864" cy="548640"/>
          </a:xfrm>
          <a:prstGeom prst="rect">
            <a:avLst/>
          </a:prstGeom>
          <a:solidFill>
            <a:srgbClr val="1565C0"/>
          </a:solidFill>
          <a:ln w="12700">
            <a:solidFill>
              <a:srgbClr val="1565C0"/>
            </a:solidFill>
            <a:prstDash val="solid"/>
          </a:ln>
        </p:spPr>
        <p:txBody>
          <a:bodyPr/>
          <a:lstStyle/>
          <a:p>
            <a:endParaRPr lang="fr-FR"/>
          </a:p>
        </p:txBody>
      </p:sp>
      <p:sp>
        <p:nvSpPr>
          <p:cNvPr id="8" name="Text 5"/>
          <p:cNvSpPr/>
          <p:nvPr/>
        </p:nvSpPr>
        <p:spPr>
          <a:xfrm>
            <a:off x="5687568" y="14447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90% variance</a:t>
            </a:r>
            <a:endParaRPr lang="en-US" sz="1300"/>
          </a:p>
        </p:txBody>
      </p:sp>
      <p:sp>
        <p:nvSpPr>
          <p:cNvPr id="9" name="Text 6"/>
          <p:cNvSpPr/>
          <p:nvPr/>
        </p:nvSpPr>
        <p:spPr>
          <a:xfrm>
            <a:off x="5687568" y="16824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13 components needed</a:t>
            </a:r>
            <a:endParaRPr lang="en-US" sz="1100"/>
          </a:p>
        </p:txBody>
      </p:sp>
      <p:sp>
        <p:nvSpPr>
          <p:cNvPr id="10" name="Shape 7"/>
          <p:cNvSpPr/>
          <p:nvPr/>
        </p:nvSpPr>
        <p:spPr>
          <a:xfrm>
            <a:off x="5577840" y="21031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1" name="Shape 8"/>
          <p:cNvSpPr/>
          <p:nvPr/>
        </p:nvSpPr>
        <p:spPr>
          <a:xfrm>
            <a:off x="5577840" y="2103120"/>
            <a:ext cx="54864" cy="548640"/>
          </a:xfrm>
          <a:prstGeom prst="rect">
            <a:avLst/>
          </a:prstGeom>
          <a:solidFill>
            <a:srgbClr val="00B8D4"/>
          </a:solidFill>
          <a:ln w="12700">
            <a:solidFill>
              <a:srgbClr val="00B8D4"/>
            </a:solidFill>
            <a:prstDash val="solid"/>
          </a:ln>
        </p:spPr>
        <p:txBody>
          <a:bodyPr/>
          <a:lstStyle/>
          <a:p>
            <a:endParaRPr lang="fr-FR"/>
          </a:p>
        </p:txBody>
      </p:sp>
      <p:sp>
        <p:nvSpPr>
          <p:cNvPr id="12" name="Text 9"/>
          <p:cNvSpPr/>
          <p:nvPr/>
        </p:nvSpPr>
        <p:spPr>
          <a:xfrm>
            <a:off x="5687568" y="21305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95% variance</a:t>
            </a:r>
            <a:endParaRPr lang="en-US" sz="1300"/>
          </a:p>
        </p:txBody>
      </p:sp>
      <p:sp>
        <p:nvSpPr>
          <p:cNvPr id="13" name="Text 10"/>
          <p:cNvSpPr/>
          <p:nvPr/>
        </p:nvSpPr>
        <p:spPr>
          <a:xfrm>
            <a:off x="5687568" y="23682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15 components needed</a:t>
            </a:r>
            <a:endParaRPr lang="en-US" sz="1100"/>
          </a:p>
        </p:txBody>
      </p:sp>
      <p:sp>
        <p:nvSpPr>
          <p:cNvPr id="14" name="Shape 11"/>
          <p:cNvSpPr/>
          <p:nvPr/>
        </p:nvSpPr>
        <p:spPr>
          <a:xfrm>
            <a:off x="5577840" y="27889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5" name="Shape 12"/>
          <p:cNvSpPr/>
          <p:nvPr/>
        </p:nvSpPr>
        <p:spPr>
          <a:xfrm>
            <a:off x="5577840" y="2788920"/>
            <a:ext cx="54864" cy="548640"/>
          </a:xfrm>
          <a:prstGeom prst="rect">
            <a:avLst/>
          </a:prstGeom>
          <a:solidFill>
            <a:srgbClr val="FFB300"/>
          </a:solidFill>
          <a:ln w="12700">
            <a:solidFill>
              <a:srgbClr val="FFB300"/>
            </a:solidFill>
            <a:prstDash val="solid"/>
          </a:ln>
        </p:spPr>
        <p:txBody>
          <a:bodyPr/>
          <a:lstStyle/>
          <a:p>
            <a:endParaRPr lang="fr-FR"/>
          </a:p>
        </p:txBody>
      </p:sp>
      <p:sp>
        <p:nvSpPr>
          <p:cNvPr id="16" name="Text 13"/>
          <p:cNvSpPr/>
          <p:nvPr/>
        </p:nvSpPr>
        <p:spPr>
          <a:xfrm>
            <a:off x="5687568" y="28163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99% variance</a:t>
            </a:r>
            <a:endParaRPr lang="en-US" sz="1300"/>
          </a:p>
        </p:txBody>
      </p:sp>
      <p:sp>
        <p:nvSpPr>
          <p:cNvPr id="17" name="Text 14"/>
          <p:cNvSpPr/>
          <p:nvPr/>
        </p:nvSpPr>
        <p:spPr>
          <a:xfrm>
            <a:off x="5687568" y="30540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19 components needed</a:t>
            </a:r>
            <a:endParaRPr lang="en-US" sz="1100"/>
          </a:p>
        </p:txBody>
      </p:sp>
      <p:sp>
        <p:nvSpPr>
          <p:cNvPr id="18" name="Text 15"/>
          <p:cNvSpPr/>
          <p:nvPr/>
        </p:nvSpPr>
        <p:spPr>
          <a:xfrm>
            <a:off x="5577840" y="3566160"/>
            <a:ext cx="3291840" cy="274320"/>
          </a:xfrm>
          <a:prstGeom prst="rect">
            <a:avLst/>
          </a:prstGeom>
          <a:noFill/>
          <a:ln/>
        </p:spPr>
        <p:txBody>
          <a:bodyPr wrap="square" rtlCol="0" anchor="ctr"/>
          <a:lstStyle/>
          <a:p>
            <a:pPr marL="0" indent="0">
              <a:buNone/>
            </a:pPr>
            <a:r>
              <a:rPr lang="en-US" sz="1200" b="1">
                <a:solidFill>
                  <a:srgbClr val="0D2137"/>
                </a:solidFill>
                <a:latin typeface="Calibri" pitchFamily="34" charset="0"/>
                <a:ea typeface="Calibri" pitchFamily="34" charset="-122"/>
                <a:cs typeface="Calibri" pitchFamily="34" charset="-120"/>
              </a:rPr>
              <a:t>What this tells us:</a:t>
            </a:r>
            <a:endParaRPr lang="en-US" sz="1200"/>
          </a:p>
        </p:txBody>
      </p:sp>
      <p:sp>
        <p:nvSpPr>
          <p:cNvPr id="19" name="Text 16"/>
          <p:cNvSpPr/>
          <p:nvPr/>
        </p:nvSpPr>
        <p:spPr>
          <a:xfrm>
            <a:off x="5577840" y="3886200"/>
            <a:ext cx="3291840" cy="91440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 Dataset has moderate correlations — not strongly reducible
• Classes overlap in 2D PCA space — confirms non-linear boundaries
• Explains why Decision Tree outperforms Logistic Regression</a:t>
            </a:r>
            <a:endParaRPr lang="en-US"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Critical Analysis &amp; Lessons</a:t>
            </a:r>
            <a:endParaRPr lang="en-US" sz="3000"/>
          </a:p>
        </p:txBody>
      </p:sp>
      <p:sp>
        <p:nvSpPr>
          <p:cNvPr id="3" name="Shape 1"/>
          <p:cNvSpPr/>
          <p:nvPr/>
        </p:nvSpPr>
        <p:spPr>
          <a:xfrm>
            <a:off x="457200" y="804672"/>
            <a:ext cx="8229600" cy="27432"/>
          </a:xfrm>
          <a:prstGeom prst="rect">
            <a:avLst/>
          </a:prstGeom>
          <a:solidFill>
            <a:srgbClr val="00B8D4"/>
          </a:solidFill>
          <a:ln w="12700">
            <a:solidFill>
              <a:srgbClr val="00B8D4"/>
            </a:solidFill>
            <a:prstDash val="solid"/>
          </a:ln>
        </p:spPr>
        <p:txBody>
          <a:bodyPr/>
          <a:lstStyle/>
          <a:p>
            <a:endParaRPr lang="fr-FR"/>
          </a:p>
        </p:txBody>
      </p:sp>
      <p:sp>
        <p:nvSpPr>
          <p:cNvPr id="4" name="Shape 2"/>
          <p:cNvSpPr/>
          <p:nvPr/>
        </p:nvSpPr>
        <p:spPr>
          <a:xfrm>
            <a:off x="274320" y="100584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384048" y="1188720"/>
            <a:ext cx="502920" cy="502920"/>
          </a:xfrm>
          <a:prstGeom prst="ellipse">
            <a:avLst/>
          </a:prstGeom>
          <a:solidFill>
            <a:srgbClr val="1565C0"/>
          </a:solidFill>
          <a:ln w="12700">
            <a:solidFill>
              <a:srgbClr val="1565C0"/>
            </a:solidFill>
            <a:prstDash val="solid"/>
          </a:ln>
        </p:spPr>
        <p:txBody>
          <a:bodyPr/>
          <a:lstStyle/>
          <a:p>
            <a:endParaRPr lang="fr-FR"/>
          </a:p>
        </p:txBody>
      </p:sp>
      <p:sp>
        <p:nvSpPr>
          <p:cNvPr id="6" name="Text 4"/>
          <p:cNvSpPr/>
          <p:nvPr/>
        </p:nvSpPr>
        <p:spPr>
          <a:xfrm>
            <a:off x="384048" y="118872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LR</a:t>
            </a:r>
            <a:endParaRPr lang="en-US" sz="1100"/>
          </a:p>
        </p:txBody>
      </p:sp>
      <p:sp>
        <p:nvSpPr>
          <p:cNvPr id="7" name="Text 5"/>
          <p:cNvSpPr/>
          <p:nvPr/>
        </p:nvSpPr>
        <p:spPr>
          <a:xfrm>
            <a:off x="987552" y="1188720"/>
            <a:ext cx="3291840" cy="320040"/>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Logistic Regression</a:t>
            </a:r>
            <a:endParaRPr lang="en-US" sz="1300"/>
          </a:p>
        </p:txBody>
      </p:sp>
      <p:sp>
        <p:nvSpPr>
          <p:cNvPr id="8" name="Text 6"/>
          <p:cNvSpPr/>
          <p:nvPr/>
        </p:nvSpPr>
        <p:spPr>
          <a:xfrm>
            <a:off x="411480" y="160020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Highest recall (0.62) — finds most defaulters</a:t>
            </a:r>
            <a:endParaRPr lang="en-US" sz="1100"/>
          </a:p>
        </p:txBody>
      </p:sp>
      <p:sp>
        <p:nvSpPr>
          <p:cNvPr id="9" name="Text 7"/>
          <p:cNvSpPr/>
          <p:nvPr/>
        </p:nvSpPr>
        <p:spPr>
          <a:xfrm>
            <a:off x="411480" y="187452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But very low precision (0.37) — flags too many non-defaulters. Class imbalance handling essential.</a:t>
            </a:r>
            <a:endParaRPr lang="en-US" sz="1050"/>
          </a:p>
        </p:txBody>
      </p:sp>
      <p:sp>
        <p:nvSpPr>
          <p:cNvPr id="10" name="Shape 8"/>
          <p:cNvSpPr/>
          <p:nvPr/>
        </p:nvSpPr>
        <p:spPr>
          <a:xfrm>
            <a:off x="4709160" y="100584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1" name="Shape 9"/>
          <p:cNvSpPr/>
          <p:nvPr/>
        </p:nvSpPr>
        <p:spPr>
          <a:xfrm>
            <a:off x="4818888" y="1188720"/>
            <a:ext cx="502920" cy="502920"/>
          </a:xfrm>
          <a:prstGeom prst="ellipse">
            <a:avLst/>
          </a:prstGeom>
          <a:solidFill>
            <a:srgbClr val="9C27B0"/>
          </a:solidFill>
          <a:ln w="12700">
            <a:solidFill>
              <a:srgbClr val="9C27B0"/>
            </a:solidFill>
            <a:prstDash val="solid"/>
          </a:ln>
        </p:spPr>
        <p:txBody>
          <a:bodyPr/>
          <a:lstStyle/>
          <a:p>
            <a:endParaRPr lang="fr-FR"/>
          </a:p>
        </p:txBody>
      </p:sp>
      <p:sp>
        <p:nvSpPr>
          <p:cNvPr id="12" name="Text 10"/>
          <p:cNvSpPr/>
          <p:nvPr/>
        </p:nvSpPr>
        <p:spPr>
          <a:xfrm>
            <a:off x="4818888" y="118872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NB</a:t>
            </a:r>
            <a:endParaRPr lang="en-US" sz="1100"/>
          </a:p>
        </p:txBody>
      </p:sp>
      <p:sp>
        <p:nvSpPr>
          <p:cNvPr id="13" name="Text 11"/>
          <p:cNvSpPr/>
          <p:nvPr/>
        </p:nvSpPr>
        <p:spPr>
          <a:xfrm>
            <a:off x="5422392" y="1188720"/>
            <a:ext cx="3291840" cy="320040"/>
          </a:xfrm>
          <a:prstGeom prst="rect">
            <a:avLst/>
          </a:prstGeom>
          <a:noFill/>
          <a:ln/>
        </p:spPr>
        <p:txBody>
          <a:bodyPr wrap="square" rtlCol="0" anchor="ctr"/>
          <a:lstStyle/>
          <a:p>
            <a:pPr marL="0" indent="0">
              <a:buNone/>
            </a:pPr>
            <a:r>
              <a:rPr lang="en-US" sz="1300" b="1">
                <a:solidFill>
                  <a:srgbClr val="9C27B0"/>
                </a:solidFill>
                <a:latin typeface="Calibri" pitchFamily="34" charset="0"/>
                <a:ea typeface="Calibri" pitchFamily="34" charset="-122"/>
                <a:cs typeface="Calibri" pitchFamily="34" charset="-120"/>
              </a:rPr>
              <a:t>Gaussian Naive Bayes</a:t>
            </a:r>
            <a:endParaRPr lang="en-US" sz="1300"/>
          </a:p>
        </p:txBody>
      </p:sp>
      <p:sp>
        <p:nvSpPr>
          <p:cNvPr id="14" name="Text 12"/>
          <p:cNvSpPr/>
          <p:nvPr/>
        </p:nvSpPr>
        <p:spPr>
          <a:xfrm>
            <a:off x="4846320" y="160020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Moderate all-round but worst accuracy (0.75)</a:t>
            </a:r>
            <a:endParaRPr lang="en-US" sz="1100"/>
          </a:p>
        </p:txBody>
      </p:sp>
      <p:sp>
        <p:nvSpPr>
          <p:cNvPr id="15" name="Text 13"/>
          <p:cNvSpPr/>
          <p:nvPr/>
        </p:nvSpPr>
        <p:spPr>
          <a:xfrm>
            <a:off x="4846320" y="187452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Feature independence assumption strongly violated — correlations in PAY_AMT columns hurt performance significantly.</a:t>
            </a:r>
            <a:endParaRPr lang="en-US" sz="1050"/>
          </a:p>
        </p:txBody>
      </p:sp>
      <p:sp>
        <p:nvSpPr>
          <p:cNvPr id="16" name="Shape 14"/>
          <p:cNvSpPr/>
          <p:nvPr/>
        </p:nvSpPr>
        <p:spPr>
          <a:xfrm>
            <a:off x="274320" y="297180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17" name="Shape 15"/>
          <p:cNvSpPr/>
          <p:nvPr/>
        </p:nvSpPr>
        <p:spPr>
          <a:xfrm>
            <a:off x="384048" y="3154680"/>
            <a:ext cx="502920" cy="502920"/>
          </a:xfrm>
          <a:prstGeom prst="ellipse">
            <a:avLst/>
          </a:prstGeom>
          <a:solidFill>
            <a:srgbClr val="00C853"/>
          </a:solidFill>
          <a:ln w="12700">
            <a:solidFill>
              <a:srgbClr val="00C853"/>
            </a:solidFill>
            <a:prstDash val="solid"/>
          </a:ln>
        </p:spPr>
        <p:txBody>
          <a:bodyPr/>
          <a:lstStyle/>
          <a:p>
            <a:endParaRPr lang="fr-FR"/>
          </a:p>
        </p:txBody>
      </p:sp>
      <p:sp>
        <p:nvSpPr>
          <p:cNvPr id="18" name="Text 16"/>
          <p:cNvSpPr/>
          <p:nvPr/>
        </p:nvSpPr>
        <p:spPr>
          <a:xfrm>
            <a:off x="384048" y="315468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DT</a:t>
            </a:r>
            <a:endParaRPr lang="en-US" sz="1100"/>
          </a:p>
        </p:txBody>
      </p:sp>
      <p:sp>
        <p:nvSpPr>
          <p:cNvPr id="19" name="Text 17"/>
          <p:cNvSpPr/>
          <p:nvPr/>
        </p:nvSpPr>
        <p:spPr>
          <a:xfrm>
            <a:off x="987552" y="3154680"/>
            <a:ext cx="3291840" cy="320040"/>
          </a:xfrm>
          <a:prstGeom prst="rect">
            <a:avLst/>
          </a:prstGeom>
          <a:noFill/>
          <a:ln/>
        </p:spPr>
        <p:txBody>
          <a:bodyPr wrap="square" rtlCol="0" anchor="ctr"/>
          <a:lstStyle/>
          <a:p>
            <a:pPr marL="0" indent="0">
              <a:buNone/>
            </a:pPr>
            <a:r>
              <a:rPr lang="en-US" sz="1300" b="1">
                <a:solidFill>
                  <a:srgbClr val="00C853"/>
                </a:solidFill>
                <a:latin typeface="Calibri" pitchFamily="34" charset="0"/>
                <a:ea typeface="Calibri" pitchFamily="34" charset="-122"/>
                <a:cs typeface="Calibri" pitchFamily="34" charset="-120"/>
              </a:rPr>
              <a:t>Decision Tree (Winner)</a:t>
            </a:r>
            <a:endParaRPr lang="en-US" sz="1300"/>
          </a:p>
        </p:txBody>
      </p:sp>
      <p:sp>
        <p:nvSpPr>
          <p:cNvPr id="20" name="Text 18"/>
          <p:cNvSpPr/>
          <p:nvPr/>
        </p:nvSpPr>
        <p:spPr>
          <a:xfrm>
            <a:off x="411480" y="356616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Best F1 (0.52), best AUC (0.76), most stable CV</a:t>
            </a:r>
            <a:endParaRPr lang="en-US" sz="1100"/>
          </a:p>
        </p:txBody>
      </p:sp>
      <p:sp>
        <p:nvSpPr>
          <p:cNvPr id="21" name="Text 19"/>
          <p:cNvSpPr/>
          <p:nvPr/>
        </p:nvSpPr>
        <p:spPr>
          <a:xfrm>
            <a:off x="411480" y="384048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Non-linearity captured well. Gini impurity reveals PAY_0 dominance. Controlled depth prevents overfitting.</a:t>
            </a:r>
            <a:endParaRPr lang="en-US" sz="1050"/>
          </a:p>
        </p:txBody>
      </p:sp>
      <p:sp>
        <p:nvSpPr>
          <p:cNvPr id="22" name="Shape 20"/>
          <p:cNvSpPr/>
          <p:nvPr/>
        </p:nvSpPr>
        <p:spPr>
          <a:xfrm>
            <a:off x="4709160" y="297180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txBody>
          <a:bodyPr/>
          <a:lstStyle/>
          <a:p>
            <a:endParaRPr lang="fr-FR"/>
          </a:p>
        </p:txBody>
      </p:sp>
      <p:sp>
        <p:nvSpPr>
          <p:cNvPr id="23" name="Shape 21"/>
          <p:cNvSpPr/>
          <p:nvPr/>
        </p:nvSpPr>
        <p:spPr>
          <a:xfrm>
            <a:off x="4818888" y="3154680"/>
            <a:ext cx="502920" cy="502920"/>
          </a:xfrm>
          <a:prstGeom prst="ellipse">
            <a:avLst/>
          </a:prstGeom>
          <a:solidFill>
            <a:srgbClr val="FFB300"/>
          </a:solidFill>
          <a:ln w="12700">
            <a:solidFill>
              <a:srgbClr val="FFB300"/>
            </a:solidFill>
            <a:prstDash val="solid"/>
          </a:ln>
        </p:spPr>
        <p:txBody>
          <a:bodyPr/>
          <a:lstStyle/>
          <a:p>
            <a:endParaRPr lang="fr-FR"/>
          </a:p>
        </p:txBody>
      </p:sp>
      <p:sp>
        <p:nvSpPr>
          <p:cNvPr id="24" name="Text 22"/>
          <p:cNvSpPr/>
          <p:nvPr/>
        </p:nvSpPr>
        <p:spPr>
          <a:xfrm>
            <a:off x="4818888" y="315468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25" name="Text 23"/>
          <p:cNvSpPr/>
          <p:nvPr/>
        </p:nvSpPr>
        <p:spPr>
          <a:xfrm>
            <a:off x="5422392" y="3154680"/>
            <a:ext cx="3291840" cy="320040"/>
          </a:xfrm>
          <a:prstGeom prst="rect">
            <a:avLst/>
          </a:prstGeom>
          <a:noFill/>
          <a:ln/>
        </p:spPr>
        <p:txBody>
          <a:bodyPr wrap="square" rtlCol="0" anchor="ctr"/>
          <a:lstStyle/>
          <a:p>
            <a:pPr marL="0" indent="0">
              <a:buNone/>
            </a:pPr>
            <a:r>
              <a:rPr lang="en-US" sz="1300" b="1">
                <a:solidFill>
                  <a:srgbClr val="FFB300"/>
                </a:solidFill>
                <a:latin typeface="Calibri" pitchFamily="34" charset="0"/>
                <a:ea typeface="Calibri" pitchFamily="34" charset="-122"/>
                <a:cs typeface="Calibri" pitchFamily="34" charset="-120"/>
              </a:rPr>
              <a:t>Overall Project Lesson</a:t>
            </a:r>
            <a:endParaRPr lang="en-US" sz="1300"/>
          </a:p>
        </p:txBody>
      </p:sp>
      <p:sp>
        <p:nvSpPr>
          <p:cNvPr id="26" name="Text 24"/>
          <p:cNvSpPr/>
          <p:nvPr/>
        </p:nvSpPr>
        <p:spPr>
          <a:xfrm>
            <a:off x="4846320" y="356616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Recent behavior &gt; demographics &gt; historical averages</a:t>
            </a:r>
            <a:endParaRPr lang="en-US" sz="1100"/>
          </a:p>
        </p:txBody>
      </p:sp>
      <p:sp>
        <p:nvSpPr>
          <p:cNvPr id="27" name="Text 25"/>
          <p:cNvSpPr/>
          <p:nvPr/>
        </p:nvSpPr>
        <p:spPr>
          <a:xfrm>
            <a:off x="4846320" y="384048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PAY_0 alone contributes 74.6% of split importance. Banks should weight current-month payment status highest.</a:t>
            </a:r>
            <a:endParaRPr lang="en-US" sz="10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fr-FR"/>
          </a:p>
        </p:txBody>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How We Improved the Models</a:t>
            </a:r>
            <a:endParaRPr lang="en-US" sz="2600"/>
          </a:p>
        </p:txBody>
      </p:sp>
      <p:sp>
        <p:nvSpPr>
          <p:cNvPr id="4" name="Shape 2"/>
          <p:cNvSpPr/>
          <p:nvPr/>
        </p:nvSpPr>
        <p:spPr>
          <a:xfrm>
            <a:off x="274320" y="96012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5" name="Shape 3"/>
          <p:cNvSpPr/>
          <p:nvPr/>
        </p:nvSpPr>
        <p:spPr>
          <a:xfrm>
            <a:off x="274320" y="960120"/>
            <a:ext cx="1005840" cy="804672"/>
          </a:xfrm>
          <a:prstGeom prst="rect">
            <a:avLst/>
          </a:prstGeom>
          <a:solidFill>
            <a:srgbClr val="0D2137"/>
          </a:solidFill>
          <a:ln w="12700">
            <a:solidFill>
              <a:srgbClr val="0D2137"/>
            </a:solidFill>
            <a:prstDash val="solid"/>
          </a:ln>
        </p:spPr>
        <p:txBody>
          <a:bodyPr/>
          <a:lstStyle/>
          <a:p>
            <a:endParaRPr lang="fr-FR"/>
          </a:p>
        </p:txBody>
      </p:sp>
      <p:sp>
        <p:nvSpPr>
          <p:cNvPr id="6" name="Text 4"/>
          <p:cNvSpPr/>
          <p:nvPr/>
        </p:nvSpPr>
        <p:spPr>
          <a:xfrm>
            <a:off x="274320" y="96012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Mar 24</a:t>
            </a:r>
            <a:endParaRPr lang="en-US" sz="1100"/>
          </a:p>
        </p:txBody>
      </p:sp>
      <p:sp>
        <p:nvSpPr>
          <p:cNvPr id="7" name="Shape 5"/>
          <p:cNvSpPr/>
          <p:nvPr/>
        </p:nvSpPr>
        <p:spPr>
          <a:xfrm>
            <a:off x="8046720" y="1143000"/>
            <a:ext cx="777240" cy="438912"/>
          </a:xfrm>
          <a:prstGeom prst="rect">
            <a:avLst/>
          </a:prstGeom>
          <a:solidFill>
            <a:srgbClr val="00C853"/>
          </a:solidFill>
          <a:ln w="12700">
            <a:solidFill>
              <a:srgbClr val="00C853"/>
            </a:solidFill>
            <a:prstDash val="solid"/>
          </a:ln>
        </p:spPr>
        <p:txBody>
          <a:bodyPr/>
          <a:lstStyle/>
          <a:p>
            <a:endParaRPr lang="fr-FR"/>
          </a:p>
        </p:txBody>
      </p:sp>
      <p:sp>
        <p:nvSpPr>
          <p:cNvPr id="8" name="Text 6"/>
          <p:cNvSpPr/>
          <p:nvPr/>
        </p:nvSpPr>
        <p:spPr>
          <a:xfrm>
            <a:off x="8046720" y="114300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9" name="Text 7"/>
          <p:cNvSpPr/>
          <p:nvPr/>
        </p:nvSpPr>
        <p:spPr>
          <a:xfrm>
            <a:off x="1417320" y="105156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Hyperparameter Tuning</a:t>
            </a:r>
            <a:endParaRPr lang="en-US" sz="1300"/>
          </a:p>
        </p:txBody>
      </p:sp>
      <p:sp>
        <p:nvSpPr>
          <p:cNvPr id="10" name="Text 8"/>
          <p:cNvSpPr/>
          <p:nvPr/>
        </p:nvSpPr>
        <p:spPr>
          <a:xfrm>
            <a:off x="1417320" y="136245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GridSearchCV — varying C for LR, max_depth &amp; min_samples_leaf for DT</a:t>
            </a:r>
            <a:endParaRPr lang="en-US" sz="1050"/>
          </a:p>
        </p:txBody>
      </p:sp>
      <p:sp>
        <p:nvSpPr>
          <p:cNvPr id="11" name="Shape 9"/>
          <p:cNvSpPr/>
          <p:nvPr/>
        </p:nvSpPr>
        <p:spPr>
          <a:xfrm>
            <a:off x="274320" y="192024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2" name="Shape 10"/>
          <p:cNvSpPr/>
          <p:nvPr/>
        </p:nvSpPr>
        <p:spPr>
          <a:xfrm>
            <a:off x="274320" y="1920240"/>
            <a:ext cx="1005840" cy="804672"/>
          </a:xfrm>
          <a:prstGeom prst="rect">
            <a:avLst/>
          </a:prstGeom>
          <a:solidFill>
            <a:srgbClr val="0D2137"/>
          </a:solidFill>
          <a:ln w="12700">
            <a:solidFill>
              <a:srgbClr val="0D2137"/>
            </a:solidFill>
            <a:prstDash val="solid"/>
          </a:ln>
        </p:spPr>
        <p:txBody>
          <a:bodyPr/>
          <a:lstStyle/>
          <a:p>
            <a:endParaRPr lang="fr-FR"/>
          </a:p>
        </p:txBody>
      </p:sp>
      <p:sp>
        <p:nvSpPr>
          <p:cNvPr id="13" name="Text 11"/>
          <p:cNvSpPr/>
          <p:nvPr/>
        </p:nvSpPr>
        <p:spPr>
          <a:xfrm>
            <a:off x="274320" y="192024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Mar 31</a:t>
            </a:r>
            <a:endParaRPr lang="en-US" sz="1100"/>
          </a:p>
        </p:txBody>
      </p:sp>
      <p:sp>
        <p:nvSpPr>
          <p:cNvPr id="14" name="Shape 12"/>
          <p:cNvSpPr/>
          <p:nvPr/>
        </p:nvSpPr>
        <p:spPr>
          <a:xfrm>
            <a:off x="8046720" y="2103120"/>
            <a:ext cx="777240" cy="438912"/>
          </a:xfrm>
          <a:prstGeom prst="rect">
            <a:avLst/>
          </a:prstGeom>
          <a:solidFill>
            <a:srgbClr val="00C853"/>
          </a:solidFill>
          <a:ln w="12700">
            <a:solidFill>
              <a:srgbClr val="00C853"/>
            </a:solidFill>
            <a:prstDash val="solid"/>
          </a:ln>
        </p:spPr>
        <p:txBody>
          <a:bodyPr/>
          <a:lstStyle/>
          <a:p>
            <a:endParaRPr lang="fr-FR"/>
          </a:p>
        </p:txBody>
      </p:sp>
      <p:sp>
        <p:nvSpPr>
          <p:cNvPr id="15" name="Text 13"/>
          <p:cNvSpPr/>
          <p:nvPr/>
        </p:nvSpPr>
        <p:spPr>
          <a:xfrm>
            <a:off x="8046720" y="210312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16" name="Text 14"/>
          <p:cNvSpPr/>
          <p:nvPr/>
        </p:nvSpPr>
        <p:spPr>
          <a:xfrm>
            <a:off x="1417320" y="201168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SMOTE Resampling</a:t>
            </a:r>
            <a:endParaRPr lang="en-US" sz="1300"/>
          </a:p>
        </p:txBody>
      </p:sp>
      <p:sp>
        <p:nvSpPr>
          <p:cNvPr id="17" name="Text 15"/>
          <p:cNvSpPr/>
          <p:nvPr/>
        </p:nvSpPr>
        <p:spPr>
          <a:xfrm>
            <a:off x="1417320" y="232257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imblearn SMOTE to synthesize minority class samples &amp; address 3.5:1 imbalance</a:t>
            </a:r>
            <a:endParaRPr lang="en-US" sz="1050"/>
          </a:p>
        </p:txBody>
      </p:sp>
      <p:sp>
        <p:nvSpPr>
          <p:cNvPr id="18" name="Shape 16"/>
          <p:cNvSpPr/>
          <p:nvPr/>
        </p:nvSpPr>
        <p:spPr>
          <a:xfrm>
            <a:off x="274320" y="288036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19" name="Shape 17"/>
          <p:cNvSpPr/>
          <p:nvPr/>
        </p:nvSpPr>
        <p:spPr>
          <a:xfrm>
            <a:off x="274320" y="2880360"/>
            <a:ext cx="1005840" cy="804672"/>
          </a:xfrm>
          <a:prstGeom prst="rect">
            <a:avLst/>
          </a:prstGeom>
          <a:solidFill>
            <a:srgbClr val="0D2137"/>
          </a:solidFill>
          <a:ln w="12700">
            <a:solidFill>
              <a:srgbClr val="0D2137"/>
            </a:solidFill>
            <a:prstDash val="solid"/>
          </a:ln>
        </p:spPr>
        <p:txBody>
          <a:bodyPr/>
          <a:lstStyle/>
          <a:p>
            <a:endParaRPr lang="fr-FR"/>
          </a:p>
        </p:txBody>
      </p:sp>
      <p:sp>
        <p:nvSpPr>
          <p:cNvPr id="20" name="Text 18"/>
          <p:cNvSpPr/>
          <p:nvPr/>
        </p:nvSpPr>
        <p:spPr>
          <a:xfrm>
            <a:off x="274320" y="288036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Apr 7</a:t>
            </a:r>
            <a:endParaRPr lang="en-US" sz="1100"/>
          </a:p>
        </p:txBody>
      </p:sp>
      <p:sp>
        <p:nvSpPr>
          <p:cNvPr id="21" name="Shape 19"/>
          <p:cNvSpPr/>
          <p:nvPr/>
        </p:nvSpPr>
        <p:spPr>
          <a:xfrm>
            <a:off x="8046720" y="3063240"/>
            <a:ext cx="777240" cy="438912"/>
          </a:xfrm>
          <a:prstGeom prst="rect">
            <a:avLst/>
          </a:prstGeom>
          <a:solidFill>
            <a:srgbClr val="00C853"/>
          </a:solidFill>
          <a:ln w="12700">
            <a:solidFill>
              <a:srgbClr val="00C853"/>
            </a:solidFill>
            <a:prstDash val="solid"/>
          </a:ln>
        </p:spPr>
        <p:txBody>
          <a:bodyPr/>
          <a:lstStyle/>
          <a:p>
            <a:endParaRPr lang="fr-FR"/>
          </a:p>
        </p:txBody>
      </p:sp>
      <p:sp>
        <p:nvSpPr>
          <p:cNvPr id="22" name="Text 20"/>
          <p:cNvSpPr/>
          <p:nvPr/>
        </p:nvSpPr>
        <p:spPr>
          <a:xfrm>
            <a:off x="8046720" y="306324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23" name="Text 21"/>
          <p:cNvSpPr/>
          <p:nvPr/>
        </p:nvSpPr>
        <p:spPr>
          <a:xfrm>
            <a:off x="1417320" y="297180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Feature Engineering</a:t>
            </a:r>
            <a:endParaRPr lang="en-US" sz="1300"/>
          </a:p>
        </p:txBody>
      </p:sp>
      <p:sp>
        <p:nvSpPr>
          <p:cNvPr id="24" name="Text 22"/>
          <p:cNvSpPr/>
          <p:nvPr/>
        </p:nvSpPr>
        <p:spPr>
          <a:xfrm>
            <a:off x="1417320" y="328269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Payment utilization ratios (PAY_AMT / BILL_AMT) as new features + Random Forest tested</a:t>
            </a:r>
            <a:endParaRPr lang="en-US" sz="1050"/>
          </a:p>
        </p:txBody>
      </p:sp>
      <p:sp>
        <p:nvSpPr>
          <p:cNvPr id="25" name="Shape 23"/>
          <p:cNvSpPr/>
          <p:nvPr/>
        </p:nvSpPr>
        <p:spPr>
          <a:xfrm>
            <a:off x="274320" y="384048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txBody>
          <a:bodyPr/>
          <a:lstStyle/>
          <a:p>
            <a:endParaRPr lang="fr-FR"/>
          </a:p>
        </p:txBody>
      </p:sp>
      <p:sp>
        <p:nvSpPr>
          <p:cNvPr id="26" name="Shape 24"/>
          <p:cNvSpPr/>
          <p:nvPr/>
        </p:nvSpPr>
        <p:spPr>
          <a:xfrm>
            <a:off x="274320" y="3840480"/>
            <a:ext cx="1005840" cy="804672"/>
          </a:xfrm>
          <a:prstGeom prst="rect">
            <a:avLst/>
          </a:prstGeom>
          <a:solidFill>
            <a:srgbClr val="0D2137"/>
          </a:solidFill>
          <a:ln w="12700">
            <a:solidFill>
              <a:srgbClr val="0D2137"/>
            </a:solidFill>
            <a:prstDash val="solid"/>
          </a:ln>
        </p:spPr>
        <p:txBody>
          <a:bodyPr/>
          <a:lstStyle/>
          <a:p>
            <a:endParaRPr lang="fr-FR"/>
          </a:p>
        </p:txBody>
      </p:sp>
      <p:sp>
        <p:nvSpPr>
          <p:cNvPr id="27" name="Text 25"/>
          <p:cNvSpPr/>
          <p:nvPr/>
        </p:nvSpPr>
        <p:spPr>
          <a:xfrm>
            <a:off x="274320" y="384048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Apr 14</a:t>
            </a:r>
            <a:endParaRPr lang="en-US" sz="1100"/>
          </a:p>
        </p:txBody>
      </p:sp>
      <p:sp>
        <p:nvSpPr>
          <p:cNvPr id="28" name="Shape 26"/>
          <p:cNvSpPr/>
          <p:nvPr/>
        </p:nvSpPr>
        <p:spPr>
          <a:xfrm>
            <a:off x="8046720" y="4023360"/>
            <a:ext cx="777240" cy="438912"/>
          </a:xfrm>
          <a:prstGeom prst="rect">
            <a:avLst/>
          </a:prstGeom>
          <a:solidFill>
            <a:srgbClr val="00B8D4"/>
          </a:solidFill>
          <a:ln w="12700">
            <a:solidFill>
              <a:srgbClr val="00B8D4"/>
            </a:solidFill>
            <a:prstDash val="solid"/>
          </a:ln>
        </p:spPr>
        <p:txBody>
          <a:bodyPr/>
          <a:lstStyle/>
          <a:p>
            <a:endParaRPr lang="fr-FR"/>
          </a:p>
        </p:txBody>
      </p:sp>
      <p:sp>
        <p:nvSpPr>
          <p:cNvPr id="29" name="Text 27"/>
          <p:cNvSpPr/>
          <p:nvPr/>
        </p:nvSpPr>
        <p:spPr>
          <a:xfrm>
            <a:off x="8046720" y="402336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FINAL</a:t>
            </a:r>
            <a:endParaRPr lang="en-US" sz="900"/>
          </a:p>
        </p:txBody>
      </p:sp>
      <p:sp>
        <p:nvSpPr>
          <p:cNvPr id="30" name="Text 28"/>
          <p:cNvSpPr/>
          <p:nvPr/>
        </p:nvSpPr>
        <p:spPr>
          <a:xfrm>
            <a:off x="1417320" y="393192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Final Model Selection</a:t>
            </a:r>
            <a:endParaRPr lang="en-US" sz="1300"/>
          </a:p>
        </p:txBody>
      </p:sp>
      <p:sp>
        <p:nvSpPr>
          <p:cNvPr id="31" name="Text 29"/>
          <p:cNvSpPr/>
          <p:nvPr/>
        </p:nvSpPr>
        <p:spPr>
          <a:xfrm>
            <a:off x="1417320" y="424281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Complete pipeline comparison, final report, and this presentation</a:t>
            </a:r>
            <a:endParaRPr lang="en-US" sz="10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8D4"/>
          </a:solidFill>
          <a:ln w="12700">
            <a:solidFill>
              <a:srgbClr val="00B8D4"/>
            </a:solidFill>
            <a:prstDash val="solid"/>
          </a:ln>
        </p:spPr>
        <p:txBody>
          <a:bodyPr/>
          <a:lstStyle/>
          <a:p>
            <a:endParaRPr lang="fr-FR"/>
          </a:p>
        </p:txBody>
      </p:sp>
      <p:sp>
        <p:nvSpPr>
          <p:cNvPr id="3" name="Text 1"/>
          <p:cNvSpPr/>
          <p:nvPr/>
        </p:nvSpPr>
        <p:spPr>
          <a:xfrm>
            <a:off x="457200" y="320040"/>
            <a:ext cx="8229600" cy="365760"/>
          </a:xfrm>
          <a:prstGeom prst="rect">
            <a:avLst/>
          </a:prstGeom>
          <a:noFill/>
          <a:ln/>
        </p:spPr>
        <p:txBody>
          <a:bodyPr wrap="square" rtlCol="0" anchor="ctr"/>
          <a:lstStyle/>
          <a:p>
            <a:pPr marL="0" indent="0">
              <a:buNone/>
            </a:pPr>
            <a:r>
              <a:rPr lang="en-US" sz="1200" b="1" kern="0" spc="600">
                <a:solidFill>
                  <a:srgbClr val="00B8D4"/>
                </a:solidFill>
                <a:latin typeface="Calibri" pitchFamily="34" charset="0"/>
                <a:ea typeface="Calibri" pitchFamily="34" charset="-122"/>
                <a:cs typeface="Calibri" pitchFamily="34" charset="-120"/>
              </a:rPr>
              <a:t>CONCLUSIONS</a:t>
            </a:r>
            <a:endParaRPr lang="en-US" sz="1200"/>
          </a:p>
        </p:txBody>
      </p:sp>
      <p:sp>
        <p:nvSpPr>
          <p:cNvPr id="4" name="Text 2"/>
          <p:cNvSpPr/>
          <p:nvPr/>
        </p:nvSpPr>
        <p:spPr>
          <a:xfrm>
            <a:off x="457200" y="640080"/>
            <a:ext cx="8229600" cy="685800"/>
          </a:xfrm>
          <a:prstGeom prst="rect">
            <a:avLst/>
          </a:prstGeom>
          <a:noFill/>
          <a:ln/>
        </p:spPr>
        <p:txBody>
          <a:bodyPr wrap="square" rtlCol="0" anchor="ctr"/>
          <a:lstStyle/>
          <a:p>
            <a:pPr marL="0" indent="0">
              <a:buNone/>
            </a:pPr>
            <a:r>
              <a:rPr lang="en-US" sz="3600" b="1">
                <a:solidFill>
                  <a:srgbClr val="FFFFFF"/>
                </a:solidFill>
                <a:latin typeface="Calibri" pitchFamily="34" charset="0"/>
                <a:ea typeface="Calibri" pitchFamily="34" charset="-122"/>
                <a:cs typeface="Calibri" pitchFamily="34" charset="-120"/>
              </a:rPr>
              <a:t>Key Takeaways</a:t>
            </a:r>
            <a:endParaRPr lang="en-US" sz="3600"/>
          </a:p>
        </p:txBody>
      </p:sp>
      <p:sp>
        <p:nvSpPr>
          <p:cNvPr id="5" name="Shape 3"/>
          <p:cNvSpPr/>
          <p:nvPr/>
        </p:nvSpPr>
        <p:spPr>
          <a:xfrm>
            <a:off x="365760" y="1490472"/>
            <a:ext cx="438912" cy="438912"/>
          </a:xfrm>
          <a:prstGeom prst="ellipse">
            <a:avLst/>
          </a:prstGeom>
          <a:solidFill>
            <a:srgbClr val="00B8D4"/>
          </a:solidFill>
          <a:ln w="12700">
            <a:solidFill>
              <a:srgbClr val="00B8D4"/>
            </a:solidFill>
            <a:prstDash val="solid"/>
          </a:ln>
        </p:spPr>
        <p:txBody>
          <a:bodyPr/>
          <a:lstStyle/>
          <a:p>
            <a:endParaRPr lang="fr-FR"/>
          </a:p>
        </p:txBody>
      </p:sp>
      <p:sp>
        <p:nvSpPr>
          <p:cNvPr id="6" name="Text 4"/>
          <p:cNvSpPr/>
          <p:nvPr/>
        </p:nvSpPr>
        <p:spPr>
          <a:xfrm>
            <a:off x="365760" y="1490472"/>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01</a:t>
            </a:r>
            <a:endParaRPr lang="en-US" sz="1200"/>
          </a:p>
        </p:txBody>
      </p:sp>
      <p:sp>
        <p:nvSpPr>
          <p:cNvPr id="7" name="Text 5"/>
          <p:cNvSpPr/>
          <p:nvPr/>
        </p:nvSpPr>
        <p:spPr>
          <a:xfrm>
            <a:off x="960120" y="1472184"/>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Decision Tree is the best model — highest F1 (0.52), ROC-AUC (0.76), and lowest CV variance (±0.007)</a:t>
            </a:r>
            <a:endParaRPr lang="en-US" sz="1250"/>
          </a:p>
        </p:txBody>
      </p:sp>
      <p:sp>
        <p:nvSpPr>
          <p:cNvPr id="8" name="Shape 6"/>
          <p:cNvSpPr/>
          <p:nvPr/>
        </p:nvSpPr>
        <p:spPr>
          <a:xfrm>
            <a:off x="365760" y="2203704"/>
            <a:ext cx="438912" cy="438912"/>
          </a:xfrm>
          <a:prstGeom prst="ellipse">
            <a:avLst/>
          </a:prstGeom>
          <a:solidFill>
            <a:srgbClr val="00B8D4"/>
          </a:solidFill>
          <a:ln w="12700">
            <a:solidFill>
              <a:srgbClr val="00B8D4"/>
            </a:solidFill>
            <a:prstDash val="solid"/>
          </a:ln>
        </p:spPr>
        <p:txBody>
          <a:bodyPr/>
          <a:lstStyle/>
          <a:p>
            <a:endParaRPr lang="fr-FR"/>
          </a:p>
        </p:txBody>
      </p:sp>
      <p:sp>
        <p:nvSpPr>
          <p:cNvPr id="9" name="Text 7"/>
          <p:cNvSpPr/>
          <p:nvPr/>
        </p:nvSpPr>
        <p:spPr>
          <a:xfrm>
            <a:off x="365760" y="2203704"/>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02</a:t>
            </a:r>
            <a:endParaRPr lang="en-US" sz="1200"/>
          </a:p>
        </p:txBody>
      </p:sp>
      <p:sp>
        <p:nvSpPr>
          <p:cNvPr id="10" name="Text 8"/>
          <p:cNvSpPr/>
          <p:nvPr/>
        </p:nvSpPr>
        <p:spPr>
          <a:xfrm>
            <a:off x="960120" y="2185416"/>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PAY_0 is overwhelmingly dominant at 74.6% Gini importance — recent payment behavior is the best predictor</a:t>
            </a:r>
            <a:endParaRPr lang="en-US" sz="1250"/>
          </a:p>
        </p:txBody>
      </p:sp>
      <p:sp>
        <p:nvSpPr>
          <p:cNvPr id="11" name="Shape 9"/>
          <p:cNvSpPr/>
          <p:nvPr/>
        </p:nvSpPr>
        <p:spPr>
          <a:xfrm>
            <a:off x="365760" y="2916936"/>
            <a:ext cx="438912" cy="438912"/>
          </a:xfrm>
          <a:prstGeom prst="ellipse">
            <a:avLst/>
          </a:prstGeom>
          <a:solidFill>
            <a:srgbClr val="00B8D4"/>
          </a:solidFill>
          <a:ln w="12700">
            <a:solidFill>
              <a:srgbClr val="00B8D4"/>
            </a:solidFill>
            <a:prstDash val="solid"/>
          </a:ln>
        </p:spPr>
        <p:txBody>
          <a:bodyPr/>
          <a:lstStyle/>
          <a:p>
            <a:endParaRPr lang="fr-FR"/>
          </a:p>
        </p:txBody>
      </p:sp>
      <p:sp>
        <p:nvSpPr>
          <p:cNvPr id="12" name="Text 10"/>
          <p:cNvSpPr/>
          <p:nvPr/>
        </p:nvSpPr>
        <p:spPr>
          <a:xfrm>
            <a:off x="365760" y="2916936"/>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03</a:t>
            </a:r>
            <a:endParaRPr lang="en-US" sz="1200"/>
          </a:p>
        </p:txBody>
      </p:sp>
      <p:sp>
        <p:nvSpPr>
          <p:cNvPr id="13" name="Text 11"/>
          <p:cNvSpPr/>
          <p:nvPr/>
        </p:nvSpPr>
        <p:spPr>
          <a:xfrm>
            <a:off x="960120" y="2898648"/>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Linear models fail when classes aren't separable — PCA &amp; DT results both confirm non-linear boundaries</a:t>
            </a:r>
            <a:endParaRPr lang="en-US" sz="1250"/>
          </a:p>
        </p:txBody>
      </p:sp>
      <p:sp>
        <p:nvSpPr>
          <p:cNvPr id="14" name="Shape 12"/>
          <p:cNvSpPr/>
          <p:nvPr/>
        </p:nvSpPr>
        <p:spPr>
          <a:xfrm>
            <a:off x="365760" y="3630168"/>
            <a:ext cx="438912" cy="438912"/>
          </a:xfrm>
          <a:prstGeom prst="ellipse">
            <a:avLst/>
          </a:prstGeom>
          <a:solidFill>
            <a:srgbClr val="00B8D4"/>
          </a:solidFill>
          <a:ln w="12700">
            <a:solidFill>
              <a:srgbClr val="00B8D4"/>
            </a:solidFill>
            <a:prstDash val="solid"/>
          </a:ln>
        </p:spPr>
        <p:txBody>
          <a:bodyPr/>
          <a:lstStyle/>
          <a:p>
            <a:endParaRPr lang="fr-FR"/>
          </a:p>
        </p:txBody>
      </p:sp>
      <p:sp>
        <p:nvSpPr>
          <p:cNvPr id="15" name="Text 13"/>
          <p:cNvSpPr/>
          <p:nvPr/>
        </p:nvSpPr>
        <p:spPr>
          <a:xfrm>
            <a:off x="365760" y="3630168"/>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04</a:t>
            </a:r>
            <a:endParaRPr lang="en-US" sz="1200"/>
          </a:p>
        </p:txBody>
      </p:sp>
      <p:sp>
        <p:nvSpPr>
          <p:cNvPr id="16" name="Text 14"/>
          <p:cNvSpPr/>
          <p:nvPr/>
        </p:nvSpPr>
        <p:spPr>
          <a:xfrm>
            <a:off x="960120" y="3611880"/>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Class imbalance must be handled — balanced weighting was critical; SMOTE tested in final stage</a:t>
            </a:r>
            <a:endParaRPr lang="en-US" sz="1250"/>
          </a:p>
        </p:txBody>
      </p:sp>
      <p:sp>
        <p:nvSpPr>
          <p:cNvPr id="17" name="Shape 15"/>
          <p:cNvSpPr/>
          <p:nvPr/>
        </p:nvSpPr>
        <p:spPr>
          <a:xfrm>
            <a:off x="365760" y="4343400"/>
            <a:ext cx="438912" cy="438912"/>
          </a:xfrm>
          <a:prstGeom prst="ellipse">
            <a:avLst/>
          </a:prstGeom>
          <a:solidFill>
            <a:srgbClr val="00B8D4"/>
          </a:solidFill>
          <a:ln w="12700">
            <a:solidFill>
              <a:srgbClr val="00B8D4"/>
            </a:solidFill>
            <a:prstDash val="solid"/>
          </a:ln>
        </p:spPr>
        <p:txBody>
          <a:bodyPr/>
          <a:lstStyle/>
          <a:p>
            <a:endParaRPr lang="fr-FR"/>
          </a:p>
        </p:txBody>
      </p:sp>
      <p:sp>
        <p:nvSpPr>
          <p:cNvPr id="18" name="Text 16"/>
          <p:cNvSpPr/>
          <p:nvPr/>
        </p:nvSpPr>
        <p:spPr>
          <a:xfrm>
            <a:off x="365760" y="4343400"/>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05</a:t>
            </a:r>
            <a:endParaRPr lang="en-US" sz="1200"/>
          </a:p>
        </p:txBody>
      </p:sp>
      <p:sp>
        <p:nvSpPr>
          <p:cNvPr id="19" name="Text 17"/>
          <p:cNvSpPr/>
          <p:nvPr/>
        </p:nvSpPr>
        <p:spPr>
          <a:xfrm>
            <a:off x="960120" y="4325112"/>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Recall vs. Precision trade-off is domain-specific — for banks, missing a defaulter is riskier than a false flag</a:t>
            </a:r>
            <a:endParaRPr lang="en-US" sz="1250"/>
          </a:p>
        </p:txBody>
      </p:sp>
      <p:sp>
        <p:nvSpPr>
          <p:cNvPr id="20" name="Shape 18"/>
          <p:cNvSpPr/>
          <p:nvPr/>
        </p:nvSpPr>
        <p:spPr>
          <a:xfrm>
            <a:off x="0" y="4983480"/>
            <a:ext cx="9144000" cy="54864"/>
          </a:xfrm>
          <a:prstGeom prst="rect">
            <a:avLst/>
          </a:prstGeom>
          <a:solidFill>
            <a:srgbClr val="00B8D4"/>
          </a:solidFill>
          <a:ln w="12700">
            <a:solidFill>
              <a:srgbClr val="00B8D4"/>
            </a:solidFill>
            <a:prstDash val="solid"/>
          </a:ln>
        </p:spPr>
        <p:txBody>
          <a:bodyPr/>
          <a:lstStyle/>
          <a:p>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AI Citations and References">
    <p:bg>
      <p:bgPr>
        <a:solidFill>
          <a:srgbClr val="0D2137"/>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00B8D4"/>
          </a:solidFill>
          <a:ln w="12700">
            <a:solidFill>
              <a:srgbClr val="00B8D4"/>
            </a:solidFill>
            <a:prstDash val="solid"/>
          </a:ln>
        </p:spPr>
        <p:txBody>
          <a:bodyPr/>
          <a:lstStyle/>
          <a:p>
            <a:endParaRPr lang="fr-FR"/>
          </a:p>
        </p:txBody>
      </p:sp>
      <p:sp>
        <p:nvSpPr>
          <p:cNvPr id="3" name="Label"/>
          <p:cNvSpPr/>
          <p:nvPr/>
        </p:nvSpPr>
        <p:spPr>
          <a:xfrm>
            <a:off x="457200" y="310000"/>
            <a:ext cx="8229600" cy="280000"/>
          </a:xfrm>
          <a:prstGeom prst="rect">
            <a:avLst/>
          </a:prstGeom>
          <a:noFill/>
          <a:ln>
            <a:noFill/>
          </a:ln>
        </p:spPr>
        <p:txBody>
          <a:bodyPr anchor="ctr"/>
          <a:lstStyle/>
          <a:p>
            <a:pPr algn="l"/>
            <a:r>
              <a:rPr lang="en-US" sz="1000" b="1" spc="500" dirty="0">
                <a:solidFill>
                  <a:srgbClr val="00B8D4"/>
                </a:solidFill>
                <a:latin typeface="Calibri"/>
              </a:rPr>
              <a:t>AI DECLARATION  |  CITATIONS &amp; REFERENCES</a:t>
            </a:r>
          </a:p>
        </p:txBody>
      </p:sp>
      <p:sp>
        <p:nvSpPr>
          <p:cNvPr id="4" name="Title"/>
          <p:cNvSpPr/>
          <p:nvPr/>
        </p:nvSpPr>
        <p:spPr>
          <a:xfrm>
            <a:off x="457200" y="570000"/>
            <a:ext cx="8229600" cy="510000"/>
          </a:xfrm>
          <a:prstGeom prst="rect">
            <a:avLst/>
          </a:prstGeom>
          <a:noFill/>
          <a:ln>
            <a:noFill/>
          </a:ln>
        </p:spPr>
        <p:txBody>
          <a:bodyPr anchor="ctr"/>
          <a:lstStyle/>
          <a:p>
            <a:pPr algn="l"/>
            <a:r>
              <a:rPr lang="en-US" sz="3000" b="1" dirty="0">
                <a:solidFill>
                  <a:srgbClr val="FFFFFF"/>
                </a:solidFill>
                <a:latin typeface="Calibri"/>
              </a:rPr>
              <a:t>Sources, Tools &amp; Acknowledgements</a:t>
            </a:r>
          </a:p>
        </p:txBody>
      </p:sp>
      <p:sp>
        <p:nvSpPr>
          <p:cNvPr id="5" name="Divider"/>
          <p:cNvSpPr/>
          <p:nvPr/>
        </p:nvSpPr>
        <p:spPr>
          <a:xfrm>
            <a:off x="457200" y="1130000"/>
            <a:ext cx="3000000" cy="36576"/>
          </a:xfrm>
          <a:prstGeom prst="rect">
            <a:avLst/>
          </a:prstGeom>
          <a:solidFill>
            <a:srgbClr val="00B8D4"/>
          </a:solidFill>
          <a:ln w="12700">
            <a:solidFill>
              <a:srgbClr val="00B8D4"/>
            </a:solidFill>
            <a:prstDash val="solid"/>
          </a:ln>
        </p:spPr>
        <p:txBody>
          <a:bodyPr/>
          <a:lstStyle/>
          <a:p>
            <a:endParaRPr lang="fr-FR"/>
          </a:p>
        </p:txBody>
      </p:sp>
      <p:sp>
        <p:nvSpPr>
          <p:cNvPr id="6" name="AIBox"/>
          <p:cNvSpPr/>
          <p:nvPr/>
        </p:nvSpPr>
        <p:spPr>
          <a:xfrm>
            <a:off x="457200" y="1220000"/>
            <a:ext cx="3886200" cy="3630000"/>
          </a:xfrm>
          <a:prstGeom prst="rect">
            <a:avLst/>
          </a:prstGeom>
          <a:solidFill>
            <a:srgbClr val="132840"/>
          </a:solidFill>
          <a:ln w="9525">
            <a:solidFill>
              <a:srgbClr val="1F4A7A"/>
            </a:solidFill>
            <a:prstDash val="solid"/>
          </a:ln>
        </p:spPr>
        <p:txBody>
          <a:bodyPr/>
          <a:lstStyle/>
          <a:p>
            <a:endParaRPr lang="fr-FR"/>
          </a:p>
        </p:txBody>
      </p:sp>
      <p:sp>
        <p:nvSpPr>
          <p:cNvPr id="7" name="AIAccent"/>
          <p:cNvSpPr/>
          <p:nvPr/>
        </p:nvSpPr>
        <p:spPr>
          <a:xfrm>
            <a:off x="457200" y="1220000"/>
            <a:ext cx="54864" cy="3630000"/>
          </a:xfrm>
          <a:prstGeom prst="rect">
            <a:avLst/>
          </a:prstGeom>
          <a:solidFill>
            <a:srgbClr val="FFB300"/>
          </a:solidFill>
          <a:ln w="9525">
            <a:solidFill>
              <a:srgbClr val="FFB300"/>
            </a:solidFill>
            <a:prstDash val="solid"/>
          </a:ln>
        </p:spPr>
        <p:txBody>
          <a:bodyPr/>
          <a:lstStyle/>
          <a:p>
            <a:endParaRPr lang="fr-FR"/>
          </a:p>
        </p:txBody>
      </p:sp>
      <p:sp>
        <p:nvSpPr>
          <p:cNvPr id="8" name="AIText"/>
          <p:cNvSpPr/>
          <p:nvPr/>
        </p:nvSpPr>
        <p:spPr>
          <a:xfrm>
            <a:off x="580000" y="1260000"/>
            <a:ext cx="3740000" cy="3570000"/>
          </a:xfrm>
          <a:prstGeom prst="rect">
            <a:avLst/>
          </a:prstGeom>
          <a:noFill/>
          <a:ln>
            <a:noFill/>
          </a:ln>
        </p:spPr>
        <p:txBody>
          <a:bodyPr wrap="square" anchor="t"/>
          <a:lstStyle/>
          <a:p>
            <a:r>
              <a:rPr lang="en-US" sz="1000" b="1" spc="200" dirty="0">
                <a:solidFill>
                  <a:srgbClr val="FFB300"/>
                </a:solidFill>
                <a:latin typeface="Calibri"/>
              </a:rPr>
              <a:t>AI TOOL DECLARATION</a:t>
            </a:r>
          </a:p>
          <a:p>
            <a:endParaRPr lang="en-US" sz="700" dirty="0">
              <a:latin typeface="Calibri"/>
            </a:endParaRPr>
          </a:p>
          <a:p>
            <a:r>
              <a:rPr lang="en-US" sz="1050" b="1" dirty="0">
                <a:solidFill>
                  <a:srgbClr val="FFFFFF"/>
                </a:solidFill>
                <a:latin typeface="Calibri"/>
              </a:rPr>
              <a:t>Tool Used</a:t>
            </a:r>
          </a:p>
          <a:p>
            <a:r>
              <a:rPr lang="en-US" sz="950" dirty="0">
                <a:solidFill>
                  <a:srgbClr val="4FC3F7"/>
                </a:solidFill>
                <a:latin typeface="Calibri"/>
              </a:rPr>
              <a:t>Claude (Anthropic) via claude.ai — Group 3 Declaration</a:t>
            </a:r>
          </a:p>
          <a:p>
            <a:endParaRPr lang="en-US" sz="700" dirty="0">
              <a:latin typeface="Calibri"/>
            </a:endParaRPr>
          </a:p>
          <a:p>
            <a:r>
              <a:rPr lang="en-US" sz="1050" b="1" dirty="0">
                <a:solidFill>
                  <a:srgbClr val="FFFFFF"/>
                </a:solidFill>
                <a:latin typeface="Calibri"/>
              </a:rPr>
              <a:t>Scope of AI Assistance</a:t>
            </a:r>
          </a:p>
          <a:p>
            <a:r>
              <a:rPr lang="en-US" sz="950" dirty="0">
                <a:solidFill>
                  <a:srgbClr val="4FC3F7"/>
                </a:solidFill>
                <a:latin typeface="Calibri"/>
              </a:rPr>
              <a:t>Python notebook boilerplate; preprocessing templates (StandardScaler, train/test split); baseline model setup; matplotlib and seaborn visualization scaffolding.</a:t>
            </a:r>
          </a:p>
          <a:p>
            <a:endParaRPr lang="en-US" sz="700" dirty="0">
              <a:latin typeface="Calibri"/>
            </a:endParaRPr>
          </a:p>
          <a:p>
            <a:r>
              <a:rPr lang="en-US" sz="1050" b="1" dirty="0">
                <a:solidFill>
                  <a:srgbClr val="FFFFFF"/>
                </a:solidFill>
                <a:latin typeface="Calibri"/>
              </a:rPr>
              <a:t>Team Contribution</a:t>
            </a:r>
          </a:p>
          <a:p>
            <a:r>
              <a:rPr lang="en-US" sz="950" dirty="0">
                <a:solidFill>
                  <a:srgbClr val="4FC3F7"/>
                </a:solidFill>
                <a:latin typeface="Calibri"/>
              </a:rPr>
              <a:t>All code reviewed, modified, and executed by the team. All model interpretation, feature importance analysis, PCA analysis, and written conclusions are original team work.</a:t>
            </a:r>
          </a:p>
          <a:p>
            <a:endParaRPr lang="en-US" sz="700" dirty="0">
              <a:latin typeface="Calibri"/>
            </a:endParaRPr>
          </a:p>
          <a:p>
            <a:r>
              <a:rPr lang="en-US" sz="1050" b="1" dirty="0">
                <a:solidFill>
                  <a:srgbClr val="FFFFFF"/>
                </a:solidFill>
                <a:latin typeface="Calibri"/>
              </a:rPr>
              <a:t>Evidence</a:t>
            </a:r>
          </a:p>
          <a:p>
            <a:r>
              <a:rPr lang="en-US" sz="950" dirty="0">
                <a:solidFill>
                  <a:srgbClr val="4FC3F7"/>
                </a:solidFill>
                <a:latin typeface="Calibri"/>
              </a:rPr>
              <a:t>CreditDefault_ML_Analysis.ipynb in the project GitHub repository contains the AI-assisted code structure alongside the team’s original analytical work.</a:t>
            </a:r>
          </a:p>
        </p:txBody>
      </p:sp>
      <p:sp>
        <p:nvSpPr>
          <p:cNvPr id="9" name="RefsBox"/>
          <p:cNvSpPr/>
          <p:nvPr/>
        </p:nvSpPr>
        <p:spPr>
          <a:xfrm>
            <a:off x="4572000" y="1220000"/>
            <a:ext cx="4115880" cy="3630000"/>
          </a:xfrm>
          <a:prstGeom prst="rect">
            <a:avLst/>
          </a:prstGeom>
          <a:solidFill>
            <a:srgbClr val="132840"/>
          </a:solidFill>
          <a:ln w="9525">
            <a:solidFill>
              <a:srgbClr val="1F4A7A"/>
            </a:solidFill>
            <a:prstDash val="solid"/>
          </a:ln>
        </p:spPr>
        <p:txBody>
          <a:bodyPr/>
          <a:lstStyle/>
          <a:p>
            <a:endParaRPr lang="fr-FR"/>
          </a:p>
        </p:txBody>
      </p:sp>
      <p:sp>
        <p:nvSpPr>
          <p:cNvPr id="10" name="RefsAccent"/>
          <p:cNvSpPr/>
          <p:nvPr/>
        </p:nvSpPr>
        <p:spPr>
          <a:xfrm>
            <a:off x="4572000" y="1220000"/>
            <a:ext cx="54864" cy="3630000"/>
          </a:xfrm>
          <a:prstGeom prst="rect">
            <a:avLst/>
          </a:prstGeom>
          <a:solidFill>
            <a:srgbClr val="00B8D4"/>
          </a:solidFill>
          <a:ln w="9525">
            <a:solidFill>
              <a:srgbClr val="00B8D4"/>
            </a:solidFill>
            <a:prstDash val="solid"/>
          </a:ln>
        </p:spPr>
        <p:txBody>
          <a:bodyPr/>
          <a:lstStyle/>
          <a:p>
            <a:endParaRPr lang="fr-FR"/>
          </a:p>
        </p:txBody>
      </p:sp>
      <p:sp>
        <p:nvSpPr>
          <p:cNvPr id="11" name="RefsText"/>
          <p:cNvSpPr/>
          <p:nvPr/>
        </p:nvSpPr>
        <p:spPr>
          <a:xfrm>
            <a:off x="4695000" y="1260000"/>
            <a:ext cx="3970000" cy="3570000"/>
          </a:xfrm>
          <a:prstGeom prst="rect">
            <a:avLst/>
          </a:prstGeom>
          <a:noFill/>
          <a:ln>
            <a:noFill/>
          </a:ln>
        </p:spPr>
        <p:txBody>
          <a:bodyPr wrap="square" anchor="t"/>
          <a:lstStyle/>
          <a:p>
            <a:r>
              <a:rPr lang="en-US" sz="1000" b="1" spc="200" dirty="0">
                <a:solidFill>
                  <a:srgbClr val="00B8D4"/>
                </a:solidFill>
                <a:latin typeface="Calibri"/>
              </a:rPr>
              <a:t>ACADEMIC REFERENCES</a:t>
            </a:r>
          </a:p>
          <a:p>
            <a:endParaRPr lang="en-US" sz="700" dirty="0">
              <a:latin typeface="Calibri"/>
            </a:endParaRPr>
          </a:p>
          <a:p>
            <a:r>
              <a:rPr lang="en-US" sz="920" dirty="0">
                <a:solidFill>
                  <a:srgbClr val="4FC3F7"/>
                </a:solidFill>
                <a:latin typeface="Calibri"/>
              </a:rPr>
              <a:t>Yeh, I. C., &amp; Lien, C. H. (2009). The comparisons of data mining techniques for the predictive accuracy of probability of default of credit card clients. </a:t>
            </a:r>
            <a:r>
              <a:rPr lang="en-US" sz="920" i="1" dirty="0">
                <a:solidFill>
                  <a:srgbClr val="4FC3F7"/>
                </a:solidFill>
                <a:latin typeface="Calibri"/>
              </a:rPr>
              <a:t>Expert Systems with Applications, 36</a:t>
            </a:r>
            <a:r>
              <a:rPr lang="en-US" sz="920" dirty="0">
                <a:solidFill>
                  <a:srgbClr val="4FC3F7"/>
                </a:solidFill>
                <a:latin typeface="Calibri"/>
              </a:rPr>
              <a:t>(2), 2473–2480.</a:t>
            </a:r>
          </a:p>
          <a:p>
            <a:endParaRPr lang="en-US" sz="700" dirty="0">
              <a:latin typeface="Calibri"/>
            </a:endParaRPr>
          </a:p>
          <a:p>
            <a:r>
              <a:rPr lang="en-US" sz="920" dirty="0">
                <a:solidFill>
                  <a:srgbClr val="4FC3F7"/>
                </a:solidFill>
                <a:latin typeface="Calibri"/>
              </a:rPr>
              <a:t>UCI Machine Learning Repository. (2016). </a:t>
            </a:r>
            <a:r>
              <a:rPr lang="en-US" sz="920" i="1" dirty="0">
                <a:solidFill>
                  <a:srgbClr val="4FC3F7"/>
                </a:solidFill>
                <a:latin typeface="Calibri"/>
              </a:rPr>
              <a:t>Default of Credit Card Clients</a:t>
            </a:r>
            <a:r>
              <a:rPr lang="en-US" sz="920" dirty="0">
                <a:solidFill>
                  <a:srgbClr val="4FC3F7"/>
                </a:solidFill>
                <a:latin typeface="Calibri"/>
              </a:rPr>
              <a:t> [Dataset ID 350]. archive.ics.uci.edu/dataset/350</a:t>
            </a:r>
          </a:p>
          <a:p>
            <a:endParaRPr lang="en-US" sz="700" dirty="0">
              <a:latin typeface="Calibri"/>
            </a:endParaRPr>
          </a:p>
          <a:p>
            <a:r>
              <a:rPr lang="en-US" sz="920" dirty="0">
                <a:solidFill>
                  <a:srgbClr val="4FC3F7"/>
                </a:solidFill>
                <a:latin typeface="Calibri"/>
              </a:rPr>
              <a:t>Pedregosa, F., et al. (2011). Scikit-learn: Machine Learning in Python. </a:t>
            </a:r>
            <a:r>
              <a:rPr lang="en-US" sz="920" i="1" dirty="0">
                <a:solidFill>
                  <a:srgbClr val="4FC3F7"/>
                </a:solidFill>
                <a:latin typeface="Calibri"/>
              </a:rPr>
              <a:t>JMLR, 12</a:t>
            </a:r>
            <a:r>
              <a:rPr lang="en-US" sz="920" dirty="0">
                <a:solidFill>
                  <a:srgbClr val="4FC3F7"/>
                </a:solidFill>
                <a:latin typeface="Calibri"/>
              </a:rPr>
              <a:t>, 2825–2830.</a:t>
            </a:r>
          </a:p>
          <a:p>
            <a:endParaRPr lang="en-US" sz="700" dirty="0">
              <a:latin typeface="Calibri"/>
            </a:endParaRPr>
          </a:p>
          <a:p>
            <a:r>
              <a:rPr lang="en-US" sz="920" dirty="0">
                <a:solidFill>
                  <a:srgbClr val="4FC3F7"/>
                </a:solidFill>
                <a:latin typeface="Calibri"/>
              </a:rPr>
              <a:t>Harris, C. R., et al. (2020). Array programming with NumPy. </a:t>
            </a:r>
            <a:r>
              <a:rPr lang="en-US" sz="920" i="1" dirty="0">
                <a:solidFill>
                  <a:srgbClr val="4FC3F7"/>
                </a:solidFill>
                <a:latin typeface="Calibri"/>
              </a:rPr>
              <a:t>Nature, 585</a:t>
            </a:r>
            <a:r>
              <a:rPr lang="en-US" sz="920" dirty="0">
                <a:solidFill>
                  <a:srgbClr val="4FC3F7"/>
                </a:solidFill>
                <a:latin typeface="Calibri"/>
              </a:rPr>
              <a:t>, 357–362.</a:t>
            </a:r>
          </a:p>
          <a:p>
            <a:endParaRPr lang="en-US" sz="700" dirty="0">
              <a:latin typeface="Calibri"/>
            </a:endParaRPr>
          </a:p>
          <a:p>
            <a:r>
              <a:rPr lang="en-US" sz="920" dirty="0">
                <a:solidFill>
                  <a:srgbClr val="4FC3F7"/>
                </a:solidFill>
                <a:latin typeface="Calibri"/>
              </a:rPr>
              <a:t>Hunter, J. D. (2007). Matplotlib: A 2D graphics environment. </a:t>
            </a:r>
            <a:r>
              <a:rPr lang="en-US" sz="920" i="1" dirty="0">
                <a:solidFill>
                  <a:srgbClr val="4FC3F7"/>
                </a:solidFill>
                <a:latin typeface="Calibri"/>
              </a:rPr>
              <a:t>Computing in Science &amp; Engineering, 9</a:t>
            </a:r>
            <a:r>
              <a:rPr lang="en-US" sz="920" dirty="0">
                <a:solidFill>
                  <a:srgbClr val="4FC3F7"/>
                </a:solidFill>
                <a:latin typeface="Calibri"/>
              </a:rPr>
              <a:t>(3), 90–95.</a:t>
            </a:r>
          </a:p>
          <a:p>
            <a:endParaRPr lang="en-US" sz="700" dirty="0">
              <a:latin typeface="Calibri"/>
            </a:endParaRPr>
          </a:p>
          <a:p>
            <a:r>
              <a:rPr lang="en-US" sz="920" dirty="0">
                <a:solidFill>
                  <a:srgbClr val="4FC3F7"/>
                </a:solidFill>
                <a:latin typeface="Calibri"/>
              </a:rPr>
              <a:t>Waskom, M. L. (2021). seaborn: statistical data visualization. </a:t>
            </a:r>
            <a:r>
              <a:rPr lang="en-US" sz="920" i="1" dirty="0">
                <a:solidFill>
                  <a:srgbClr val="4FC3F7"/>
                </a:solidFill>
                <a:latin typeface="Calibri"/>
              </a:rPr>
              <a:t>JOSS, 6</a:t>
            </a:r>
            <a:r>
              <a:rPr lang="en-US" sz="920" dirty="0">
                <a:solidFill>
                  <a:srgbClr val="4FC3F7"/>
                </a:solidFill>
                <a:latin typeface="Calibri"/>
              </a:rPr>
              <a:t>(60), 3021.</a:t>
            </a:r>
          </a:p>
          <a:p>
            <a:endParaRPr lang="en-US" sz="700" dirty="0">
              <a:latin typeface="Calibri"/>
            </a:endParaRPr>
          </a:p>
          <a:p>
            <a:r>
              <a:rPr lang="en-US" sz="920" dirty="0">
                <a:solidFill>
                  <a:srgbClr val="4FC3F7"/>
                </a:solidFill>
                <a:latin typeface="Calibri"/>
              </a:rPr>
              <a:t>Pandas Development Team. (2024). </a:t>
            </a:r>
            <a:r>
              <a:rPr lang="en-US" sz="920" i="1" dirty="0">
                <a:solidFill>
                  <a:srgbClr val="4FC3F7"/>
                </a:solidFill>
                <a:latin typeface="Calibri"/>
              </a:rPr>
              <a:t>pandas: powerful Python data analysis toolkit</a:t>
            </a:r>
            <a:r>
              <a:rPr lang="en-US" sz="920" dirty="0">
                <a:solidFill>
                  <a:srgbClr val="4FC3F7"/>
                </a:solidFill>
                <a:latin typeface="Calibri"/>
              </a:rPr>
              <a:t> (v2.x). pandas.pydata.org</a:t>
            </a:r>
          </a:p>
        </p:txBody>
      </p:sp>
      <p:sp>
        <p:nvSpPr>
          <p:cNvPr id="12" name="BotBar"/>
          <p:cNvSpPr/>
          <p:nvPr/>
        </p:nvSpPr>
        <p:spPr>
          <a:xfrm>
            <a:off x="0" y="5088636"/>
            <a:ext cx="9144000" cy="54864"/>
          </a:xfrm>
          <a:prstGeom prst="rect">
            <a:avLst/>
          </a:prstGeom>
          <a:solidFill>
            <a:srgbClr val="00B8D4"/>
          </a:solidFill>
          <a:ln w="12700">
            <a:solidFill>
              <a:srgbClr val="00B8D4"/>
            </a:solidFill>
            <a:prstDash val="solid"/>
          </a:ln>
        </p:spPr>
        <p:txBody>
          <a:bodyPr/>
          <a:lstStyle/>
          <a:p>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2743200" y="548640"/>
            <a:ext cx="3657600" cy="3657600"/>
          </a:xfrm>
          <a:prstGeom prst="ellipse">
            <a:avLst/>
          </a:prstGeom>
          <a:solidFill>
            <a:srgbClr val="132840"/>
          </a:solidFill>
          <a:ln w="12700">
            <a:solidFill>
              <a:srgbClr val="1F4A7A"/>
            </a:solidFill>
            <a:prstDash val="solid"/>
          </a:ln>
        </p:spPr>
        <p:txBody>
          <a:bodyPr/>
          <a:lstStyle/>
          <a:p>
            <a:endParaRPr lang="fr-FR"/>
          </a:p>
        </p:txBody>
      </p:sp>
      <p:sp>
        <p:nvSpPr>
          <p:cNvPr id="3" name="Text 1"/>
          <p:cNvSpPr/>
          <p:nvPr/>
        </p:nvSpPr>
        <p:spPr>
          <a:xfrm>
            <a:off x="457200" y="1188720"/>
            <a:ext cx="8229600" cy="914400"/>
          </a:xfrm>
          <a:prstGeom prst="rect">
            <a:avLst/>
          </a:prstGeom>
          <a:noFill/>
          <a:ln/>
        </p:spPr>
        <p:txBody>
          <a:bodyPr wrap="square" rtlCol="0" anchor="ctr"/>
          <a:lstStyle/>
          <a:p>
            <a:pPr marL="0" indent="0" algn="ctr">
              <a:buNone/>
            </a:pPr>
            <a:r>
              <a:rPr lang="en-US" sz="4800" b="1">
                <a:solidFill>
                  <a:srgbClr val="FFFFFF"/>
                </a:solidFill>
                <a:latin typeface="Calibri" pitchFamily="34" charset="0"/>
                <a:ea typeface="Calibri" pitchFamily="34" charset="-122"/>
                <a:cs typeface="Calibri" pitchFamily="34" charset="-120"/>
              </a:rPr>
              <a:t>Thank You</a:t>
            </a:r>
            <a:endParaRPr lang="en-US" sz="4800"/>
          </a:p>
        </p:txBody>
      </p:sp>
      <p:sp>
        <p:nvSpPr>
          <p:cNvPr id="4" name="Text 2"/>
          <p:cNvSpPr/>
          <p:nvPr/>
        </p:nvSpPr>
        <p:spPr>
          <a:xfrm>
            <a:off x="457200" y="2103120"/>
            <a:ext cx="8229600" cy="502920"/>
          </a:xfrm>
          <a:prstGeom prst="rect">
            <a:avLst/>
          </a:prstGeom>
          <a:noFill/>
          <a:ln/>
        </p:spPr>
        <p:txBody>
          <a:bodyPr wrap="square" rtlCol="0" anchor="ctr"/>
          <a:lstStyle/>
          <a:p>
            <a:pPr marL="0" indent="0" algn="ctr">
              <a:buNone/>
            </a:pPr>
            <a:r>
              <a:rPr lang="en-US" sz="2000">
                <a:solidFill>
                  <a:srgbClr val="00B8D4"/>
                </a:solidFill>
                <a:latin typeface="Calibri" pitchFamily="34" charset="0"/>
                <a:ea typeface="Calibri" pitchFamily="34" charset="-122"/>
                <a:cs typeface="Calibri" pitchFamily="34" charset="-120"/>
              </a:rPr>
              <a:t>Questions &amp; Discussion</a:t>
            </a:r>
            <a:endParaRPr lang="en-US" sz="2000"/>
          </a:p>
        </p:txBody>
      </p:sp>
      <p:sp>
        <p:nvSpPr>
          <p:cNvPr id="5" name="Shape 3"/>
          <p:cNvSpPr/>
          <p:nvPr/>
        </p:nvSpPr>
        <p:spPr>
          <a:xfrm>
            <a:off x="3200400" y="2743200"/>
            <a:ext cx="2743200" cy="36576"/>
          </a:xfrm>
          <a:prstGeom prst="rect">
            <a:avLst/>
          </a:prstGeom>
          <a:solidFill>
            <a:srgbClr val="00B8D4"/>
          </a:solidFill>
          <a:ln w="12700">
            <a:solidFill>
              <a:srgbClr val="00B8D4"/>
            </a:solidFill>
            <a:prstDash val="solid"/>
          </a:ln>
        </p:spPr>
        <p:txBody>
          <a:bodyPr/>
          <a:lstStyle/>
          <a:p>
            <a:endParaRPr lang="fr-FR"/>
          </a:p>
        </p:txBody>
      </p:sp>
      <p:sp>
        <p:nvSpPr>
          <p:cNvPr id="6" name="Text 4"/>
          <p:cNvSpPr/>
          <p:nvPr/>
        </p:nvSpPr>
        <p:spPr>
          <a:xfrm>
            <a:off x="457200" y="2926080"/>
            <a:ext cx="8229600" cy="320040"/>
          </a:xfrm>
          <a:prstGeom prst="rect">
            <a:avLst/>
          </a:prstGeom>
          <a:noFill/>
          <a:ln/>
        </p:spPr>
        <p:txBody>
          <a:bodyPr wrap="square" rtlCol="0" anchor="ctr"/>
          <a:lstStyle/>
          <a:p>
            <a:pPr marL="0" indent="0" algn="ctr">
              <a:buNone/>
            </a:pPr>
            <a:r>
              <a:rPr lang="en-US" sz="1200">
                <a:solidFill>
                  <a:srgbClr val="546E7A"/>
                </a:solidFill>
                <a:latin typeface="Calibri" pitchFamily="34" charset="0"/>
                <a:ea typeface="Calibri" pitchFamily="34" charset="-122"/>
                <a:cs typeface="Calibri" pitchFamily="34" charset="-120"/>
              </a:rPr>
              <a:t>Group 3  |  BFOR 516  |  Spring 2026</a:t>
            </a:r>
            <a:endParaRPr lang="en-US" sz="1200"/>
          </a:p>
        </p:txBody>
      </p:sp>
      <p:sp>
        <p:nvSpPr>
          <p:cNvPr id="7" name="Text 5"/>
          <p:cNvSpPr/>
          <p:nvPr/>
        </p:nvSpPr>
        <p:spPr>
          <a:xfrm>
            <a:off x="457200" y="4480560"/>
            <a:ext cx="8229600" cy="256032"/>
          </a:xfrm>
          <a:prstGeom prst="rect">
            <a:avLst/>
          </a:prstGeom>
          <a:noFill/>
          <a:ln/>
        </p:spPr>
        <p:txBody>
          <a:bodyPr wrap="square" rtlCol="0" anchor="ctr"/>
          <a:lstStyle/>
          <a:p>
            <a:pPr marL="0" indent="0" algn="ctr">
              <a:buNone/>
            </a:pPr>
            <a:r>
              <a:rPr lang="en-US" sz="1000">
                <a:solidFill>
                  <a:srgbClr val="2A4A6A"/>
                </a:solidFill>
                <a:latin typeface="Calibri" pitchFamily="34" charset="0"/>
                <a:ea typeface="Calibri" pitchFamily="34" charset="-122"/>
                <a:cs typeface="Calibri" pitchFamily="34" charset="-120"/>
              </a:rPr>
              <a:t>Dataset: UCI Default of Credit Card Clients  |  Yeh &amp; Lien (2009)</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5416</Words>
  <Application>Microsoft Office PowerPoint</Application>
  <PresentationFormat>Affichage à l'écran (16:9)</PresentationFormat>
  <Paragraphs>351</Paragraphs>
  <Slides>15</Slides>
  <Notes>15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15</vt:i4>
      </vt:variant>
    </vt:vector>
  </HeadingPairs>
  <TitlesOfParts>
    <vt:vector size="1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Credit Card Defaults - Group 3 Milestone 3</dc:title>
  <dc:subject>PptxGenJS Presentation</dc:subject>
  <dc:creator>PptxGenJS</dc:creator>
  <cp:lastModifiedBy>Kone, Spencer</cp:lastModifiedBy>
  <cp:revision>1</cp:revision>
  <dcterms:created xsi:type="dcterms:W3CDTF">2026-04-21T02:57:56Z</dcterms:created>
  <dcterms:modified xsi:type="dcterms:W3CDTF">2026-04-28T22:32:44Z</dcterms:modified>
</cp:coreProperties>
</file>