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charts/chart1.xml" ContentType="application/vnd.openxmlformats-officedocument.drawingml.chart+xml"/>
  <Override PartName="/ppt/notesSlides/notesSlide9.xml" ContentType="application/vnd.openxmlformats-officedocument.presentationml.notesSlide+xml"/>
  <Override PartName="/ppt/charts/chart2.xml" ContentType="application/vnd.openxmlformats-officedocument.drawingml.chart+xml"/>
  <Override PartName="/ppt/notesSlides/notesSlide10.xml" ContentType="application/vnd.openxmlformats-officedocument.presentationml.notesSlide+xml"/>
  <Override PartName="/ppt/charts/chart3.xml" ContentType="application/vnd.openxmlformats-officedocument.drawingml.chart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6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EB9B67E4-5983-0066-EDB6-5BD4D10F0685}" v="12" dt="2026-04-21T03:21:32.054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21" Type="http://schemas.microsoft.com/office/2016/11/relationships/changesInfo" Target="changesInfos/changesInfo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notesMaster" Target="notesMasters/notesMaster1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Bahar, Muhammad H" userId="S::mbahar@albany.edu::84031f88-3164-421f-897b-6250739e55f4" providerId="AD" clId="Web-{EB9B67E4-5983-0066-EDB6-5BD4D10F0685}"/>
    <pc:docChg chg="modSld">
      <pc:chgData name="Bahar, Muhammad H" userId="S::mbahar@albany.edu::84031f88-3164-421f-897b-6250739e55f4" providerId="AD" clId="Web-{EB9B67E4-5983-0066-EDB6-5BD4D10F0685}" dt="2026-04-21T03:21:32.054" v="11" actId="14100"/>
      <pc:docMkLst>
        <pc:docMk/>
      </pc:docMkLst>
      <pc:sldChg chg="modSp">
        <pc:chgData name="Bahar, Muhammad H" userId="S::mbahar@albany.edu::84031f88-3164-421f-897b-6250739e55f4" providerId="AD" clId="Web-{EB9B67E4-5983-0066-EDB6-5BD4D10F0685}" dt="2026-04-21T03:21:32.054" v="11" actId="14100"/>
        <pc:sldMkLst>
          <pc:docMk/>
          <pc:sldMk cId="0" sldId="256"/>
        </pc:sldMkLst>
        <pc:spChg chg="mod">
          <ac:chgData name="Bahar, Muhammad H" userId="S::mbahar@albany.edu::84031f88-3164-421f-897b-6250739e55f4" providerId="AD" clId="Web-{EB9B67E4-5983-0066-EDB6-5BD4D10F0685}" dt="2026-04-21T03:21:32.054" v="11" actId="14100"/>
          <ac:spMkLst>
            <pc:docMk/>
            <pc:sldMk cId="0" sldId="256"/>
            <ac:spMk id="3" creationId="{00000000-0000-0000-0000-000000000000}"/>
          </ac:spMkLst>
        </pc:spChg>
        <pc:spChg chg="mod">
          <ac:chgData name="Bahar, Muhammad H" userId="S::mbahar@albany.edu::84031f88-3164-421f-897b-6250739e55f4" providerId="AD" clId="Web-{EB9B67E4-5983-0066-EDB6-5BD4D10F0685}" dt="2026-04-21T03:21:31.867" v="10" actId="14100"/>
          <ac:spMkLst>
            <pc:docMk/>
            <pc:sldMk cId="0" sldId="256"/>
            <ac:spMk id="4" creationId="{00000000-0000-0000-0000-000000000000}"/>
          </ac:spMkLst>
        </pc:spChg>
      </pc:sldChg>
    </pc:docChg>
  </pc:docChgLst>
</pc:chgInfo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_107_0.xlsx"/></Relationships>
</file>

<file path=ppt/charts/_rels/chart2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_108_0.xlsx"/></Relationships>
</file>

<file path=ppt/charts/_rels/chart3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_109_0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c:style val="2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Logistic Regression</c:v>
                </c:pt>
              </c:strCache>
            </c:strRef>
          </c:tx>
          <c:spPr>
            <a:solidFill>
              <a:srgbClr val="1565C0"/>
            </a:solidFill>
            <a:effectLst/>
          </c:spPr>
          <c:invertIfNegative val="0"/>
          <c:cat>
            <c:strRef>
              <c:f>Sheet1!$A$2:$A$6</c:f>
              <c:strCache>
                <c:ptCount val="5"/>
                <c:pt idx="0">
                  <c:v>Accuracy</c:v>
                </c:pt>
                <c:pt idx="1">
                  <c:v>Precision*</c:v>
                </c:pt>
                <c:pt idx="2">
                  <c:v>Recall*</c:v>
                </c:pt>
                <c:pt idx="3">
                  <c:v>F1-Score*</c:v>
                </c:pt>
                <c:pt idx="4">
                  <c:v>ROC-AUC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0.67949999999999999</c:v>
                </c:pt>
                <c:pt idx="1">
                  <c:v>0.36709999999999998</c:v>
                </c:pt>
                <c:pt idx="2">
                  <c:v>0.62019999999999997</c:v>
                </c:pt>
                <c:pt idx="3">
                  <c:v>0.4612</c:v>
                </c:pt>
                <c:pt idx="4">
                  <c:v>0.70840000000000003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7E1A-44ED-9873-5996C4CF7C8A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Gaussian Naive Bayes</c:v>
                </c:pt>
              </c:strCache>
            </c:strRef>
          </c:tx>
          <c:spPr>
            <a:solidFill>
              <a:srgbClr val="7B1FA2"/>
            </a:solidFill>
            <a:effectLst/>
          </c:spPr>
          <c:invertIfNegative val="0"/>
          <c:cat>
            <c:strRef>
              <c:f>Sheet1!$A$2:$A$6</c:f>
              <c:strCache>
                <c:ptCount val="5"/>
                <c:pt idx="0">
                  <c:v>Accuracy</c:v>
                </c:pt>
                <c:pt idx="1">
                  <c:v>Precision*</c:v>
                </c:pt>
                <c:pt idx="2">
                  <c:v>Recall*</c:v>
                </c:pt>
                <c:pt idx="3">
                  <c:v>F1-Score*</c:v>
                </c:pt>
                <c:pt idx="4">
                  <c:v>ROC-AUC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0.75180000000000002</c:v>
                </c:pt>
                <c:pt idx="1">
                  <c:v>0.45040000000000002</c:v>
                </c:pt>
                <c:pt idx="2">
                  <c:v>0.55389999999999995</c:v>
                </c:pt>
                <c:pt idx="3">
                  <c:v>0.49680000000000002</c:v>
                </c:pt>
                <c:pt idx="4">
                  <c:v>0.7248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7E1A-44ED-9873-5996C4CF7C8A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Decision Tree</c:v>
                </c:pt>
              </c:strCache>
            </c:strRef>
          </c:tx>
          <c:spPr>
            <a:solidFill>
              <a:srgbClr val="00695C"/>
            </a:solidFill>
            <a:effectLst/>
          </c:spPr>
          <c:invertIfNegative val="0"/>
          <c:cat>
            <c:strRef>
              <c:f>Sheet1!$A$2:$A$6</c:f>
              <c:strCache>
                <c:ptCount val="5"/>
                <c:pt idx="0">
                  <c:v>Accuracy</c:v>
                </c:pt>
                <c:pt idx="1">
                  <c:v>Precision*</c:v>
                </c:pt>
                <c:pt idx="2">
                  <c:v>Recall*</c:v>
                </c:pt>
                <c:pt idx="3">
                  <c:v>F1-Score*</c:v>
                </c:pt>
                <c:pt idx="4">
                  <c:v>ROC-AUC</c:v>
                </c:pt>
              </c:strCache>
            </c:strRef>
          </c:cat>
          <c:val>
            <c:numRef>
              <c:f>Sheet1!$D$2:$D$6</c:f>
              <c:numCache>
                <c:formatCode>General</c:formatCode>
                <c:ptCount val="5"/>
                <c:pt idx="0">
                  <c:v>0.77229999999999999</c:v>
                </c:pt>
                <c:pt idx="1">
                  <c:v>0.48699999999999999</c:v>
                </c:pt>
                <c:pt idx="2">
                  <c:v>0.55159999999999998</c:v>
                </c:pt>
                <c:pt idx="3">
                  <c:v>0.51729999999999998</c:v>
                </c:pt>
                <c:pt idx="4">
                  <c:v>0.75890000000000002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7E1A-44ED-9873-5996C4CF7C8A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46E7A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1"/>
          <c:min val="0"/>
        </c:scaling>
        <c:delete val="0"/>
        <c:axPos val="l"/>
        <c:majorGridlines>
          <c:spPr>
            <a:ln w="6350" cap="flat">
              <a:solidFill>
                <a:srgbClr val="BBDEFB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46E7A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1200"/>
          </a:pPr>
          <a:endParaRPr lang="en-US"/>
        </a:p>
      </c:txPr>
    </c:legend>
    <c:plotVisOnly val="1"/>
    <c:dispBlanksAs val="span"/>
    <c:showDLblsOverMax val="1"/>
  </c:chart>
  <c:spPr>
    <a:solidFill>
      <a:srgbClr val="F0F6FC"/>
    </a:solidFill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Gini Importance (%)</c:v>
                </c:pt>
              </c:strCache>
            </c:strRef>
          </c:tx>
          <c:spPr>
            <a:solidFill>
              <a:srgbClr val="00B8D4"/>
            </a:solidFill>
            <a:effectLst/>
          </c:spPr>
          <c:invertIfNegative val="0"/>
          <c:dPt>
            <c:idx val="0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1-1697-450C-A5A2-D055D2C17CAB}"/>
              </c:ext>
            </c:extLst>
          </c:dPt>
          <c:dPt>
            <c:idx val="1"/>
            <c:invertIfNegative val="0"/>
            <c:bubble3D val="0"/>
            <c:spPr>
              <a:solidFill>
                <a:srgbClr val="1565C0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3-1697-450C-A5A2-D055D2C17CAB}"/>
              </c:ext>
            </c:extLst>
          </c:dPt>
          <c:dPt>
            <c:idx val="2"/>
            <c:invertIfNegative val="0"/>
            <c:bubble3D val="0"/>
            <c:spPr>
              <a:solidFill>
                <a:srgbClr val="1565C0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5-1697-450C-A5A2-D055D2C17CAB}"/>
              </c:ext>
            </c:extLst>
          </c:dPt>
          <c:dPt>
            <c:idx val="3"/>
            <c:invertIfNegative val="0"/>
            <c:bubble3D val="0"/>
            <c:spPr>
              <a:solidFill>
                <a:srgbClr val="1565C0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7-1697-450C-A5A2-D055D2C17CAB}"/>
              </c:ext>
            </c:extLst>
          </c:dPt>
          <c:dPt>
            <c:idx val="4"/>
            <c:invertIfNegative val="0"/>
            <c:bubble3D val="0"/>
            <c:spPr>
              <a:solidFill>
                <a:srgbClr val="1565C0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9-1697-450C-A5A2-D055D2C17CAB}"/>
              </c:ext>
            </c:extLst>
          </c:dPt>
          <c:dPt>
            <c:idx val="5"/>
            <c:invertIfNegative val="0"/>
            <c:bubble3D val="0"/>
            <c:spPr>
              <a:solidFill>
                <a:srgbClr val="1565C0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B-1697-450C-A5A2-D055D2C17CAB}"/>
              </c:ext>
            </c:extLst>
          </c:dPt>
          <c:dPt>
            <c:idx val="6"/>
            <c:invertIfNegative val="0"/>
            <c:bubble3D val="0"/>
            <c:spPr>
              <a:solidFill>
                <a:srgbClr val="1565C0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D-1697-450C-A5A2-D055D2C17CAB}"/>
              </c:ext>
            </c:extLst>
          </c:dPt>
          <c:dPt>
            <c:idx val="7"/>
            <c:invertIfNegative val="0"/>
            <c:bubble3D val="0"/>
            <c:spPr>
              <a:solidFill>
                <a:srgbClr val="1565C0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F-1697-450C-A5A2-D055D2C17CAB}"/>
              </c:ext>
            </c:extLst>
          </c:dPt>
          <c:dPt>
            <c:idx val="8"/>
            <c:invertIfNegative val="0"/>
            <c:bubble3D val="0"/>
            <c:spPr>
              <a:solidFill>
                <a:srgbClr val="1565C0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11-1697-450C-A5A2-D055D2C17CAB}"/>
              </c:ext>
            </c:extLst>
          </c:dPt>
          <c:dPt>
            <c:idx val="9"/>
            <c:invertIfNegative val="0"/>
            <c:bubble3D val="0"/>
            <c:spPr>
              <a:solidFill>
                <a:srgbClr val="1565C0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13-1697-450C-A5A2-D055D2C17CAB}"/>
              </c:ext>
            </c:extLst>
          </c:dPt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900" b="0" i="0" u="none" strike="noStrike">
                    <a:solidFill>
                      <a:srgbClr val="FFFFFF"/>
                    </a:solidFill>
                    <a:latin typeface="Arial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Sheet1!$A$2:$A$11</c:f>
              <c:strCache>
                <c:ptCount val="10"/>
                <c:pt idx="0">
                  <c:v>PAY_0</c:v>
                </c:pt>
                <c:pt idx="1">
                  <c:v>PAY_AMT2</c:v>
                </c:pt>
                <c:pt idx="2">
                  <c:v>PAY_4</c:v>
                </c:pt>
                <c:pt idx="3">
                  <c:v>LIMIT_BAL</c:v>
                </c:pt>
                <c:pt idx="4">
                  <c:v>PAY_3</c:v>
                </c:pt>
                <c:pt idx="5">
                  <c:v>PAY_2</c:v>
                </c:pt>
                <c:pt idx="6">
                  <c:v>PAY_AMT4</c:v>
                </c:pt>
                <c:pt idx="7">
                  <c:v>PAY_AMT3</c:v>
                </c:pt>
                <c:pt idx="8">
                  <c:v>PAY_AMT1</c:v>
                </c:pt>
                <c:pt idx="9">
                  <c:v>BILL_AMT2</c:v>
                </c:pt>
              </c:strCache>
            </c: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74.61</c:v>
                </c:pt>
                <c:pt idx="1">
                  <c:v>7.37</c:v>
                </c:pt>
                <c:pt idx="2">
                  <c:v>3.72</c:v>
                </c:pt>
                <c:pt idx="3">
                  <c:v>2.76</c:v>
                </c:pt>
                <c:pt idx="4">
                  <c:v>2.25</c:v>
                </c:pt>
                <c:pt idx="5">
                  <c:v>2</c:v>
                </c:pt>
                <c:pt idx="6">
                  <c:v>1.5</c:v>
                </c:pt>
                <c:pt idx="7">
                  <c:v>1.48</c:v>
                </c:pt>
                <c:pt idx="8">
                  <c:v>1.05</c:v>
                </c:pt>
                <c:pt idx="9">
                  <c:v>0.89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14-1697-450C-A5A2-D055D2C17CAB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90CAF9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80"/>
        </c:scaling>
        <c:delete val="0"/>
        <c:axPos val="b"/>
        <c:majorGridlines>
          <c:spPr>
            <a:ln w="6350" cap="flat">
              <a:solidFill>
                <a:srgbClr val="1F4A7A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0CAF9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solidFill>
      <a:srgbClr val="0D2137"/>
    </a:solidFill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800" b="0" i="0" u="none" strike="noStrike">
                <a:solidFill>
                  <a:srgbClr val="000000"/>
                </a:solidFill>
                <a:latin typeface="Arial"/>
              </a:defRPr>
            </a:pPr>
            <a:r>
              <a:rPr sz="1800" b="0" i="0" u="none" strike="noStrike">
                <a:solidFill>
                  <a:srgbClr val="000000"/>
                </a:solidFill>
                <a:latin typeface="Arial"/>
              </a:rPr>
              <a:t>Cumulative Explained Variance by PCA Components</a:t>
            </a:r>
          </a:p>
        </c:rich>
      </c:tx>
      <c:overlay val="0"/>
    </c:title>
    <c:autoTitleDeleted val="0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Cumulative Variance Explained</c:v>
                </c:pt>
              </c:strCache>
            </c:strRef>
          </c:tx>
          <c:spPr>
            <a:ln w="38100" cap="flat">
              <a:solidFill>
                <a:srgbClr val="1565C0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1565C0"/>
              </a:solidFill>
              <a:ln w="9525" cap="flat">
                <a:solidFill>
                  <a:srgbClr val="1565C0"/>
                </a:solidFill>
                <a:prstDash val="solid"/>
                <a:round/>
              </a:ln>
              <a:effectLst/>
            </c:spPr>
          </c:marker>
          <c:cat>
            <c:strRef>
              <c:f>Sheet1!$A$2:$A$20</c:f>
              <c:strCache>
                <c:ptCount val="19"/>
                <c:pt idx="0">
                  <c:v>PC1</c:v>
                </c:pt>
                <c:pt idx="1">
                  <c:v>PC2</c:v>
                </c:pt>
                <c:pt idx="2">
                  <c:v>PC3</c:v>
                </c:pt>
                <c:pt idx="3">
                  <c:v>PC4</c:v>
                </c:pt>
                <c:pt idx="4">
                  <c:v>PC5</c:v>
                </c:pt>
                <c:pt idx="5">
                  <c:v>PC6</c:v>
                </c:pt>
                <c:pt idx="6">
                  <c:v>PC7</c:v>
                </c:pt>
                <c:pt idx="7">
                  <c:v>PC8</c:v>
                </c:pt>
                <c:pt idx="8">
                  <c:v>PC9</c:v>
                </c:pt>
                <c:pt idx="9">
                  <c:v>PC10</c:v>
                </c:pt>
                <c:pt idx="10">
                  <c:v>PC11</c:v>
                </c:pt>
                <c:pt idx="11">
                  <c:v>PC12</c:v>
                </c:pt>
                <c:pt idx="12">
                  <c:v>PC13</c:v>
                </c:pt>
                <c:pt idx="13">
                  <c:v>PC14</c:v>
                </c:pt>
                <c:pt idx="14">
                  <c:v>PC15</c:v>
                </c:pt>
                <c:pt idx="15">
                  <c:v>PC16</c:v>
                </c:pt>
                <c:pt idx="16">
                  <c:v>PC17</c:v>
                </c:pt>
                <c:pt idx="17">
                  <c:v>PC18</c:v>
                </c:pt>
                <c:pt idx="18">
                  <c:v>PC19</c:v>
                </c:pt>
              </c:strCache>
            </c:strRef>
          </c:cat>
          <c:val>
            <c:numRef>
              <c:f>Sheet1!$B$2:$B$20</c:f>
              <c:numCache>
                <c:formatCode>General</c:formatCode>
                <c:ptCount val="19"/>
                <c:pt idx="0">
                  <c:v>28.5</c:v>
                </c:pt>
                <c:pt idx="1">
                  <c:v>46.4</c:v>
                </c:pt>
                <c:pt idx="2">
                  <c:v>56</c:v>
                </c:pt>
                <c:pt idx="3">
                  <c:v>62</c:v>
                </c:pt>
                <c:pt idx="4">
                  <c:v>64.2</c:v>
                </c:pt>
                <c:pt idx="5">
                  <c:v>67.5</c:v>
                </c:pt>
                <c:pt idx="6">
                  <c:v>70.5</c:v>
                </c:pt>
                <c:pt idx="7">
                  <c:v>73</c:v>
                </c:pt>
                <c:pt idx="8">
                  <c:v>75.5</c:v>
                </c:pt>
                <c:pt idx="9">
                  <c:v>83.1</c:v>
                </c:pt>
                <c:pt idx="10">
                  <c:v>84.5</c:v>
                </c:pt>
                <c:pt idx="11">
                  <c:v>86</c:v>
                </c:pt>
                <c:pt idx="12">
                  <c:v>87.5</c:v>
                </c:pt>
                <c:pt idx="13">
                  <c:v>89</c:v>
                </c:pt>
                <c:pt idx="14">
                  <c:v>91.5</c:v>
                </c:pt>
                <c:pt idx="15">
                  <c:v>93</c:v>
                </c:pt>
                <c:pt idx="16">
                  <c:v>95</c:v>
                </c:pt>
                <c:pt idx="17">
                  <c:v>97</c:v>
                </c:pt>
                <c:pt idx="18">
                  <c:v>99</c:v>
                </c:pt>
              </c:numCache>
            </c:numRef>
          </c:val>
          <c:smooth val="1"/>
          <c:extLst>
            <c:ext xmlns:c16="http://schemas.microsoft.com/office/drawing/2014/chart" uri="{C3380CC4-5D6E-409C-BE32-E72D297353CC}">
              <c16:uniqueId val="{00000000-E234-4B0A-A1C4-707A3001542E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546E7A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100"/>
          <c:min val="0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46E7A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/>
          </a:pPr>
          <a:endParaRPr lang="en-US"/>
        </a:p>
      </c:txPr>
    </c:legend>
    <c:plotVisOnly val="1"/>
    <c:dispBlanksAs val="span"/>
    <c:showDLblsOverMax val="1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22885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2913063" y="0"/>
            <a:ext cx="222885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0BFCF48-CA5B-4806-9798-296E93EE5D0C}" type="datetimeFigureOut">
              <a:t>4/20/2026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-17145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514350" y="4400550"/>
            <a:ext cx="41148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22885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2913063" y="8685213"/>
            <a:ext cx="222885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C9A18B9-4859-4842-9184-AFFED091AC37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9882658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.xml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chart" Target="../charts/chart2.xml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chart" Target="../charts/chart3.xml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D213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0B8D4"/>
          </a:solidFill>
          <a:ln w="12700">
            <a:solidFill>
              <a:srgbClr val="00B8D4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943600" y="274320"/>
            <a:ext cx="3657600" cy="3657600"/>
          </a:xfrm>
          <a:prstGeom prst="ellipse">
            <a:avLst/>
          </a:prstGeom>
          <a:solidFill>
            <a:srgbClr val="1A3A5C"/>
          </a:solidFill>
          <a:ln w="12700">
            <a:solidFill>
              <a:srgbClr val="1F4A7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583680" y="822960"/>
            <a:ext cx="2377440" cy="2377440"/>
          </a:xfrm>
          <a:prstGeom prst="ellipse">
            <a:avLst/>
          </a:prstGeom>
          <a:solidFill>
            <a:srgbClr val="234870"/>
          </a:solidFill>
          <a:ln w="12700">
            <a:solidFill>
              <a:srgbClr val="00B8D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548640"/>
            <a:ext cx="56692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kern="0" spc="600">
                <a:solidFill>
                  <a:srgbClr val="00B8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PREDICTING</a:t>
            </a:r>
            <a:endParaRPr lang="en-US" sz="1300"/>
          </a:p>
        </p:txBody>
      </p:sp>
      <p:sp>
        <p:nvSpPr>
          <p:cNvPr id="6" name="Text 4"/>
          <p:cNvSpPr/>
          <p:nvPr/>
        </p:nvSpPr>
        <p:spPr>
          <a:xfrm>
            <a:off x="457200" y="1005840"/>
            <a:ext cx="56692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b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Credit Card Defaults</a:t>
            </a:r>
            <a:endParaRPr lang="en-US" sz="4000"/>
          </a:p>
        </p:txBody>
      </p:sp>
      <p:sp>
        <p:nvSpPr>
          <p:cNvPr id="7" name="Text 5"/>
          <p:cNvSpPr/>
          <p:nvPr/>
        </p:nvSpPr>
        <p:spPr>
          <a:xfrm>
            <a:off x="457200" y="2286000"/>
            <a:ext cx="56692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>
                <a:solidFill>
                  <a:srgbClr val="4FC3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Using Machine Learning Techniques</a:t>
            </a:r>
            <a:endParaRPr lang="en-US" sz="1800"/>
          </a:p>
        </p:txBody>
      </p:sp>
      <p:sp>
        <p:nvSpPr>
          <p:cNvPr id="8" name="Shape 6"/>
          <p:cNvSpPr/>
          <p:nvPr/>
        </p:nvSpPr>
        <p:spPr>
          <a:xfrm>
            <a:off x="457200" y="2926080"/>
            <a:ext cx="2286000" cy="36576"/>
          </a:xfrm>
          <a:prstGeom prst="rect">
            <a:avLst/>
          </a:prstGeom>
          <a:solidFill>
            <a:srgbClr val="00B8D4"/>
          </a:solidFill>
          <a:ln w="12700">
            <a:solidFill>
              <a:srgbClr val="00B8D4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3063240"/>
            <a:ext cx="6400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>
                <a:solidFill>
                  <a:srgbClr val="546E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BFOR 516 – Advanced Data Analytics for Cybersecurity  |  Spring 2026</a:t>
            </a:r>
            <a:endParaRPr lang="en-US" sz="1100"/>
          </a:p>
        </p:txBody>
      </p:sp>
      <p:sp>
        <p:nvSpPr>
          <p:cNvPr id="10" name="Shape 8"/>
          <p:cNvSpPr/>
          <p:nvPr/>
        </p:nvSpPr>
        <p:spPr>
          <a:xfrm>
            <a:off x="457200" y="3520440"/>
            <a:ext cx="45720" cy="256032"/>
          </a:xfrm>
          <a:prstGeom prst="rect">
            <a:avLst/>
          </a:prstGeom>
          <a:solidFill>
            <a:srgbClr val="00B8D4"/>
          </a:solidFill>
          <a:ln w="12700">
            <a:solidFill>
              <a:srgbClr val="00B8D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58368" y="3520440"/>
            <a:ext cx="4114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Spencer Kone</a:t>
            </a:r>
            <a:endParaRPr lang="en-US" sz="1200"/>
          </a:p>
        </p:txBody>
      </p:sp>
      <p:sp>
        <p:nvSpPr>
          <p:cNvPr id="12" name="Shape 10"/>
          <p:cNvSpPr/>
          <p:nvPr/>
        </p:nvSpPr>
        <p:spPr>
          <a:xfrm>
            <a:off x="457200" y="3867912"/>
            <a:ext cx="45720" cy="256032"/>
          </a:xfrm>
          <a:prstGeom prst="rect">
            <a:avLst/>
          </a:prstGeom>
          <a:solidFill>
            <a:srgbClr val="00B8D4"/>
          </a:solidFill>
          <a:ln w="12700">
            <a:solidFill>
              <a:srgbClr val="00B8D4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58368" y="3867912"/>
            <a:ext cx="4114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Muhammad H. Bahar</a:t>
            </a:r>
            <a:endParaRPr lang="en-US" sz="1200"/>
          </a:p>
        </p:txBody>
      </p:sp>
      <p:sp>
        <p:nvSpPr>
          <p:cNvPr id="14" name="Shape 12"/>
          <p:cNvSpPr/>
          <p:nvPr/>
        </p:nvSpPr>
        <p:spPr>
          <a:xfrm>
            <a:off x="457200" y="4215384"/>
            <a:ext cx="45720" cy="256032"/>
          </a:xfrm>
          <a:prstGeom prst="rect">
            <a:avLst/>
          </a:prstGeom>
          <a:solidFill>
            <a:srgbClr val="00B8D4"/>
          </a:solidFill>
          <a:ln w="12700">
            <a:solidFill>
              <a:srgbClr val="00B8D4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58368" y="4215384"/>
            <a:ext cx="4114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Kunapureddy Leela Pavan Kumar</a:t>
            </a:r>
            <a:endParaRPr lang="en-US" sz="1200"/>
          </a:p>
        </p:txBody>
      </p:sp>
      <p:sp>
        <p:nvSpPr>
          <p:cNvPr id="16" name="Shape 14"/>
          <p:cNvSpPr/>
          <p:nvPr/>
        </p:nvSpPr>
        <p:spPr>
          <a:xfrm>
            <a:off x="457200" y="4562856"/>
            <a:ext cx="45720" cy="256032"/>
          </a:xfrm>
          <a:prstGeom prst="rect">
            <a:avLst/>
          </a:prstGeom>
          <a:solidFill>
            <a:srgbClr val="00B8D4"/>
          </a:solidFill>
          <a:ln w="12700">
            <a:solidFill>
              <a:srgbClr val="00B8D4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58368" y="4562856"/>
            <a:ext cx="4114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Maddirala Shalem Raju</a:t>
            </a:r>
            <a:endParaRPr lang="en-US" sz="1200"/>
          </a:p>
        </p:txBody>
      </p:sp>
      <p:sp>
        <p:nvSpPr>
          <p:cNvPr id="18" name="Text 16"/>
          <p:cNvSpPr/>
          <p:nvPr/>
        </p:nvSpPr>
        <p:spPr>
          <a:xfrm>
            <a:off x="457200" y="4846320"/>
            <a:ext cx="5486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>
                <a:solidFill>
                  <a:srgbClr val="546E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Faculty: Dr. Srishti Gupta  |  Group 3</a:t>
            </a:r>
            <a:endParaRPr lang="en-US" sz="100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0F6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D2137"/>
          </a:solidFill>
          <a:ln w="12700">
            <a:solidFill>
              <a:srgbClr val="0D2137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0"/>
            <a:ext cx="6400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kern="0" spc="500">
                <a:solidFill>
                  <a:srgbClr val="00B8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THIS MATTERS</a:t>
            </a:r>
            <a:endParaRPr lang="en-US" sz="1100"/>
          </a:p>
        </p:txBody>
      </p:sp>
      <p:sp>
        <p:nvSpPr>
          <p:cNvPr id="4" name="Text 2"/>
          <p:cNvSpPr/>
          <p:nvPr/>
        </p:nvSpPr>
        <p:spPr>
          <a:xfrm>
            <a:off x="457200" y="0"/>
            <a:ext cx="6400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2800" b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Problem &amp; Stakes</a:t>
            </a:r>
            <a:endParaRPr lang="en-US" sz="2800"/>
          </a:p>
        </p:txBody>
      </p:sp>
      <p:sp>
        <p:nvSpPr>
          <p:cNvPr id="5" name="Shape 3"/>
          <p:cNvSpPr/>
          <p:nvPr/>
        </p:nvSpPr>
        <p:spPr>
          <a:xfrm>
            <a:off x="365760" y="1005840"/>
            <a:ext cx="3931920" cy="1645920"/>
          </a:xfrm>
          <a:prstGeom prst="rect">
            <a:avLst/>
          </a:prstGeom>
          <a:solidFill>
            <a:srgbClr val="FFFFFF"/>
          </a:solidFill>
          <a:ln w="12700">
            <a:solidFill>
              <a:srgbClr val="BBDEFB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365760" y="1005840"/>
            <a:ext cx="73152" cy="1645920"/>
          </a:xfrm>
          <a:prstGeom prst="rect">
            <a:avLst/>
          </a:prstGeom>
          <a:solidFill>
            <a:srgbClr val="00B8D4"/>
          </a:solidFill>
          <a:ln w="12700">
            <a:solidFill>
              <a:srgbClr val="00B8D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48640" y="1133856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>
                <a:solidFill>
                  <a:srgbClr val="0D21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Financial Risk</a:t>
            </a:r>
            <a:endParaRPr lang="en-US" sz="1400"/>
          </a:p>
        </p:txBody>
      </p:sp>
      <p:sp>
        <p:nvSpPr>
          <p:cNvPr id="8" name="Text 6"/>
          <p:cNvSpPr/>
          <p:nvPr/>
        </p:nvSpPr>
        <p:spPr>
          <a:xfrm>
            <a:off x="548640" y="1481328"/>
            <a:ext cx="35661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>
                <a:solidFill>
                  <a:srgbClr val="1A2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Credit defaults cost banks billions annually — predicting them early prevents major losses</a:t>
            </a:r>
            <a:endParaRPr lang="en-US" sz="1200"/>
          </a:p>
        </p:txBody>
      </p:sp>
      <p:sp>
        <p:nvSpPr>
          <p:cNvPr id="9" name="Shape 7"/>
          <p:cNvSpPr/>
          <p:nvPr/>
        </p:nvSpPr>
        <p:spPr>
          <a:xfrm>
            <a:off x="4754880" y="1005840"/>
            <a:ext cx="3931920" cy="1645920"/>
          </a:xfrm>
          <a:prstGeom prst="rect">
            <a:avLst/>
          </a:prstGeom>
          <a:solidFill>
            <a:srgbClr val="FFFFFF"/>
          </a:solidFill>
          <a:ln w="12700">
            <a:solidFill>
              <a:srgbClr val="BBDEFB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754880" y="1005840"/>
            <a:ext cx="73152" cy="1645920"/>
          </a:xfrm>
          <a:prstGeom prst="rect">
            <a:avLst/>
          </a:prstGeom>
          <a:solidFill>
            <a:srgbClr val="00B8D4"/>
          </a:solidFill>
          <a:ln w="12700">
            <a:solidFill>
              <a:srgbClr val="00B8D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937760" y="1133856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>
                <a:solidFill>
                  <a:srgbClr val="0D21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 Imbalance</a:t>
            </a:r>
            <a:endParaRPr lang="en-US" sz="1400"/>
          </a:p>
        </p:txBody>
      </p:sp>
      <p:sp>
        <p:nvSpPr>
          <p:cNvPr id="12" name="Text 10"/>
          <p:cNvSpPr/>
          <p:nvPr/>
        </p:nvSpPr>
        <p:spPr>
          <a:xfrm>
            <a:off x="4937760" y="1481328"/>
            <a:ext cx="35661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>
                <a:solidFill>
                  <a:srgbClr val="1A2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22% of clients default, making prediction harder — the model must detect the minority</a:t>
            </a:r>
            <a:endParaRPr lang="en-US" sz="1200"/>
          </a:p>
        </p:txBody>
      </p:sp>
      <p:sp>
        <p:nvSpPr>
          <p:cNvPr id="13" name="Shape 11"/>
          <p:cNvSpPr/>
          <p:nvPr/>
        </p:nvSpPr>
        <p:spPr>
          <a:xfrm>
            <a:off x="365760" y="2880360"/>
            <a:ext cx="3931920" cy="1645920"/>
          </a:xfrm>
          <a:prstGeom prst="rect">
            <a:avLst/>
          </a:prstGeom>
          <a:solidFill>
            <a:srgbClr val="FFFFFF"/>
          </a:solidFill>
          <a:ln w="12700">
            <a:solidFill>
              <a:srgbClr val="BBDEFB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365760" y="2880360"/>
            <a:ext cx="73152" cy="1645920"/>
          </a:xfrm>
          <a:prstGeom prst="rect">
            <a:avLst/>
          </a:prstGeom>
          <a:solidFill>
            <a:srgbClr val="00B8D4"/>
          </a:solidFill>
          <a:ln w="12700">
            <a:solidFill>
              <a:srgbClr val="00B8D4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48640" y="3008376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>
                <a:solidFill>
                  <a:srgbClr val="0D21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Real-World Dataset</a:t>
            </a:r>
            <a:endParaRPr lang="en-US" sz="1400"/>
          </a:p>
        </p:txBody>
      </p:sp>
      <p:sp>
        <p:nvSpPr>
          <p:cNvPr id="16" name="Text 14"/>
          <p:cNvSpPr/>
          <p:nvPr/>
        </p:nvSpPr>
        <p:spPr>
          <a:xfrm>
            <a:off x="548640" y="3355848"/>
            <a:ext cx="35661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>
                <a:solidFill>
                  <a:srgbClr val="1A2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30,000 Taiwan credit card clients from UCI ML Repository — real behavior, real stakes</a:t>
            </a:r>
            <a:endParaRPr lang="en-US" sz="1200"/>
          </a:p>
        </p:txBody>
      </p:sp>
      <p:sp>
        <p:nvSpPr>
          <p:cNvPr id="17" name="Shape 15"/>
          <p:cNvSpPr/>
          <p:nvPr/>
        </p:nvSpPr>
        <p:spPr>
          <a:xfrm>
            <a:off x="4754880" y="2880360"/>
            <a:ext cx="3931920" cy="1645920"/>
          </a:xfrm>
          <a:prstGeom prst="rect">
            <a:avLst/>
          </a:prstGeom>
          <a:solidFill>
            <a:srgbClr val="FFFFFF"/>
          </a:solidFill>
          <a:ln w="12700">
            <a:solidFill>
              <a:srgbClr val="BBDEFB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4754880" y="2880360"/>
            <a:ext cx="73152" cy="1645920"/>
          </a:xfrm>
          <a:prstGeom prst="rect">
            <a:avLst/>
          </a:prstGeom>
          <a:solidFill>
            <a:srgbClr val="00B8D4"/>
          </a:solidFill>
          <a:ln w="12700">
            <a:solidFill>
              <a:srgbClr val="00B8D4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937760" y="3008376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>
                <a:solidFill>
                  <a:srgbClr val="0D21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Multiple Metrics</a:t>
            </a:r>
            <a:endParaRPr lang="en-US" sz="1400"/>
          </a:p>
        </p:txBody>
      </p:sp>
      <p:sp>
        <p:nvSpPr>
          <p:cNvPr id="20" name="Text 18"/>
          <p:cNvSpPr/>
          <p:nvPr/>
        </p:nvSpPr>
        <p:spPr>
          <a:xfrm>
            <a:off x="4937760" y="3355848"/>
            <a:ext cx="35661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>
                <a:solidFill>
                  <a:srgbClr val="1A2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Accuracy alone is misleading — recall matters most since missing a defaulter is costlier</a:t>
            </a:r>
            <a:endParaRPr lang="en-US" sz="12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D213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2860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Dataset at a Glance</a:t>
            </a:r>
            <a:endParaRPr lang="en-US" sz="3000"/>
          </a:p>
        </p:txBody>
      </p:sp>
      <p:sp>
        <p:nvSpPr>
          <p:cNvPr id="3" name="Text 1"/>
          <p:cNvSpPr/>
          <p:nvPr/>
        </p:nvSpPr>
        <p:spPr>
          <a:xfrm>
            <a:off x="457200" y="82296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>
                <a:solidFill>
                  <a:srgbClr val="4FC3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Default of Credit Card Clients  |  UCI Machine Learning Repository  |  Yeh &amp; Lien (2009)</a:t>
            </a:r>
            <a:endParaRPr lang="en-US" sz="1100"/>
          </a:p>
        </p:txBody>
      </p:sp>
      <p:sp>
        <p:nvSpPr>
          <p:cNvPr id="4" name="Shape 2"/>
          <p:cNvSpPr/>
          <p:nvPr/>
        </p:nvSpPr>
        <p:spPr>
          <a:xfrm>
            <a:off x="457200" y="1097280"/>
            <a:ext cx="8229600" cy="27432"/>
          </a:xfrm>
          <a:prstGeom prst="rect">
            <a:avLst/>
          </a:prstGeom>
          <a:solidFill>
            <a:srgbClr val="00B8D4"/>
          </a:solidFill>
          <a:ln w="12700">
            <a:solidFill>
              <a:srgbClr val="00B8D4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20040" y="1325880"/>
            <a:ext cx="2560320" cy="1508760"/>
          </a:xfrm>
          <a:prstGeom prst="rect">
            <a:avLst/>
          </a:prstGeom>
          <a:solidFill>
            <a:srgbClr val="132840"/>
          </a:solidFill>
          <a:ln w="12700">
            <a:solidFill>
              <a:srgbClr val="1F4A7A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320040" y="1325880"/>
            <a:ext cx="2560320" cy="45720"/>
          </a:xfrm>
          <a:prstGeom prst="rect">
            <a:avLst/>
          </a:prstGeom>
          <a:solidFill>
            <a:srgbClr val="00B8D4"/>
          </a:solidFill>
          <a:ln w="12700">
            <a:solidFill>
              <a:srgbClr val="00B8D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20040" y="1508760"/>
            <a:ext cx="25603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400" b="1">
                <a:solidFill>
                  <a:srgbClr val="00B8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30,000</a:t>
            </a:r>
            <a:endParaRPr lang="en-US" sz="3400"/>
          </a:p>
        </p:txBody>
      </p:sp>
      <p:sp>
        <p:nvSpPr>
          <p:cNvPr id="8" name="Text 6"/>
          <p:cNvSpPr/>
          <p:nvPr/>
        </p:nvSpPr>
        <p:spPr>
          <a:xfrm>
            <a:off x="320040" y="2240280"/>
            <a:ext cx="2560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>
                <a:solidFill>
                  <a:srgbClr val="4FC3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 Records</a:t>
            </a:r>
            <a:endParaRPr lang="en-US" sz="1200"/>
          </a:p>
        </p:txBody>
      </p:sp>
      <p:sp>
        <p:nvSpPr>
          <p:cNvPr id="9" name="Shape 7"/>
          <p:cNvSpPr/>
          <p:nvPr/>
        </p:nvSpPr>
        <p:spPr>
          <a:xfrm>
            <a:off x="3154680" y="1325880"/>
            <a:ext cx="2560320" cy="1508760"/>
          </a:xfrm>
          <a:prstGeom prst="rect">
            <a:avLst/>
          </a:prstGeom>
          <a:solidFill>
            <a:srgbClr val="132840"/>
          </a:solidFill>
          <a:ln w="12700">
            <a:solidFill>
              <a:srgbClr val="1F4A7A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3154680" y="1325880"/>
            <a:ext cx="2560320" cy="45720"/>
          </a:xfrm>
          <a:prstGeom prst="rect">
            <a:avLst/>
          </a:prstGeom>
          <a:solidFill>
            <a:srgbClr val="00B8D4"/>
          </a:solidFill>
          <a:ln w="12700">
            <a:solidFill>
              <a:srgbClr val="00B8D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154680" y="1508760"/>
            <a:ext cx="25603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400" b="1">
                <a:solidFill>
                  <a:srgbClr val="00B8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</a:t>
            </a:r>
            <a:endParaRPr lang="en-US" sz="3400"/>
          </a:p>
        </p:txBody>
      </p:sp>
      <p:sp>
        <p:nvSpPr>
          <p:cNvPr id="12" name="Text 10"/>
          <p:cNvSpPr/>
          <p:nvPr/>
        </p:nvSpPr>
        <p:spPr>
          <a:xfrm>
            <a:off x="3154680" y="2240280"/>
            <a:ext cx="2560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>
                <a:solidFill>
                  <a:srgbClr val="4FC3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Features</a:t>
            </a:r>
            <a:endParaRPr lang="en-US" sz="1200"/>
          </a:p>
        </p:txBody>
      </p:sp>
      <p:sp>
        <p:nvSpPr>
          <p:cNvPr id="13" name="Shape 11"/>
          <p:cNvSpPr/>
          <p:nvPr/>
        </p:nvSpPr>
        <p:spPr>
          <a:xfrm>
            <a:off x="5989320" y="1325880"/>
            <a:ext cx="2560320" cy="1508760"/>
          </a:xfrm>
          <a:prstGeom prst="rect">
            <a:avLst/>
          </a:prstGeom>
          <a:solidFill>
            <a:srgbClr val="132840"/>
          </a:solidFill>
          <a:ln w="12700">
            <a:solidFill>
              <a:srgbClr val="1F4A7A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5989320" y="1325880"/>
            <a:ext cx="2560320" cy="45720"/>
          </a:xfrm>
          <a:prstGeom prst="rect">
            <a:avLst/>
          </a:prstGeom>
          <a:solidFill>
            <a:srgbClr val="00B8D4"/>
          </a:solidFill>
          <a:ln w="12700">
            <a:solidFill>
              <a:srgbClr val="00B8D4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989320" y="1508760"/>
            <a:ext cx="25603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400" b="1">
                <a:solidFill>
                  <a:srgbClr val="00B8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22.12%</a:t>
            </a:r>
            <a:endParaRPr lang="en-US" sz="3400"/>
          </a:p>
        </p:txBody>
      </p:sp>
      <p:sp>
        <p:nvSpPr>
          <p:cNvPr id="16" name="Text 14"/>
          <p:cNvSpPr/>
          <p:nvPr/>
        </p:nvSpPr>
        <p:spPr>
          <a:xfrm>
            <a:off x="5989320" y="2240280"/>
            <a:ext cx="2560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>
                <a:solidFill>
                  <a:srgbClr val="4FC3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Default Rate</a:t>
            </a:r>
            <a:endParaRPr lang="en-US" sz="1200"/>
          </a:p>
        </p:txBody>
      </p:sp>
      <p:sp>
        <p:nvSpPr>
          <p:cNvPr id="17" name="Shape 15"/>
          <p:cNvSpPr/>
          <p:nvPr/>
        </p:nvSpPr>
        <p:spPr>
          <a:xfrm>
            <a:off x="320040" y="3063240"/>
            <a:ext cx="2560320" cy="1508760"/>
          </a:xfrm>
          <a:prstGeom prst="rect">
            <a:avLst/>
          </a:prstGeom>
          <a:solidFill>
            <a:srgbClr val="132840"/>
          </a:solidFill>
          <a:ln w="12700">
            <a:solidFill>
              <a:srgbClr val="1F4A7A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320040" y="3063240"/>
            <a:ext cx="2560320" cy="45720"/>
          </a:xfrm>
          <a:prstGeom prst="rect">
            <a:avLst/>
          </a:prstGeom>
          <a:solidFill>
            <a:srgbClr val="00B8D4"/>
          </a:solidFill>
          <a:ln w="12700">
            <a:solidFill>
              <a:srgbClr val="00B8D4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20040" y="3246120"/>
            <a:ext cx="25603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400" b="1">
                <a:solidFill>
                  <a:srgbClr val="00B8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3.5:1</a:t>
            </a:r>
            <a:endParaRPr lang="en-US" sz="3400"/>
          </a:p>
        </p:txBody>
      </p:sp>
      <p:sp>
        <p:nvSpPr>
          <p:cNvPr id="20" name="Text 18"/>
          <p:cNvSpPr/>
          <p:nvPr/>
        </p:nvSpPr>
        <p:spPr>
          <a:xfrm>
            <a:off x="320040" y="3977640"/>
            <a:ext cx="2560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>
                <a:solidFill>
                  <a:srgbClr val="4FC3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 Imbalance</a:t>
            </a:r>
            <a:endParaRPr lang="en-US" sz="1200"/>
          </a:p>
        </p:txBody>
      </p:sp>
      <p:sp>
        <p:nvSpPr>
          <p:cNvPr id="21" name="Shape 19"/>
          <p:cNvSpPr/>
          <p:nvPr/>
        </p:nvSpPr>
        <p:spPr>
          <a:xfrm>
            <a:off x="3154680" y="3063240"/>
            <a:ext cx="2560320" cy="1508760"/>
          </a:xfrm>
          <a:prstGeom prst="rect">
            <a:avLst/>
          </a:prstGeom>
          <a:solidFill>
            <a:srgbClr val="132840"/>
          </a:solidFill>
          <a:ln w="12700">
            <a:solidFill>
              <a:srgbClr val="1F4A7A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154680" y="3063240"/>
            <a:ext cx="2560320" cy="45720"/>
          </a:xfrm>
          <a:prstGeom prst="rect">
            <a:avLst/>
          </a:prstGeom>
          <a:solidFill>
            <a:srgbClr val="00B8D4"/>
          </a:solidFill>
          <a:ln w="12700">
            <a:solidFill>
              <a:srgbClr val="00B8D4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154680" y="3246120"/>
            <a:ext cx="25603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400" b="1">
                <a:solidFill>
                  <a:srgbClr val="00B8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NT$167K</a:t>
            </a:r>
            <a:endParaRPr lang="en-US" sz="3400"/>
          </a:p>
        </p:txBody>
      </p:sp>
      <p:sp>
        <p:nvSpPr>
          <p:cNvPr id="24" name="Text 22"/>
          <p:cNvSpPr/>
          <p:nvPr/>
        </p:nvSpPr>
        <p:spPr>
          <a:xfrm>
            <a:off x="3154680" y="3977640"/>
            <a:ext cx="2560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>
                <a:solidFill>
                  <a:srgbClr val="4FC3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Avg Credit Limit</a:t>
            </a:r>
            <a:endParaRPr lang="en-US" sz="1200"/>
          </a:p>
        </p:txBody>
      </p:sp>
      <p:sp>
        <p:nvSpPr>
          <p:cNvPr id="25" name="Shape 23"/>
          <p:cNvSpPr/>
          <p:nvPr/>
        </p:nvSpPr>
        <p:spPr>
          <a:xfrm>
            <a:off x="5989320" y="3063240"/>
            <a:ext cx="2560320" cy="1508760"/>
          </a:xfrm>
          <a:prstGeom prst="rect">
            <a:avLst/>
          </a:prstGeom>
          <a:solidFill>
            <a:srgbClr val="132840"/>
          </a:solidFill>
          <a:ln w="12700">
            <a:solidFill>
              <a:srgbClr val="1F4A7A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5989320" y="3063240"/>
            <a:ext cx="2560320" cy="45720"/>
          </a:xfrm>
          <a:prstGeom prst="rect">
            <a:avLst/>
          </a:prstGeom>
          <a:solidFill>
            <a:srgbClr val="00B8D4"/>
          </a:solidFill>
          <a:ln w="12700">
            <a:solidFill>
              <a:srgbClr val="00B8D4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89320" y="3246120"/>
            <a:ext cx="25603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400" b="1">
                <a:solidFill>
                  <a:srgbClr val="00B8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35 yrs</a:t>
            </a:r>
            <a:endParaRPr lang="en-US" sz="3400"/>
          </a:p>
        </p:txBody>
      </p:sp>
      <p:sp>
        <p:nvSpPr>
          <p:cNvPr id="28" name="Text 26"/>
          <p:cNvSpPr/>
          <p:nvPr/>
        </p:nvSpPr>
        <p:spPr>
          <a:xfrm>
            <a:off x="5989320" y="3977640"/>
            <a:ext cx="2560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>
                <a:solidFill>
                  <a:srgbClr val="4FC3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Average Age</a:t>
            </a:r>
            <a:endParaRPr lang="en-US" sz="12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0F6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D2137"/>
          </a:solidFill>
          <a:ln w="12700">
            <a:solidFill>
              <a:srgbClr val="0D2137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4572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Preparation &amp; Cleaning</a:t>
            </a:r>
            <a:endParaRPr lang="en-US" sz="2600"/>
          </a:p>
        </p:txBody>
      </p:sp>
      <p:sp>
        <p:nvSpPr>
          <p:cNvPr id="4" name="Text 2"/>
          <p:cNvSpPr/>
          <p:nvPr/>
        </p:nvSpPr>
        <p:spPr>
          <a:xfrm>
            <a:off x="365760" y="914400"/>
            <a:ext cx="39319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kern="0" spc="300">
                <a:solidFill>
                  <a:srgbClr val="00B8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CLEANING</a:t>
            </a:r>
            <a:endParaRPr lang="en-US" sz="900"/>
          </a:p>
        </p:txBody>
      </p:sp>
      <p:sp>
        <p:nvSpPr>
          <p:cNvPr id="5" name="Text 3"/>
          <p:cNvSpPr/>
          <p:nvPr/>
        </p:nvSpPr>
        <p:spPr>
          <a:xfrm>
            <a:off x="4663440" y="914400"/>
            <a:ext cx="4297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kern="0" spc="300">
                <a:solidFill>
                  <a:srgbClr val="FFB3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PREPROCESSING PIPELINE</a:t>
            </a:r>
            <a:endParaRPr lang="en-US" sz="900"/>
          </a:p>
        </p:txBody>
      </p:sp>
      <p:sp>
        <p:nvSpPr>
          <p:cNvPr id="6" name="Shape 4"/>
          <p:cNvSpPr/>
          <p:nvPr/>
        </p:nvSpPr>
        <p:spPr>
          <a:xfrm>
            <a:off x="365760" y="1188720"/>
            <a:ext cx="3931920" cy="1097280"/>
          </a:xfrm>
          <a:prstGeom prst="rect">
            <a:avLst/>
          </a:prstGeom>
          <a:solidFill>
            <a:srgbClr val="FFFFFF"/>
          </a:solidFill>
          <a:ln w="12700">
            <a:solidFill>
              <a:srgbClr val="BBDEFB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365760" y="1188720"/>
            <a:ext cx="438912" cy="1097280"/>
          </a:xfrm>
          <a:prstGeom prst="rect">
            <a:avLst/>
          </a:prstGeom>
          <a:solidFill>
            <a:srgbClr val="0D2137"/>
          </a:solidFill>
          <a:ln w="12700">
            <a:solidFill>
              <a:srgbClr val="0D2137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65760" y="1188720"/>
            <a:ext cx="438912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>
                <a:solidFill>
                  <a:srgbClr val="00B8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300"/>
          </a:p>
        </p:txBody>
      </p:sp>
      <p:sp>
        <p:nvSpPr>
          <p:cNvPr id="9" name="Text 7"/>
          <p:cNvSpPr/>
          <p:nvPr/>
        </p:nvSpPr>
        <p:spPr>
          <a:xfrm>
            <a:off x="914400" y="128016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>
                <a:solidFill>
                  <a:srgbClr val="0D21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Initial Inspection</a:t>
            </a:r>
            <a:endParaRPr lang="en-US" sz="1200"/>
          </a:p>
        </p:txBody>
      </p:sp>
      <p:sp>
        <p:nvSpPr>
          <p:cNvPr id="10" name="Text 8"/>
          <p:cNvSpPr/>
          <p:nvPr/>
        </p:nvSpPr>
        <p:spPr>
          <a:xfrm>
            <a:off x="914400" y="1591056"/>
            <a:ext cx="3291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>
                <a:solidFill>
                  <a:srgbClr val="546E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30,000 rows × 24 cols, all int64</a:t>
            </a:r>
            <a:endParaRPr lang="en-US" sz="1050"/>
          </a:p>
          <a:p>
            <a:pPr marL="0" indent="0">
              <a:buNone/>
            </a:pPr>
            <a:r>
              <a:rPr lang="en-US" sz="1050">
                <a:solidFill>
                  <a:srgbClr val="546E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 missing values — 35 duplicate rows kept</a:t>
            </a:r>
            <a:endParaRPr lang="en-US" sz="1050"/>
          </a:p>
        </p:txBody>
      </p:sp>
      <p:sp>
        <p:nvSpPr>
          <p:cNvPr id="11" name="Shape 9"/>
          <p:cNvSpPr/>
          <p:nvPr/>
        </p:nvSpPr>
        <p:spPr>
          <a:xfrm>
            <a:off x="365760" y="2423160"/>
            <a:ext cx="3931920" cy="1097280"/>
          </a:xfrm>
          <a:prstGeom prst="rect">
            <a:avLst/>
          </a:prstGeom>
          <a:solidFill>
            <a:srgbClr val="FFFFFF"/>
          </a:solidFill>
          <a:ln w="12700">
            <a:solidFill>
              <a:srgbClr val="BBDEFB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65760" y="2423160"/>
            <a:ext cx="438912" cy="1097280"/>
          </a:xfrm>
          <a:prstGeom prst="rect">
            <a:avLst/>
          </a:prstGeom>
          <a:solidFill>
            <a:srgbClr val="0D2137"/>
          </a:solidFill>
          <a:ln w="12700">
            <a:solidFill>
              <a:srgbClr val="0D2137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5760" y="2423160"/>
            <a:ext cx="438912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>
                <a:solidFill>
                  <a:srgbClr val="00B8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300"/>
          </a:p>
        </p:txBody>
      </p:sp>
      <p:sp>
        <p:nvSpPr>
          <p:cNvPr id="14" name="Text 12"/>
          <p:cNvSpPr/>
          <p:nvPr/>
        </p:nvSpPr>
        <p:spPr>
          <a:xfrm>
            <a:off x="914400" y="251460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>
                <a:solidFill>
                  <a:srgbClr val="0D21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EDUCATION Cleaning</a:t>
            </a:r>
            <a:endParaRPr lang="en-US" sz="1200"/>
          </a:p>
        </p:txBody>
      </p:sp>
      <p:sp>
        <p:nvSpPr>
          <p:cNvPr id="15" name="Text 13"/>
          <p:cNvSpPr/>
          <p:nvPr/>
        </p:nvSpPr>
        <p:spPr>
          <a:xfrm>
            <a:off x="914400" y="2825496"/>
            <a:ext cx="3291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>
                <a:solidFill>
                  <a:srgbClr val="546E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Values 0, 5, 6 undocumented → remapped to 4</a:t>
            </a:r>
            <a:endParaRPr lang="en-US" sz="1050"/>
          </a:p>
          <a:p>
            <a:pPr marL="0" indent="0">
              <a:buNone/>
            </a:pPr>
            <a:r>
              <a:rPr lang="en-US" sz="1050">
                <a:solidFill>
                  <a:srgbClr val="546E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345 rows affected (1.15%)</a:t>
            </a:r>
            <a:endParaRPr lang="en-US" sz="1050"/>
          </a:p>
        </p:txBody>
      </p:sp>
      <p:sp>
        <p:nvSpPr>
          <p:cNvPr id="16" name="Shape 14"/>
          <p:cNvSpPr/>
          <p:nvPr/>
        </p:nvSpPr>
        <p:spPr>
          <a:xfrm>
            <a:off x="365760" y="3657600"/>
            <a:ext cx="3931920" cy="1097280"/>
          </a:xfrm>
          <a:prstGeom prst="rect">
            <a:avLst/>
          </a:prstGeom>
          <a:solidFill>
            <a:srgbClr val="FFFFFF"/>
          </a:solidFill>
          <a:ln w="12700">
            <a:solidFill>
              <a:srgbClr val="BBDEFB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65760" y="3657600"/>
            <a:ext cx="438912" cy="1097280"/>
          </a:xfrm>
          <a:prstGeom prst="rect">
            <a:avLst/>
          </a:prstGeom>
          <a:solidFill>
            <a:srgbClr val="0D2137"/>
          </a:solidFill>
          <a:ln w="12700">
            <a:solidFill>
              <a:srgbClr val="0D2137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3657600"/>
            <a:ext cx="438912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>
                <a:solidFill>
                  <a:srgbClr val="00B8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300"/>
          </a:p>
        </p:txBody>
      </p:sp>
      <p:sp>
        <p:nvSpPr>
          <p:cNvPr id="19" name="Text 17"/>
          <p:cNvSpPr/>
          <p:nvPr/>
        </p:nvSpPr>
        <p:spPr>
          <a:xfrm>
            <a:off x="914400" y="374904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>
                <a:solidFill>
                  <a:srgbClr val="0D21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MARRIAGE Cleaning</a:t>
            </a:r>
            <a:endParaRPr lang="en-US" sz="1200"/>
          </a:p>
        </p:txBody>
      </p:sp>
      <p:sp>
        <p:nvSpPr>
          <p:cNvPr id="20" name="Text 18"/>
          <p:cNvSpPr/>
          <p:nvPr/>
        </p:nvSpPr>
        <p:spPr>
          <a:xfrm>
            <a:off x="914400" y="4059936"/>
            <a:ext cx="3291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>
                <a:solidFill>
                  <a:srgbClr val="546E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Value 0 undocumented → remapped to 3</a:t>
            </a:r>
            <a:endParaRPr lang="en-US" sz="1050"/>
          </a:p>
          <a:p>
            <a:pPr marL="0" indent="0">
              <a:buNone/>
            </a:pPr>
            <a:r>
              <a:rPr lang="en-US" sz="1050">
                <a:solidFill>
                  <a:srgbClr val="546E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54 rows affected. Total cleaned: 399 rows (1.3%)</a:t>
            </a:r>
            <a:endParaRPr lang="en-US" sz="1050"/>
          </a:p>
        </p:txBody>
      </p:sp>
      <p:sp>
        <p:nvSpPr>
          <p:cNvPr id="21" name="Shape 19"/>
          <p:cNvSpPr/>
          <p:nvPr/>
        </p:nvSpPr>
        <p:spPr>
          <a:xfrm>
            <a:off x="4663440" y="1188720"/>
            <a:ext cx="4297680" cy="1097280"/>
          </a:xfrm>
          <a:prstGeom prst="rect">
            <a:avLst/>
          </a:prstGeom>
          <a:solidFill>
            <a:srgbClr val="FFFFFF"/>
          </a:solidFill>
          <a:ln w="12700">
            <a:solidFill>
              <a:srgbClr val="BBDEFB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4663440" y="1188720"/>
            <a:ext cx="438912" cy="1097280"/>
          </a:xfrm>
          <a:prstGeom prst="rect">
            <a:avLst/>
          </a:prstGeom>
          <a:solidFill>
            <a:srgbClr val="0D2137"/>
          </a:solidFill>
          <a:ln w="12700">
            <a:solidFill>
              <a:srgbClr val="0D213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663440" y="1188720"/>
            <a:ext cx="438912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>
                <a:solidFill>
                  <a:srgbClr val="FFB3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300"/>
          </a:p>
        </p:txBody>
      </p:sp>
      <p:sp>
        <p:nvSpPr>
          <p:cNvPr id="24" name="Text 22"/>
          <p:cNvSpPr/>
          <p:nvPr/>
        </p:nvSpPr>
        <p:spPr>
          <a:xfrm>
            <a:off x="5212080" y="128016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>
                <a:solidFill>
                  <a:srgbClr val="0D21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Stratified Train/Test Split</a:t>
            </a:r>
            <a:endParaRPr lang="en-US" sz="1200"/>
          </a:p>
        </p:txBody>
      </p:sp>
      <p:sp>
        <p:nvSpPr>
          <p:cNvPr id="25" name="Text 23"/>
          <p:cNvSpPr/>
          <p:nvPr/>
        </p:nvSpPr>
        <p:spPr>
          <a:xfrm>
            <a:off x="5212080" y="1591056"/>
            <a:ext cx="3657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>
                <a:solidFill>
                  <a:srgbClr val="546E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80/20 split (random_state=42, stratify=y)</a:t>
            </a:r>
            <a:endParaRPr lang="en-US" sz="1050"/>
          </a:p>
          <a:p>
            <a:pPr marL="0" indent="0">
              <a:buNone/>
            </a:pPr>
            <a:r>
              <a:rPr lang="en-US" sz="1050">
                <a:solidFill>
                  <a:srgbClr val="546E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Default rate 22.12% preserved in both sets</a:t>
            </a:r>
            <a:endParaRPr lang="en-US" sz="1050"/>
          </a:p>
        </p:txBody>
      </p:sp>
      <p:sp>
        <p:nvSpPr>
          <p:cNvPr id="26" name="Shape 24"/>
          <p:cNvSpPr/>
          <p:nvPr/>
        </p:nvSpPr>
        <p:spPr>
          <a:xfrm>
            <a:off x="4663440" y="2423160"/>
            <a:ext cx="4297680" cy="1097280"/>
          </a:xfrm>
          <a:prstGeom prst="rect">
            <a:avLst/>
          </a:prstGeom>
          <a:solidFill>
            <a:srgbClr val="FFFFFF"/>
          </a:solidFill>
          <a:ln w="12700">
            <a:solidFill>
              <a:srgbClr val="BBDEFB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4663440" y="2423160"/>
            <a:ext cx="438912" cy="1097280"/>
          </a:xfrm>
          <a:prstGeom prst="rect">
            <a:avLst/>
          </a:prstGeom>
          <a:solidFill>
            <a:srgbClr val="0D2137"/>
          </a:solidFill>
          <a:ln w="12700">
            <a:solidFill>
              <a:srgbClr val="0D2137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4663440" y="2423160"/>
            <a:ext cx="438912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>
                <a:solidFill>
                  <a:srgbClr val="FFB3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1300"/>
          </a:p>
        </p:txBody>
      </p:sp>
      <p:sp>
        <p:nvSpPr>
          <p:cNvPr id="29" name="Text 27"/>
          <p:cNvSpPr/>
          <p:nvPr/>
        </p:nvSpPr>
        <p:spPr>
          <a:xfrm>
            <a:off x="5212080" y="251460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>
                <a:solidFill>
                  <a:srgbClr val="0D21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StandardScaler Normalization</a:t>
            </a:r>
            <a:endParaRPr lang="en-US" sz="1200"/>
          </a:p>
        </p:txBody>
      </p:sp>
      <p:sp>
        <p:nvSpPr>
          <p:cNvPr id="30" name="Text 28"/>
          <p:cNvSpPr/>
          <p:nvPr/>
        </p:nvSpPr>
        <p:spPr>
          <a:xfrm>
            <a:off x="5212080" y="2825496"/>
            <a:ext cx="3657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>
                <a:solidFill>
                  <a:srgbClr val="546E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Fitted on train only → applied to both sets</a:t>
            </a:r>
            <a:endParaRPr lang="en-US" sz="1050"/>
          </a:p>
          <a:p>
            <a:pPr marL="0" indent="0">
              <a:buNone/>
            </a:pPr>
            <a:r>
              <a:rPr lang="en-US" sz="1050">
                <a:solidFill>
                  <a:srgbClr val="546E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Prevents data leakage from test set</a:t>
            </a:r>
            <a:endParaRPr lang="en-US" sz="1050"/>
          </a:p>
        </p:txBody>
      </p:sp>
      <p:sp>
        <p:nvSpPr>
          <p:cNvPr id="31" name="Shape 29"/>
          <p:cNvSpPr/>
          <p:nvPr/>
        </p:nvSpPr>
        <p:spPr>
          <a:xfrm>
            <a:off x="365760" y="4663440"/>
            <a:ext cx="8595360" cy="384048"/>
          </a:xfrm>
          <a:prstGeom prst="rect">
            <a:avLst/>
          </a:prstGeom>
          <a:solidFill>
            <a:srgbClr val="EBF5FB"/>
          </a:solidFill>
          <a:ln w="12700">
            <a:solidFill>
              <a:srgbClr val="BBDEFB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57200" y="4681728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>
                <a:solidFill>
                  <a:srgbClr val="0D21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Result: 30,000 clean records  •  399 rows corrected (1.3%)  •  24,000 train / 6,000 test  •  No data leakage</a:t>
            </a:r>
            <a:endParaRPr lang="en-US" sz="110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0F6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D2137"/>
          </a:solidFill>
          <a:ln w="12700">
            <a:solidFill>
              <a:srgbClr val="0D2137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4572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Selection Rationale</a:t>
            </a:r>
            <a:endParaRPr lang="en-US" sz="2600"/>
          </a:p>
        </p:txBody>
      </p:sp>
      <p:sp>
        <p:nvSpPr>
          <p:cNvPr id="4" name="Shape 2"/>
          <p:cNvSpPr/>
          <p:nvPr/>
        </p:nvSpPr>
        <p:spPr>
          <a:xfrm>
            <a:off x="228600" y="914400"/>
            <a:ext cx="2743200" cy="4023360"/>
          </a:xfrm>
          <a:prstGeom prst="rect">
            <a:avLst/>
          </a:prstGeom>
          <a:solidFill>
            <a:srgbClr val="FFFFFF"/>
          </a:solidFill>
          <a:ln w="12700">
            <a:solidFill>
              <a:srgbClr val="BBDEFB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228600" y="914400"/>
            <a:ext cx="2743200" cy="365760"/>
          </a:xfrm>
          <a:prstGeom prst="rect">
            <a:avLst/>
          </a:prstGeom>
          <a:solidFill>
            <a:srgbClr val="1565C0"/>
          </a:solidFill>
          <a:ln w="12700">
            <a:solidFill>
              <a:srgbClr val="1565C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28600" y="91440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kern="0" spc="30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</a:t>
            </a:r>
            <a:endParaRPr lang="en-US" sz="1000"/>
          </a:p>
        </p:txBody>
      </p:sp>
      <p:sp>
        <p:nvSpPr>
          <p:cNvPr id="7" name="Text 5"/>
          <p:cNvSpPr/>
          <p:nvPr/>
        </p:nvSpPr>
        <p:spPr>
          <a:xfrm>
            <a:off x="338328" y="1325880"/>
            <a:ext cx="2523744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>
                <a:solidFill>
                  <a:srgbClr val="0D21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Logistic Regression</a:t>
            </a:r>
            <a:endParaRPr lang="en-US" sz="1400"/>
          </a:p>
        </p:txBody>
      </p:sp>
      <p:sp>
        <p:nvSpPr>
          <p:cNvPr id="8" name="Text 6"/>
          <p:cNvSpPr/>
          <p:nvPr/>
        </p:nvSpPr>
        <p:spPr>
          <a:xfrm>
            <a:off x="338328" y="1920240"/>
            <a:ext cx="2523744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kern="0" spc="10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CHOSEN</a:t>
            </a:r>
            <a:endParaRPr lang="en-US" sz="900"/>
          </a:p>
        </p:txBody>
      </p:sp>
      <p:sp>
        <p:nvSpPr>
          <p:cNvPr id="9" name="Text 7"/>
          <p:cNvSpPr/>
          <p:nvPr/>
        </p:nvSpPr>
        <p:spPr>
          <a:xfrm>
            <a:off x="338328" y="2148840"/>
            <a:ext cx="2523744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>
                <a:solidFill>
                  <a:srgbClr val="1A2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Industry-standard in finance; interpretable coefficients show feature impact on default probability</a:t>
            </a:r>
            <a:endParaRPr lang="en-US" sz="1050"/>
          </a:p>
        </p:txBody>
      </p:sp>
      <p:sp>
        <p:nvSpPr>
          <p:cNvPr id="10" name="Text 8"/>
          <p:cNvSpPr/>
          <p:nvPr/>
        </p:nvSpPr>
        <p:spPr>
          <a:xfrm>
            <a:off x="338328" y="2880360"/>
            <a:ext cx="2523744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kern="0" spc="10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LIMITATION</a:t>
            </a:r>
            <a:endParaRPr lang="en-US" sz="900"/>
          </a:p>
        </p:txBody>
      </p:sp>
      <p:sp>
        <p:nvSpPr>
          <p:cNvPr id="11" name="Text 9"/>
          <p:cNvSpPr/>
          <p:nvPr/>
        </p:nvSpPr>
        <p:spPr>
          <a:xfrm>
            <a:off x="338328" y="3108960"/>
            <a:ext cx="2523744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>
                <a:solidFill>
                  <a:srgbClr val="1A2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Assumes linear separability — violated here (PCA shows class overlap)</a:t>
            </a:r>
            <a:endParaRPr lang="en-US" sz="1050"/>
          </a:p>
        </p:txBody>
      </p:sp>
      <p:sp>
        <p:nvSpPr>
          <p:cNvPr id="12" name="Text 10"/>
          <p:cNvSpPr/>
          <p:nvPr/>
        </p:nvSpPr>
        <p:spPr>
          <a:xfrm>
            <a:off x="338328" y="3840480"/>
            <a:ext cx="2523744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kern="0" spc="10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FIX</a:t>
            </a:r>
            <a:endParaRPr lang="en-US" sz="900"/>
          </a:p>
        </p:txBody>
      </p:sp>
      <p:sp>
        <p:nvSpPr>
          <p:cNvPr id="13" name="Text 11"/>
          <p:cNvSpPr/>
          <p:nvPr/>
        </p:nvSpPr>
        <p:spPr>
          <a:xfrm>
            <a:off x="338328" y="4069080"/>
            <a:ext cx="2523744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>
                <a:solidFill>
                  <a:srgbClr val="1A2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class_weight='balanced' to counter 3.5:1 imbalance</a:t>
            </a:r>
            <a:endParaRPr lang="en-US" sz="1050"/>
          </a:p>
        </p:txBody>
      </p:sp>
      <p:sp>
        <p:nvSpPr>
          <p:cNvPr id="14" name="Shape 12"/>
          <p:cNvSpPr/>
          <p:nvPr/>
        </p:nvSpPr>
        <p:spPr>
          <a:xfrm>
            <a:off x="3136392" y="914400"/>
            <a:ext cx="2743200" cy="4023360"/>
          </a:xfrm>
          <a:prstGeom prst="rect">
            <a:avLst/>
          </a:prstGeom>
          <a:solidFill>
            <a:srgbClr val="FFFFFF"/>
          </a:solidFill>
          <a:ln w="12700">
            <a:solidFill>
              <a:srgbClr val="BBDEFB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3136392" y="914400"/>
            <a:ext cx="2743200" cy="365760"/>
          </a:xfrm>
          <a:prstGeom prst="rect">
            <a:avLst/>
          </a:prstGeom>
          <a:solidFill>
            <a:srgbClr val="7B1FA2"/>
          </a:solidFill>
          <a:ln w="12700">
            <a:solidFill>
              <a:srgbClr val="7B1FA2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136392" y="91440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kern="0" spc="30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PROBABILISTIC</a:t>
            </a:r>
            <a:endParaRPr lang="en-US" sz="1000"/>
          </a:p>
        </p:txBody>
      </p:sp>
      <p:sp>
        <p:nvSpPr>
          <p:cNvPr id="17" name="Text 15"/>
          <p:cNvSpPr/>
          <p:nvPr/>
        </p:nvSpPr>
        <p:spPr>
          <a:xfrm>
            <a:off x="3246120" y="1325880"/>
            <a:ext cx="2523744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>
                <a:solidFill>
                  <a:srgbClr val="0D21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Gaussian Naive Bayes</a:t>
            </a:r>
            <a:endParaRPr lang="en-US" sz="1400"/>
          </a:p>
        </p:txBody>
      </p:sp>
      <p:sp>
        <p:nvSpPr>
          <p:cNvPr id="18" name="Text 16"/>
          <p:cNvSpPr/>
          <p:nvPr/>
        </p:nvSpPr>
        <p:spPr>
          <a:xfrm>
            <a:off x="3246120" y="1920240"/>
            <a:ext cx="2523744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kern="0" spc="100">
                <a:solidFill>
                  <a:srgbClr val="7B1FA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CHOSEN</a:t>
            </a:r>
            <a:endParaRPr lang="en-US" sz="900"/>
          </a:p>
        </p:txBody>
      </p:sp>
      <p:sp>
        <p:nvSpPr>
          <p:cNvPr id="19" name="Text 17"/>
          <p:cNvSpPr/>
          <p:nvPr/>
        </p:nvSpPr>
        <p:spPr>
          <a:xfrm>
            <a:off x="3246120" y="2148840"/>
            <a:ext cx="2523744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>
                <a:solidFill>
                  <a:srgbClr val="1A2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Probabilistic approach using Bayes theorem — good contrast to deterministic LR</a:t>
            </a:r>
            <a:endParaRPr lang="en-US" sz="1050"/>
          </a:p>
        </p:txBody>
      </p:sp>
      <p:sp>
        <p:nvSpPr>
          <p:cNvPr id="20" name="Text 18"/>
          <p:cNvSpPr/>
          <p:nvPr/>
        </p:nvSpPr>
        <p:spPr>
          <a:xfrm>
            <a:off x="3246120" y="2880360"/>
            <a:ext cx="2523744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kern="0" spc="100">
                <a:solidFill>
                  <a:srgbClr val="7B1FA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LIMITATION</a:t>
            </a:r>
            <a:endParaRPr lang="en-US" sz="900"/>
          </a:p>
        </p:txBody>
      </p:sp>
      <p:sp>
        <p:nvSpPr>
          <p:cNvPr id="21" name="Text 19"/>
          <p:cNvSpPr/>
          <p:nvPr/>
        </p:nvSpPr>
        <p:spPr>
          <a:xfrm>
            <a:off x="3246120" y="3108960"/>
            <a:ext cx="2523744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>
                <a:solidFill>
                  <a:srgbClr val="1A2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Assumes feature independence — violated (PAY_AMT1–6 correlations &gt; 0.9)</a:t>
            </a:r>
            <a:endParaRPr lang="en-US" sz="1050"/>
          </a:p>
        </p:txBody>
      </p:sp>
      <p:sp>
        <p:nvSpPr>
          <p:cNvPr id="22" name="Text 20"/>
          <p:cNvSpPr/>
          <p:nvPr/>
        </p:nvSpPr>
        <p:spPr>
          <a:xfrm>
            <a:off x="3246120" y="3840480"/>
            <a:ext cx="2523744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kern="0" spc="100">
                <a:solidFill>
                  <a:srgbClr val="7B1FA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FIX</a:t>
            </a:r>
            <a:endParaRPr lang="en-US" sz="900"/>
          </a:p>
        </p:txBody>
      </p:sp>
      <p:sp>
        <p:nvSpPr>
          <p:cNvPr id="23" name="Text 21"/>
          <p:cNvSpPr/>
          <p:nvPr/>
        </p:nvSpPr>
        <p:spPr>
          <a:xfrm>
            <a:off x="3246120" y="4069080"/>
            <a:ext cx="2523744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>
                <a:solidFill>
                  <a:srgbClr val="1A2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class_weight support; expected lower performance</a:t>
            </a:r>
            <a:endParaRPr lang="en-US" sz="1050"/>
          </a:p>
        </p:txBody>
      </p:sp>
      <p:sp>
        <p:nvSpPr>
          <p:cNvPr id="24" name="Shape 22"/>
          <p:cNvSpPr/>
          <p:nvPr/>
        </p:nvSpPr>
        <p:spPr>
          <a:xfrm>
            <a:off x="6044184" y="914400"/>
            <a:ext cx="2743200" cy="4023360"/>
          </a:xfrm>
          <a:prstGeom prst="rect">
            <a:avLst/>
          </a:prstGeom>
          <a:solidFill>
            <a:srgbClr val="FFFFFF"/>
          </a:solidFill>
          <a:ln w="12700">
            <a:solidFill>
              <a:srgbClr val="BBDEFB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6044184" y="914400"/>
            <a:ext cx="2743200" cy="365760"/>
          </a:xfrm>
          <a:prstGeom prst="rect">
            <a:avLst/>
          </a:prstGeom>
          <a:solidFill>
            <a:srgbClr val="00695C"/>
          </a:solidFill>
          <a:ln w="12700">
            <a:solidFill>
              <a:srgbClr val="00695C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044184" y="91440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kern="0" spc="30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BEST MODEL</a:t>
            </a:r>
            <a:endParaRPr lang="en-US" sz="1000"/>
          </a:p>
        </p:txBody>
      </p:sp>
      <p:sp>
        <p:nvSpPr>
          <p:cNvPr id="27" name="Text 25"/>
          <p:cNvSpPr/>
          <p:nvPr/>
        </p:nvSpPr>
        <p:spPr>
          <a:xfrm>
            <a:off x="6153912" y="1325880"/>
            <a:ext cx="2523744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>
                <a:solidFill>
                  <a:srgbClr val="0D21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Decision Tree</a:t>
            </a:r>
            <a:endParaRPr lang="en-US" sz="1400"/>
          </a:p>
        </p:txBody>
      </p:sp>
      <p:sp>
        <p:nvSpPr>
          <p:cNvPr id="28" name="Text 26"/>
          <p:cNvSpPr/>
          <p:nvPr/>
        </p:nvSpPr>
        <p:spPr>
          <a:xfrm>
            <a:off x="6153912" y="1920240"/>
            <a:ext cx="2523744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kern="0" spc="100">
                <a:solidFill>
                  <a:srgbClr val="006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CHOSEN</a:t>
            </a:r>
            <a:endParaRPr lang="en-US" sz="900"/>
          </a:p>
        </p:txBody>
      </p:sp>
      <p:sp>
        <p:nvSpPr>
          <p:cNvPr id="29" name="Text 27"/>
          <p:cNvSpPr/>
          <p:nvPr/>
        </p:nvSpPr>
        <p:spPr>
          <a:xfrm>
            <a:off x="6153912" y="2148840"/>
            <a:ext cx="2523744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>
                <a:solidFill>
                  <a:srgbClr val="1A2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Captures non-linear relationships without requiring feature scaling</a:t>
            </a:r>
            <a:endParaRPr lang="en-US" sz="1050"/>
          </a:p>
        </p:txBody>
      </p:sp>
      <p:sp>
        <p:nvSpPr>
          <p:cNvPr id="30" name="Text 28"/>
          <p:cNvSpPr/>
          <p:nvPr/>
        </p:nvSpPr>
        <p:spPr>
          <a:xfrm>
            <a:off x="6153912" y="2880360"/>
            <a:ext cx="2523744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kern="0" spc="100">
                <a:solidFill>
                  <a:srgbClr val="006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LIMITATION</a:t>
            </a:r>
            <a:endParaRPr lang="en-US" sz="900"/>
          </a:p>
        </p:txBody>
      </p:sp>
      <p:sp>
        <p:nvSpPr>
          <p:cNvPr id="31" name="Text 29"/>
          <p:cNvSpPr/>
          <p:nvPr/>
        </p:nvSpPr>
        <p:spPr>
          <a:xfrm>
            <a:off x="6153912" y="3108960"/>
            <a:ext cx="2523744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>
                <a:solidFill>
                  <a:srgbClr val="1A2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Prone to overfitting — controlled with max_depth=5, min_samples_leaf=20</a:t>
            </a:r>
            <a:endParaRPr lang="en-US" sz="1050"/>
          </a:p>
        </p:txBody>
      </p:sp>
      <p:sp>
        <p:nvSpPr>
          <p:cNvPr id="32" name="Text 30"/>
          <p:cNvSpPr/>
          <p:nvPr/>
        </p:nvSpPr>
        <p:spPr>
          <a:xfrm>
            <a:off x="6153912" y="3840480"/>
            <a:ext cx="2523744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kern="0" spc="100">
                <a:solidFill>
                  <a:srgbClr val="006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FIX</a:t>
            </a:r>
            <a:endParaRPr lang="en-US" sz="900"/>
          </a:p>
        </p:txBody>
      </p:sp>
      <p:sp>
        <p:nvSpPr>
          <p:cNvPr id="33" name="Text 31"/>
          <p:cNvSpPr/>
          <p:nvPr/>
        </p:nvSpPr>
        <p:spPr>
          <a:xfrm>
            <a:off x="6153912" y="4069080"/>
            <a:ext cx="2523744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>
                <a:solidFill>
                  <a:srgbClr val="1A2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Gini impurity as criterion; class_weight='balanced' applied</a:t>
            </a:r>
            <a:endParaRPr lang="en-US" sz="105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D213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Evaluation Framework</a:t>
            </a:r>
            <a:endParaRPr lang="en-US" sz="3000"/>
          </a:p>
        </p:txBody>
      </p:sp>
      <p:sp>
        <p:nvSpPr>
          <p:cNvPr id="3" name="Shape 1"/>
          <p:cNvSpPr/>
          <p:nvPr/>
        </p:nvSpPr>
        <p:spPr>
          <a:xfrm>
            <a:off x="457200" y="822960"/>
            <a:ext cx="8229600" cy="27432"/>
          </a:xfrm>
          <a:prstGeom prst="rect">
            <a:avLst/>
          </a:prstGeom>
          <a:solidFill>
            <a:srgbClr val="00B8D4"/>
          </a:solidFill>
          <a:ln w="12700">
            <a:solidFill>
              <a:srgbClr val="00B8D4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86868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>
                <a:solidFill>
                  <a:srgbClr val="4FC3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we used multiple metrics — accuracy alone is misleading with 78/22 class split</a:t>
            </a:r>
            <a:endParaRPr lang="en-US" sz="1200"/>
          </a:p>
        </p:txBody>
      </p:sp>
      <p:sp>
        <p:nvSpPr>
          <p:cNvPr id="5" name="Shape 3"/>
          <p:cNvSpPr/>
          <p:nvPr/>
        </p:nvSpPr>
        <p:spPr>
          <a:xfrm>
            <a:off x="274320" y="1234440"/>
            <a:ext cx="2651760" cy="1828800"/>
          </a:xfrm>
          <a:prstGeom prst="rect">
            <a:avLst/>
          </a:prstGeom>
          <a:solidFill>
            <a:srgbClr val="132840"/>
          </a:solidFill>
          <a:ln w="12700">
            <a:solidFill>
              <a:srgbClr val="1F4A7A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274320" y="1234440"/>
            <a:ext cx="2651760" cy="54864"/>
          </a:xfrm>
          <a:prstGeom prst="rect">
            <a:avLst/>
          </a:prstGeom>
          <a:solidFill>
            <a:srgbClr val="F44336"/>
          </a:solidFill>
          <a:ln w="12700">
            <a:solidFill>
              <a:srgbClr val="F4433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84048" y="1325880"/>
            <a:ext cx="2432304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b="1" kern="0" spc="100">
                <a:solidFill>
                  <a:srgbClr val="F443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★ HIGHEST PRIORITY</a:t>
            </a:r>
            <a:endParaRPr lang="en-US" sz="850"/>
          </a:p>
        </p:txBody>
      </p:sp>
      <p:sp>
        <p:nvSpPr>
          <p:cNvPr id="8" name="Text 6"/>
          <p:cNvSpPr/>
          <p:nvPr/>
        </p:nvSpPr>
        <p:spPr>
          <a:xfrm>
            <a:off x="384048" y="1527048"/>
            <a:ext cx="24323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Recall (Default class)</a:t>
            </a:r>
            <a:endParaRPr lang="en-US" sz="1300"/>
          </a:p>
        </p:txBody>
      </p:sp>
      <p:sp>
        <p:nvSpPr>
          <p:cNvPr id="9" name="Shape 7"/>
          <p:cNvSpPr/>
          <p:nvPr/>
        </p:nvSpPr>
        <p:spPr>
          <a:xfrm>
            <a:off x="384048" y="1892808"/>
            <a:ext cx="2286000" cy="18288"/>
          </a:xfrm>
          <a:prstGeom prst="rect">
            <a:avLst/>
          </a:prstGeom>
          <a:solidFill>
            <a:srgbClr val="1F4A7A"/>
          </a:solidFill>
          <a:ln w="12700">
            <a:solidFill>
              <a:srgbClr val="1F4A7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84048" y="1965960"/>
            <a:ext cx="2432304" cy="9875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>
                <a:solidFill>
                  <a:srgbClr val="4FC3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Missing a real defaulter is the most costly error for the bank — false negatives mean undetected risk</a:t>
            </a:r>
            <a:endParaRPr lang="en-US" sz="1050"/>
          </a:p>
        </p:txBody>
      </p:sp>
      <p:sp>
        <p:nvSpPr>
          <p:cNvPr id="11" name="Shape 9"/>
          <p:cNvSpPr/>
          <p:nvPr/>
        </p:nvSpPr>
        <p:spPr>
          <a:xfrm>
            <a:off x="3154680" y="1234440"/>
            <a:ext cx="2651760" cy="1828800"/>
          </a:xfrm>
          <a:prstGeom prst="rect">
            <a:avLst/>
          </a:prstGeom>
          <a:solidFill>
            <a:srgbClr val="132840"/>
          </a:solidFill>
          <a:ln w="12700">
            <a:solidFill>
              <a:srgbClr val="1F4A7A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154680" y="1234440"/>
            <a:ext cx="2651760" cy="54864"/>
          </a:xfrm>
          <a:prstGeom prst="rect">
            <a:avLst/>
          </a:prstGeom>
          <a:solidFill>
            <a:srgbClr val="FFB300"/>
          </a:solidFill>
          <a:ln w="12700">
            <a:solidFill>
              <a:srgbClr val="FFB30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264408" y="1325880"/>
            <a:ext cx="2432304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b="1" kern="0" spc="100">
                <a:solidFill>
                  <a:srgbClr val="FFB3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SECONDARY</a:t>
            </a:r>
            <a:endParaRPr lang="en-US" sz="850"/>
          </a:p>
        </p:txBody>
      </p:sp>
      <p:sp>
        <p:nvSpPr>
          <p:cNvPr id="14" name="Text 12"/>
          <p:cNvSpPr/>
          <p:nvPr/>
        </p:nvSpPr>
        <p:spPr>
          <a:xfrm>
            <a:off x="3264408" y="1527048"/>
            <a:ext cx="24323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Precision (Default class)</a:t>
            </a:r>
            <a:endParaRPr lang="en-US" sz="1300"/>
          </a:p>
        </p:txBody>
      </p:sp>
      <p:sp>
        <p:nvSpPr>
          <p:cNvPr id="15" name="Shape 13"/>
          <p:cNvSpPr/>
          <p:nvPr/>
        </p:nvSpPr>
        <p:spPr>
          <a:xfrm>
            <a:off x="3264408" y="1892808"/>
            <a:ext cx="2286000" cy="18288"/>
          </a:xfrm>
          <a:prstGeom prst="rect">
            <a:avLst/>
          </a:prstGeom>
          <a:solidFill>
            <a:srgbClr val="1F4A7A"/>
          </a:solidFill>
          <a:ln w="12700">
            <a:solidFill>
              <a:srgbClr val="1F4A7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264408" y="1965960"/>
            <a:ext cx="2432304" cy="9875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>
                <a:solidFill>
                  <a:srgbClr val="4FC3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Also important — too many false positives rejects creditworthy customers unnecessarily</a:t>
            </a:r>
            <a:endParaRPr lang="en-US" sz="1050"/>
          </a:p>
        </p:txBody>
      </p:sp>
      <p:sp>
        <p:nvSpPr>
          <p:cNvPr id="17" name="Shape 15"/>
          <p:cNvSpPr/>
          <p:nvPr/>
        </p:nvSpPr>
        <p:spPr>
          <a:xfrm>
            <a:off x="6035040" y="1234440"/>
            <a:ext cx="2651760" cy="1828800"/>
          </a:xfrm>
          <a:prstGeom prst="rect">
            <a:avLst/>
          </a:prstGeom>
          <a:solidFill>
            <a:srgbClr val="132840"/>
          </a:solidFill>
          <a:ln w="12700">
            <a:solidFill>
              <a:srgbClr val="1F4A7A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6035040" y="1234440"/>
            <a:ext cx="2651760" cy="54864"/>
          </a:xfrm>
          <a:prstGeom prst="rect">
            <a:avLst/>
          </a:prstGeom>
          <a:solidFill>
            <a:srgbClr val="00B8D4"/>
          </a:solidFill>
          <a:ln w="12700">
            <a:solidFill>
              <a:srgbClr val="00B8D4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144768" y="1325880"/>
            <a:ext cx="2432304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b="1" kern="0" spc="100">
                <a:solidFill>
                  <a:srgbClr val="00B8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BALANCE METRIC</a:t>
            </a:r>
            <a:endParaRPr lang="en-US" sz="850"/>
          </a:p>
        </p:txBody>
      </p:sp>
      <p:sp>
        <p:nvSpPr>
          <p:cNvPr id="20" name="Text 18"/>
          <p:cNvSpPr/>
          <p:nvPr/>
        </p:nvSpPr>
        <p:spPr>
          <a:xfrm>
            <a:off x="6144768" y="1527048"/>
            <a:ext cx="24323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F1-Score</a:t>
            </a:r>
            <a:endParaRPr lang="en-US" sz="1300"/>
          </a:p>
        </p:txBody>
      </p:sp>
      <p:sp>
        <p:nvSpPr>
          <p:cNvPr id="21" name="Shape 19"/>
          <p:cNvSpPr/>
          <p:nvPr/>
        </p:nvSpPr>
        <p:spPr>
          <a:xfrm>
            <a:off x="6144768" y="1892808"/>
            <a:ext cx="2286000" cy="18288"/>
          </a:xfrm>
          <a:prstGeom prst="rect">
            <a:avLst/>
          </a:prstGeom>
          <a:solidFill>
            <a:srgbClr val="1F4A7A"/>
          </a:solidFill>
          <a:ln w="12700">
            <a:solidFill>
              <a:srgbClr val="1F4A7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144768" y="1965960"/>
            <a:ext cx="2432304" cy="9875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>
                <a:solidFill>
                  <a:srgbClr val="4FC3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Harmonic mean of precision &amp; recall — single score that penalises extreme imbalance between the two</a:t>
            </a:r>
            <a:endParaRPr lang="en-US" sz="1050"/>
          </a:p>
        </p:txBody>
      </p:sp>
      <p:sp>
        <p:nvSpPr>
          <p:cNvPr id="23" name="Shape 21"/>
          <p:cNvSpPr/>
          <p:nvPr/>
        </p:nvSpPr>
        <p:spPr>
          <a:xfrm>
            <a:off x="274320" y="3200400"/>
            <a:ext cx="4114800" cy="1691640"/>
          </a:xfrm>
          <a:prstGeom prst="rect">
            <a:avLst/>
          </a:prstGeom>
          <a:solidFill>
            <a:srgbClr val="132840"/>
          </a:solidFill>
          <a:ln w="12700">
            <a:solidFill>
              <a:srgbClr val="1F4A7A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274320" y="3200400"/>
            <a:ext cx="4114800" cy="54864"/>
          </a:xfrm>
          <a:prstGeom prst="rect">
            <a:avLst/>
          </a:prstGeom>
          <a:solidFill>
            <a:srgbClr val="00C853"/>
          </a:solidFill>
          <a:ln w="12700">
            <a:solidFill>
              <a:srgbClr val="00C853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411480" y="3291840"/>
            <a:ext cx="38404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b="1" kern="0" spc="100">
                <a:solidFill>
                  <a:srgbClr val="00C85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PRIMARY COMPARISON</a:t>
            </a:r>
            <a:endParaRPr lang="en-US" sz="850"/>
          </a:p>
        </p:txBody>
      </p:sp>
      <p:sp>
        <p:nvSpPr>
          <p:cNvPr id="26" name="Text 24"/>
          <p:cNvSpPr/>
          <p:nvPr/>
        </p:nvSpPr>
        <p:spPr>
          <a:xfrm>
            <a:off x="411480" y="3493008"/>
            <a:ext cx="3840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ROC-AUC</a:t>
            </a:r>
            <a:endParaRPr lang="en-US" sz="1400"/>
          </a:p>
        </p:txBody>
      </p:sp>
      <p:sp>
        <p:nvSpPr>
          <p:cNvPr id="27" name="Shape 25"/>
          <p:cNvSpPr/>
          <p:nvPr/>
        </p:nvSpPr>
        <p:spPr>
          <a:xfrm>
            <a:off x="411480" y="3858768"/>
            <a:ext cx="3657600" cy="18288"/>
          </a:xfrm>
          <a:prstGeom prst="rect">
            <a:avLst/>
          </a:prstGeom>
          <a:solidFill>
            <a:srgbClr val="1F4A7A"/>
          </a:solidFill>
          <a:ln w="12700">
            <a:solidFill>
              <a:srgbClr val="1F4A7A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411480" y="3931920"/>
            <a:ext cx="38404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>
                <a:solidFill>
                  <a:srgbClr val="4FC3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Measures discrimination ability across ALL decision thresholds — robust to class imbalance, main ranking metric</a:t>
            </a:r>
            <a:endParaRPr lang="en-US" sz="1100"/>
          </a:p>
        </p:txBody>
      </p:sp>
      <p:sp>
        <p:nvSpPr>
          <p:cNvPr id="29" name="Shape 27"/>
          <p:cNvSpPr/>
          <p:nvPr/>
        </p:nvSpPr>
        <p:spPr>
          <a:xfrm>
            <a:off x="4617720" y="3200400"/>
            <a:ext cx="4114800" cy="1691640"/>
          </a:xfrm>
          <a:prstGeom prst="rect">
            <a:avLst/>
          </a:prstGeom>
          <a:solidFill>
            <a:srgbClr val="132840"/>
          </a:solidFill>
          <a:ln w="12700">
            <a:solidFill>
              <a:srgbClr val="1F4A7A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4617720" y="3200400"/>
            <a:ext cx="4114800" cy="54864"/>
          </a:xfrm>
          <a:prstGeom prst="rect">
            <a:avLst/>
          </a:prstGeom>
          <a:solidFill>
            <a:srgbClr val="4FC3F7"/>
          </a:solidFill>
          <a:ln w="12700">
            <a:solidFill>
              <a:srgbClr val="4FC3F7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4754880" y="3291840"/>
            <a:ext cx="38404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b="1" kern="0" spc="100">
                <a:solidFill>
                  <a:srgbClr val="4FC3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RELIABILITY CHECK</a:t>
            </a:r>
            <a:endParaRPr lang="en-US" sz="850"/>
          </a:p>
        </p:txBody>
      </p:sp>
      <p:sp>
        <p:nvSpPr>
          <p:cNvPr id="32" name="Text 30"/>
          <p:cNvSpPr/>
          <p:nvPr/>
        </p:nvSpPr>
        <p:spPr>
          <a:xfrm>
            <a:off x="4754880" y="3493008"/>
            <a:ext cx="3840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5-Fold Stratified CV</a:t>
            </a:r>
            <a:endParaRPr lang="en-US" sz="1400"/>
          </a:p>
        </p:txBody>
      </p:sp>
      <p:sp>
        <p:nvSpPr>
          <p:cNvPr id="33" name="Shape 31"/>
          <p:cNvSpPr/>
          <p:nvPr/>
        </p:nvSpPr>
        <p:spPr>
          <a:xfrm>
            <a:off x="4754880" y="3858768"/>
            <a:ext cx="3657600" cy="18288"/>
          </a:xfrm>
          <a:prstGeom prst="rect">
            <a:avLst/>
          </a:prstGeom>
          <a:solidFill>
            <a:srgbClr val="1F4A7A"/>
          </a:solidFill>
          <a:ln w="12700">
            <a:solidFill>
              <a:srgbClr val="1F4A7A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4754880" y="3931920"/>
            <a:ext cx="38404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>
                <a:solidFill>
                  <a:srgbClr val="4FC3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fold preserves the 22.12% default rate — guards against lucky/unlucky single splits and measures model stability</a:t>
            </a:r>
            <a:endParaRPr lang="en-US" sz="110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0F6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D2137"/>
          </a:solidFill>
          <a:ln w="12700">
            <a:solidFill>
              <a:srgbClr val="0D2137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4572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Performance Results</a:t>
            </a:r>
            <a:endParaRPr lang="en-US" sz="2600"/>
          </a:p>
        </p:txBody>
      </p:sp>
      <p:sp>
        <p:nvSpPr>
          <p:cNvPr id="4" name="Text 2"/>
          <p:cNvSpPr/>
          <p:nvPr/>
        </p:nvSpPr>
        <p:spPr>
          <a:xfrm>
            <a:off x="457200" y="841248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>
                <a:solidFill>
                  <a:srgbClr val="546E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6,000-sample stratified test set  |  * Metrics for Default (1) class</a:t>
            </a:r>
            <a:endParaRPr lang="en-US" sz="110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1143000"/>
          <a:ext cx="8412480" cy="2286000"/>
        </p:xfrm>
        <a:graphic>
          <a:graphicData uri="http://schemas.openxmlformats.org/drawingml/2006/table">
            <a:tbl>
              <a:tblPr/>
              <a:tblGrid>
                <a:gridCol w="1828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972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972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09728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09728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09728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4572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>
                          <a:solidFill>
                            <a:srgbClr val="FFFFFF"/>
                          </a:solidFill>
                        </a:rPr>
                        <a:t>Model</a:t>
                      </a:r>
                      <a:endParaRPr lang="en-US" sz="1200"/>
                    </a:p>
                  </a:txBody>
                  <a:tcPr>
                    <a:lnL w="6350" cap="flat" cmpd="sng" algn="ctr">
                      <a:solidFill>
                        <a:srgbClr val="BBDE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DE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DE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DE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213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>
                          <a:solidFill>
                            <a:srgbClr val="FFFFFF"/>
                          </a:solidFill>
                        </a:rPr>
                        <a:t>Accuracy</a:t>
                      </a:r>
                      <a:endParaRPr lang="en-US" sz="1200"/>
                    </a:p>
                  </a:txBody>
                  <a:tcPr>
                    <a:lnL w="6350" cap="flat" cmpd="sng" algn="ctr">
                      <a:solidFill>
                        <a:srgbClr val="BBDE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DE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DE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DE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213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>
                          <a:solidFill>
                            <a:srgbClr val="FFFFFF"/>
                          </a:solidFill>
                        </a:rPr>
                        <a:t>Precision*</a:t>
                      </a:r>
                      <a:endParaRPr lang="en-US" sz="1200"/>
                    </a:p>
                  </a:txBody>
                  <a:tcPr>
                    <a:lnL w="6350" cap="flat" cmpd="sng" algn="ctr">
                      <a:solidFill>
                        <a:srgbClr val="BBDE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DE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DE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DE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213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>
                          <a:solidFill>
                            <a:srgbClr val="FFFFFF"/>
                          </a:solidFill>
                        </a:rPr>
                        <a:t>Recall*</a:t>
                      </a:r>
                      <a:endParaRPr lang="en-US" sz="1200"/>
                    </a:p>
                  </a:txBody>
                  <a:tcPr>
                    <a:lnL w="6350" cap="flat" cmpd="sng" algn="ctr">
                      <a:solidFill>
                        <a:srgbClr val="BBDE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DE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DE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DE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213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>
                          <a:solidFill>
                            <a:srgbClr val="FFFFFF"/>
                          </a:solidFill>
                        </a:rPr>
                        <a:t>F1-Score*</a:t>
                      </a:r>
                      <a:endParaRPr lang="en-US" sz="1200"/>
                    </a:p>
                  </a:txBody>
                  <a:tcPr>
                    <a:lnL w="6350" cap="flat" cmpd="sng" algn="ctr">
                      <a:solidFill>
                        <a:srgbClr val="BBDE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DE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DE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DE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213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>
                          <a:solidFill>
                            <a:srgbClr val="FFFFFF"/>
                          </a:solidFill>
                        </a:rPr>
                        <a:t>ROC-AUC</a:t>
                      </a:r>
                      <a:endParaRPr lang="en-US" sz="1200"/>
                    </a:p>
                  </a:txBody>
                  <a:tcPr>
                    <a:lnL w="6350" cap="flat" cmpd="sng" algn="ctr">
                      <a:solidFill>
                        <a:srgbClr val="BBDE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DE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DE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DE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213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>
                          <a:solidFill>
                            <a:srgbClr val="FFFFFF"/>
                          </a:solidFill>
                        </a:rPr>
                        <a:t>CV AUC (5-fold)</a:t>
                      </a:r>
                      <a:endParaRPr lang="en-US" sz="1200"/>
                    </a:p>
                  </a:txBody>
                  <a:tcPr>
                    <a:lnL w="6350" cap="flat" cmpd="sng" algn="ctr">
                      <a:solidFill>
                        <a:srgbClr val="BBDE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DE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DE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DE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213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>
                          <a:solidFill>
                            <a:srgbClr val="000000"/>
                          </a:solidFill>
                        </a:rPr>
                        <a:t>Logistic Regression</a:t>
                      </a:r>
                      <a:endParaRPr lang="en-US" sz="1200"/>
                    </a:p>
                  </a:txBody>
                  <a:tcPr>
                    <a:lnL w="6350" cap="flat" cmpd="sng" algn="ctr">
                      <a:solidFill>
                        <a:srgbClr val="BBDE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DE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DE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DE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>
                          <a:solidFill>
                            <a:srgbClr val="000000"/>
                          </a:solidFill>
                        </a:rPr>
                        <a:t>0.6795</a:t>
                      </a:r>
                      <a:endParaRPr lang="en-US" sz="1200"/>
                    </a:p>
                  </a:txBody>
                  <a:tcPr>
                    <a:lnL w="6350" cap="flat" cmpd="sng" algn="ctr">
                      <a:solidFill>
                        <a:srgbClr val="BBDE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DE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DE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DE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>
                          <a:solidFill>
                            <a:srgbClr val="000000"/>
                          </a:solidFill>
                        </a:rPr>
                        <a:t>0.3671</a:t>
                      </a:r>
                      <a:endParaRPr lang="en-US" sz="1200"/>
                    </a:p>
                  </a:txBody>
                  <a:tcPr>
                    <a:lnL w="6350" cap="flat" cmpd="sng" algn="ctr">
                      <a:solidFill>
                        <a:srgbClr val="BBDE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DE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DE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DE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>
                          <a:solidFill>
                            <a:srgbClr val="1565C0"/>
                          </a:solidFill>
                        </a:rPr>
                        <a:t>0.6202</a:t>
                      </a:r>
                      <a:endParaRPr lang="en-US" sz="1200"/>
                    </a:p>
                  </a:txBody>
                  <a:tcPr>
                    <a:lnL w="6350" cap="flat" cmpd="sng" algn="ctr">
                      <a:solidFill>
                        <a:srgbClr val="BBDE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DE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DE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DE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>
                          <a:solidFill>
                            <a:srgbClr val="000000"/>
                          </a:solidFill>
                        </a:rPr>
                        <a:t>0.4612</a:t>
                      </a:r>
                      <a:endParaRPr lang="en-US" sz="1200"/>
                    </a:p>
                  </a:txBody>
                  <a:tcPr>
                    <a:lnL w="6350" cap="flat" cmpd="sng" algn="ctr">
                      <a:solidFill>
                        <a:srgbClr val="BBDE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DE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DE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DE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>
                          <a:solidFill>
                            <a:srgbClr val="000000"/>
                          </a:solidFill>
                        </a:rPr>
                        <a:t>0.7084</a:t>
                      </a:r>
                      <a:endParaRPr lang="en-US" sz="1200"/>
                    </a:p>
                  </a:txBody>
                  <a:tcPr>
                    <a:lnL w="6350" cap="flat" cmpd="sng" algn="ctr">
                      <a:solidFill>
                        <a:srgbClr val="BBDE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DE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DE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DE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>
                          <a:solidFill>
                            <a:srgbClr val="000000"/>
                          </a:solidFill>
                        </a:rPr>
                        <a:t>0.7264 ± 0.011</a:t>
                      </a:r>
                      <a:endParaRPr lang="en-US" sz="1100"/>
                    </a:p>
                  </a:txBody>
                  <a:tcPr>
                    <a:lnL w="6350" cap="flat" cmpd="sng" algn="ctr">
                      <a:solidFill>
                        <a:srgbClr val="BBDE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DE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DE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DE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>
                          <a:solidFill>
                            <a:srgbClr val="000000"/>
                          </a:solidFill>
                        </a:rPr>
                        <a:t>Gaussian Naive Bayes</a:t>
                      </a:r>
                      <a:endParaRPr lang="en-US" sz="1200"/>
                    </a:p>
                  </a:txBody>
                  <a:tcPr>
                    <a:lnL w="6350" cap="flat" cmpd="sng" algn="ctr">
                      <a:solidFill>
                        <a:srgbClr val="BBDE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DE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DE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DE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>
                          <a:solidFill>
                            <a:srgbClr val="000000"/>
                          </a:solidFill>
                        </a:rPr>
                        <a:t>0.7518</a:t>
                      </a:r>
                      <a:endParaRPr lang="en-US" sz="1200"/>
                    </a:p>
                  </a:txBody>
                  <a:tcPr>
                    <a:lnL w="6350" cap="flat" cmpd="sng" algn="ctr">
                      <a:solidFill>
                        <a:srgbClr val="BBDE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DE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DE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DE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>
                          <a:solidFill>
                            <a:srgbClr val="000000"/>
                          </a:solidFill>
                        </a:rPr>
                        <a:t>0.4504</a:t>
                      </a:r>
                      <a:endParaRPr lang="en-US" sz="1200"/>
                    </a:p>
                  </a:txBody>
                  <a:tcPr>
                    <a:lnL w="6350" cap="flat" cmpd="sng" algn="ctr">
                      <a:solidFill>
                        <a:srgbClr val="BBDE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DE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DE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DE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>
                          <a:solidFill>
                            <a:srgbClr val="000000"/>
                          </a:solidFill>
                        </a:rPr>
                        <a:t>0.5539</a:t>
                      </a:r>
                      <a:endParaRPr lang="en-US" sz="1200"/>
                    </a:p>
                  </a:txBody>
                  <a:tcPr>
                    <a:lnL w="6350" cap="flat" cmpd="sng" algn="ctr">
                      <a:solidFill>
                        <a:srgbClr val="BBDE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DE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DE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DE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>
                          <a:solidFill>
                            <a:srgbClr val="000000"/>
                          </a:solidFill>
                        </a:rPr>
                        <a:t>0.4968</a:t>
                      </a:r>
                      <a:endParaRPr lang="en-US" sz="1200"/>
                    </a:p>
                  </a:txBody>
                  <a:tcPr>
                    <a:lnL w="6350" cap="flat" cmpd="sng" algn="ctr">
                      <a:solidFill>
                        <a:srgbClr val="BBDE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DE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DE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DE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>
                          <a:solidFill>
                            <a:srgbClr val="000000"/>
                          </a:solidFill>
                        </a:rPr>
                        <a:t>0.7248</a:t>
                      </a:r>
                      <a:endParaRPr lang="en-US" sz="1200"/>
                    </a:p>
                  </a:txBody>
                  <a:tcPr>
                    <a:lnL w="6350" cap="flat" cmpd="sng" algn="ctr">
                      <a:solidFill>
                        <a:srgbClr val="BBDE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DE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DE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DE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>
                          <a:solidFill>
                            <a:srgbClr val="000000"/>
                          </a:solidFill>
                        </a:rPr>
                        <a:t>0.7365 ± 0.010</a:t>
                      </a:r>
                      <a:endParaRPr lang="en-US" sz="1100"/>
                    </a:p>
                  </a:txBody>
                  <a:tcPr>
                    <a:lnL w="6350" cap="flat" cmpd="sng" algn="ctr">
                      <a:solidFill>
                        <a:srgbClr val="BBDE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DE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DE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DE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b="1">
                          <a:solidFill>
                            <a:srgbClr val="00695C"/>
                          </a:solidFill>
                        </a:rPr>
                        <a:t>Decision Tree ✓</a:t>
                      </a:r>
                      <a:endParaRPr lang="en-US" sz="1200"/>
                    </a:p>
                  </a:txBody>
                  <a:tcPr>
                    <a:lnL w="6350" cap="flat" cmpd="sng" algn="ctr">
                      <a:solidFill>
                        <a:srgbClr val="BBDE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DE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DE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DE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>
                          <a:solidFill>
                            <a:srgbClr val="00695C"/>
                          </a:solidFill>
                        </a:rPr>
                        <a:t>0.7723</a:t>
                      </a:r>
                      <a:endParaRPr lang="en-US" sz="1200"/>
                    </a:p>
                  </a:txBody>
                  <a:tcPr>
                    <a:lnL w="6350" cap="flat" cmpd="sng" algn="ctr">
                      <a:solidFill>
                        <a:srgbClr val="BBDE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DE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DE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DE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>
                          <a:solidFill>
                            <a:srgbClr val="00695C"/>
                          </a:solidFill>
                        </a:rPr>
                        <a:t>0.4870</a:t>
                      </a:r>
                      <a:endParaRPr lang="en-US" sz="1200"/>
                    </a:p>
                  </a:txBody>
                  <a:tcPr>
                    <a:lnL w="6350" cap="flat" cmpd="sng" algn="ctr">
                      <a:solidFill>
                        <a:srgbClr val="BBDE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DE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DE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DE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>
                          <a:solidFill>
                            <a:srgbClr val="00695C"/>
                          </a:solidFill>
                        </a:rPr>
                        <a:t>0.5516</a:t>
                      </a:r>
                      <a:endParaRPr lang="en-US" sz="1200"/>
                    </a:p>
                  </a:txBody>
                  <a:tcPr>
                    <a:lnL w="6350" cap="flat" cmpd="sng" algn="ctr">
                      <a:solidFill>
                        <a:srgbClr val="BBDE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DE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DE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DE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>
                          <a:solidFill>
                            <a:srgbClr val="00695C"/>
                          </a:solidFill>
                        </a:rPr>
                        <a:t>0.5173</a:t>
                      </a:r>
                      <a:endParaRPr lang="en-US" sz="1200"/>
                    </a:p>
                  </a:txBody>
                  <a:tcPr>
                    <a:lnL w="6350" cap="flat" cmpd="sng" algn="ctr">
                      <a:solidFill>
                        <a:srgbClr val="BBDE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DE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DE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DE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>
                          <a:solidFill>
                            <a:srgbClr val="00695C"/>
                          </a:solidFill>
                        </a:rPr>
                        <a:t>0.7589</a:t>
                      </a:r>
                      <a:endParaRPr lang="en-US" sz="1200"/>
                    </a:p>
                  </a:txBody>
                  <a:tcPr>
                    <a:lnL w="6350" cap="flat" cmpd="sng" algn="ctr">
                      <a:solidFill>
                        <a:srgbClr val="BBDE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DE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DE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DE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>
                          <a:solidFill>
                            <a:srgbClr val="00695C"/>
                          </a:solidFill>
                        </a:rPr>
                        <a:t>0.7577 ± 0.007</a:t>
                      </a:r>
                      <a:endParaRPr lang="en-US" sz="1100"/>
                    </a:p>
                  </a:txBody>
                  <a:tcPr>
                    <a:lnL w="6350" cap="flat" cmpd="sng" algn="ctr">
                      <a:solidFill>
                        <a:srgbClr val="BBDE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DE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DE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DE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365760" y="3611880"/>
            <a:ext cx="1920240" cy="1280160"/>
          </a:xfrm>
          <a:prstGeom prst="rect">
            <a:avLst/>
          </a:prstGeom>
          <a:solidFill>
            <a:srgbClr val="FFFFFF"/>
          </a:solidFill>
          <a:ln w="12700">
            <a:solidFill>
              <a:srgbClr val="BBDEFB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365760" y="3611880"/>
            <a:ext cx="1920240" cy="45720"/>
          </a:xfrm>
          <a:prstGeom prst="rect">
            <a:avLst/>
          </a:prstGeom>
          <a:solidFill>
            <a:srgbClr val="00695C"/>
          </a:solidFill>
          <a:ln w="12700">
            <a:solidFill>
              <a:srgbClr val="00695C"/>
            </a:solidFill>
            <a:prstDash val="solid"/>
          </a:ln>
        </p:spPr>
      </p:sp>
      <p:sp>
        <p:nvSpPr>
          <p:cNvPr id="5" name="Text 5"/>
          <p:cNvSpPr/>
          <p:nvPr/>
        </p:nvSpPr>
        <p:spPr>
          <a:xfrm>
            <a:off x="365760" y="3675888"/>
            <a:ext cx="19202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b="1" kern="0" spc="200">
                <a:solidFill>
                  <a:srgbClr val="006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BEST F1</a:t>
            </a:r>
            <a:endParaRPr lang="en-US" sz="800"/>
          </a:p>
        </p:txBody>
      </p:sp>
      <p:sp>
        <p:nvSpPr>
          <p:cNvPr id="9" name="Text 6"/>
          <p:cNvSpPr/>
          <p:nvPr/>
        </p:nvSpPr>
        <p:spPr>
          <a:xfrm>
            <a:off x="365760" y="3904488"/>
            <a:ext cx="19202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600" b="1">
                <a:solidFill>
                  <a:srgbClr val="0D21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0.5173</a:t>
            </a:r>
            <a:endParaRPr lang="en-US" sz="2600"/>
          </a:p>
        </p:txBody>
      </p:sp>
      <p:sp>
        <p:nvSpPr>
          <p:cNvPr id="10" name="Text 7"/>
          <p:cNvSpPr/>
          <p:nvPr/>
        </p:nvSpPr>
        <p:spPr>
          <a:xfrm>
            <a:off x="365760" y="4407408"/>
            <a:ext cx="1920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>
                <a:solidFill>
                  <a:srgbClr val="546E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Decision Tree</a:t>
            </a:r>
            <a:endParaRPr lang="en-US" sz="900"/>
          </a:p>
        </p:txBody>
      </p:sp>
      <p:sp>
        <p:nvSpPr>
          <p:cNvPr id="11" name="Shape 8"/>
          <p:cNvSpPr/>
          <p:nvPr/>
        </p:nvSpPr>
        <p:spPr>
          <a:xfrm>
            <a:off x="2487168" y="3611880"/>
            <a:ext cx="1920240" cy="1280160"/>
          </a:xfrm>
          <a:prstGeom prst="rect">
            <a:avLst/>
          </a:prstGeom>
          <a:solidFill>
            <a:srgbClr val="FFFFFF"/>
          </a:solidFill>
          <a:ln w="12700">
            <a:solidFill>
              <a:srgbClr val="BBDEFB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2487168" y="3611880"/>
            <a:ext cx="1920240" cy="45720"/>
          </a:xfrm>
          <a:prstGeom prst="rect">
            <a:avLst/>
          </a:prstGeom>
          <a:solidFill>
            <a:srgbClr val="00B8D4"/>
          </a:solidFill>
          <a:ln w="12700">
            <a:solidFill>
              <a:srgbClr val="00B8D4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2487168" y="3675888"/>
            <a:ext cx="19202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b="1" kern="0" spc="200">
                <a:solidFill>
                  <a:srgbClr val="00B8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BEST AUC</a:t>
            </a:r>
            <a:endParaRPr lang="en-US" sz="800"/>
          </a:p>
        </p:txBody>
      </p:sp>
      <p:sp>
        <p:nvSpPr>
          <p:cNvPr id="14" name="Text 11"/>
          <p:cNvSpPr/>
          <p:nvPr/>
        </p:nvSpPr>
        <p:spPr>
          <a:xfrm>
            <a:off x="2487168" y="3904488"/>
            <a:ext cx="19202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600" b="1">
                <a:solidFill>
                  <a:srgbClr val="0D21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0.7589</a:t>
            </a:r>
            <a:endParaRPr lang="en-US" sz="2600"/>
          </a:p>
        </p:txBody>
      </p:sp>
      <p:sp>
        <p:nvSpPr>
          <p:cNvPr id="15" name="Text 12"/>
          <p:cNvSpPr/>
          <p:nvPr/>
        </p:nvSpPr>
        <p:spPr>
          <a:xfrm>
            <a:off x="2487168" y="4407408"/>
            <a:ext cx="1920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>
                <a:solidFill>
                  <a:srgbClr val="546E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Decision Tree</a:t>
            </a:r>
            <a:endParaRPr lang="en-US" sz="900"/>
          </a:p>
        </p:txBody>
      </p:sp>
      <p:sp>
        <p:nvSpPr>
          <p:cNvPr id="16" name="Shape 13"/>
          <p:cNvSpPr/>
          <p:nvPr/>
        </p:nvSpPr>
        <p:spPr>
          <a:xfrm>
            <a:off x="4608576" y="3611880"/>
            <a:ext cx="1920240" cy="1280160"/>
          </a:xfrm>
          <a:prstGeom prst="rect">
            <a:avLst/>
          </a:prstGeom>
          <a:solidFill>
            <a:srgbClr val="FFFFFF"/>
          </a:solidFill>
          <a:ln w="12700">
            <a:solidFill>
              <a:srgbClr val="BBDEFB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7" name="Shape 14"/>
          <p:cNvSpPr/>
          <p:nvPr/>
        </p:nvSpPr>
        <p:spPr>
          <a:xfrm>
            <a:off x="4608576" y="3611880"/>
            <a:ext cx="1920240" cy="45720"/>
          </a:xfrm>
          <a:prstGeom prst="rect">
            <a:avLst/>
          </a:prstGeom>
          <a:solidFill>
            <a:srgbClr val="1565C0"/>
          </a:solidFill>
          <a:ln w="12700">
            <a:solidFill>
              <a:srgbClr val="1565C0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4608576" y="3675888"/>
            <a:ext cx="19202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b="1" kern="0" spc="20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BEST RECALL</a:t>
            </a:r>
            <a:endParaRPr lang="en-US" sz="800"/>
          </a:p>
        </p:txBody>
      </p:sp>
      <p:sp>
        <p:nvSpPr>
          <p:cNvPr id="19" name="Text 16"/>
          <p:cNvSpPr/>
          <p:nvPr/>
        </p:nvSpPr>
        <p:spPr>
          <a:xfrm>
            <a:off x="4608576" y="3904488"/>
            <a:ext cx="19202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600" b="1">
                <a:solidFill>
                  <a:srgbClr val="0D21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0.6202</a:t>
            </a:r>
            <a:endParaRPr lang="en-US" sz="2600"/>
          </a:p>
        </p:txBody>
      </p:sp>
      <p:sp>
        <p:nvSpPr>
          <p:cNvPr id="20" name="Text 17"/>
          <p:cNvSpPr/>
          <p:nvPr/>
        </p:nvSpPr>
        <p:spPr>
          <a:xfrm>
            <a:off x="4608576" y="4407408"/>
            <a:ext cx="1920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>
                <a:solidFill>
                  <a:srgbClr val="546E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Logistic Regression</a:t>
            </a:r>
            <a:endParaRPr lang="en-US" sz="900"/>
          </a:p>
        </p:txBody>
      </p:sp>
      <p:sp>
        <p:nvSpPr>
          <p:cNvPr id="21" name="Shape 18"/>
          <p:cNvSpPr/>
          <p:nvPr/>
        </p:nvSpPr>
        <p:spPr>
          <a:xfrm>
            <a:off x="6729984" y="3611880"/>
            <a:ext cx="1920240" cy="1280160"/>
          </a:xfrm>
          <a:prstGeom prst="rect">
            <a:avLst/>
          </a:prstGeom>
          <a:solidFill>
            <a:srgbClr val="FFFFFF"/>
          </a:solidFill>
          <a:ln w="12700">
            <a:solidFill>
              <a:srgbClr val="BBDEFB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22" name="Shape 19"/>
          <p:cNvSpPr/>
          <p:nvPr/>
        </p:nvSpPr>
        <p:spPr>
          <a:xfrm>
            <a:off x="6729984" y="3611880"/>
            <a:ext cx="1920240" cy="45720"/>
          </a:xfrm>
          <a:prstGeom prst="rect">
            <a:avLst/>
          </a:prstGeom>
          <a:solidFill>
            <a:srgbClr val="FFB300"/>
          </a:solidFill>
          <a:ln w="12700">
            <a:solidFill>
              <a:srgbClr val="FFB300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6729984" y="3675888"/>
            <a:ext cx="19202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b="1" kern="0" spc="200">
                <a:solidFill>
                  <a:srgbClr val="FFB3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LOWEST CV VARIANCE</a:t>
            </a:r>
            <a:endParaRPr lang="en-US" sz="800"/>
          </a:p>
        </p:txBody>
      </p:sp>
      <p:sp>
        <p:nvSpPr>
          <p:cNvPr id="24" name="Text 21"/>
          <p:cNvSpPr/>
          <p:nvPr/>
        </p:nvSpPr>
        <p:spPr>
          <a:xfrm>
            <a:off x="6729984" y="3904488"/>
            <a:ext cx="19202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600" b="1">
                <a:solidFill>
                  <a:srgbClr val="0D21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±0.007</a:t>
            </a:r>
            <a:endParaRPr lang="en-US" sz="2600"/>
          </a:p>
        </p:txBody>
      </p:sp>
      <p:sp>
        <p:nvSpPr>
          <p:cNvPr id="25" name="Text 22"/>
          <p:cNvSpPr/>
          <p:nvPr/>
        </p:nvSpPr>
        <p:spPr>
          <a:xfrm>
            <a:off x="6729984" y="4407408"/>
            <a:ext cx="1920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>
                <a:solidFill>
                  <a:srgbClr val="546E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Decision Tree – most stable</a:t>
            </a:r>
            <a:endParaRPr lang="en-US" sz="90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0F6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0D2137"/>
          </a:solidFill>
          <a:ln w="12700">
            <a:solidFill>
              <a:srgbClr val="0D2137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457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Visual Performance Comparison</a:t>
            </a:r>
            <a:endParaRPr lang="en-US" sz="2600"/>
          </a:p>
        </p:txBody>
      </p:sp>
      <p:graphicFrame>
        <p:nvGraphicFramePr>
          <p:cNvPr id="4" name="Chart 0"/>
          <p:cNvGraphicFramePr/>
          <p:nvPr/>
        </p:nvGraphicFramePr>
        <p:xfrm>
          <a:off x="365760" y="822960"/>
          <a:ext cx="8412480" cy="402336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D213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Dominant Predictor: PAY_0</a:t>
            </a:r>
            <a:endParaRPr lang="en-US" sz="3000"/>
          </a:p>
        </p:txBody>
      </p:sp>
      <p:sp>
        <p:nvSpPr>
          <p:cNvPr id="3" name="Shape 1"/>
          <p:cNvSpPr/>
          <p:nvPr/>
        </p:nvSpPr>
        <p:spPr>
          <a:xfrm>
            <a:off x="457200" y="804672"/>
            <a:ext cx="8229600" cy="27432"/>
          </a:xfrm>
          <a:prstGeom prst="rect">
            <a:avLst/>
          </a:prstGeom>
          <a:solidFill>
            <a:srgbClr val="00B8D4"/>
          </a:solidFill>
          <a:ln w="12700">
            <a:solidFill>
              <a:srgbClr val="00B8D4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850392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>
                <a:solidFill>
                  <a:srgbClr val="4FC3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Decision Tree — Gini Feature Importance  |  PAY_0 = most recent month repayment status</a:t>
            </a:r>
            <a:endParaRPr lang="en-US" sz="1100"/>
          </a:p>
        </p:txBody>
      </p:sp>
      <p:graphicFrame>
        <p:nvGraphicFramePr>
          <p:cNvPr id="5" name="Chart 0"/>
          <p:cNvGraphicFramePr/>
          <p:nvPr/>
        </p:nvGraphicFramePr>
        <p:xfrm>
          <a:off x="274320" y="1188720"/>
          <a:ext cx="5120640" cy="36576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6" name="Shape 3"/>
          <p:cNvSpPr/>
          <p:nvPr/>
        </p:nvSpPr>
        <p:spPr>
          <a:xfrm>
            <a:off x="5577840" y="1234440"/>
            <a:ext cx="3291840" cy="896112"/>
          </a:xfrm>
          <a:prstGeom prst="rect">
            <a:avLst/>
          </a:prstGeom>
          <a:solidFill>
            <a:srgbClr val="132840"/>
          </a:solidFill>
          <a:ln w="12700">
            <a:solidFill>
              <a:srgbClr val="1F4A7A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5577840" y="1234440"/>
            <a:ext cx="54864" cy="896112"/>
          </a:xfrm>
          <a:prstGeom prst="rect">
            <a:avLst/>
          </a:prstGeom>
          <a:solidFill>
            <a:srgbClr val="00B8D4"/>
          </a:solidFill>
          <a:ln w="12700">
            <a:solidFill>
              <a:srgbClr val="00B8D4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5687568" y="1280160"/>
            <a:ext cx="31089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>
                <a:solidFill>
                  <a:srgbClr val="00B8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74.61%</a:t>
            </a:r>
            <a:endParaRPr lang="en-US" sz="2000"/>
          </a:p>
        </p:txBody>
      </p:sp>
      <p:sp>
        <p:nvSpPr>
          <p:cNvPr id="9" name="Text 6"/>
          <p:cNvSpPr/>
          <p:nvPr/>
        </p:nvSpPr>
        <p:spPr>
          <a:xfrm>
            <a:off x="5687568" y="1627632"/>
            <a:ext cx="31089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PAY_0 Gini Importance</a:t>
            </a:r>
            <a:endParaRPr lang="en-US" sz="1100"/>
          </a:p>
        </p:txBody>
      </p:sp>
      <p:sp>
        <p:nvSpPr>
          <p:cNvPr id="10" name="Text 7"/>
          <p:cNvSpPr/>
          <p:nvPr/>
        </p:nvSpPr>
        <p:spPr>
          <a:xfrm>
            <a:off x="5687568" y="1828800"/>
            <a:ext cx="31089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>
                <a:solidFill>
                  <a:srgbClr val="4FC3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More than all other 22 features combined</a:t>
            </a:r>
            <a:endParaRPr lang="en-US" sz="1000"/>
          </a:p>
        </p:txBody>
      </p:sp>
      <p:sp>
        <p:nvSpPr>
          <p:cNvPr id="11" name="Shape 8"/>
          <p:cNvSpPr/>
          <p:nvPr/>
        </p:nvSpPr>
        <p:spPr>
          <a:xfrm>
            <a:off x="5577840" y="2240280"/>
            <a:ext cx="3291840" cy="896112"/>
          </a:xfrm>
          <a:prstGeom prst="rect">
            <a:avLst/>
          </a:prstGeom>
          <a:solidFill>
            <a:srgbClr val="132840"/>
          </a:solidFill>
          <a:ln w="12700">
            <a:solidFill>
              <a:srgbClr val="1F4A7A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5577840" y="2240280"/>
            <a:ext cx="54864" cy="896112"/>
          </a:xfrm>
          <a:prstGeom prst="rect">
            <a:avLst/>
          </a:prstGeom>
          <a:solidFill>
            <a:srgbClr val="00B8D4"/>
          </a:solidFill>
          <a:ln w="12700">
            <a:solidFill>
              <a:srgbClr val="00B8D4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5687568" y="2286000"/>
            <a:ext cx="31089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>
                <a:solidFill>
                  <a:srgbClr val="00B8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 3</a:t>
            </a:r>
            <a:endParaRPr lang="en-US" sz="2000"/>
          </a:p>
        </p:txBody>
      </p:sp>
      <p:sp>
        <p:nvSpPr>
          <p:cNvPr id="14" name="Text 11"/>
          <p:cNvSpPr/>
          <p:nvPr/>
        </p:nvSpPr>
        <p:spPr>
          <a:xfrm>
            <a:off x="5687568" y="2633472"/>
            <a:ext cx="31089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payment history vars</a:t>
            </a:r>
            <a:endParaRPr lang="en-US" sz="1100"/>
          </a:p>
        </p:txBody>
      </p:sp>
      <p:sp>
        <p:nvSpPr>
          <p:cNvPr id="15" name="Text 12"/>
          <p:cNvSpPr/>
          <p:nvPr/>
        </p:nvSpPr>
        <p:spPr>
          <a:xfrm>
            <a:off x="5687568" y="2834640"/>
            <a:ext cx="31089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>
                <a:solidFill>
                  <a:srgbClr val="4FC3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PAY_0, PAY_AMT2, PAY_4</a:t>
            </a:r>
            <a:endParaRPr lang="en-US" sz="1000"/>
          </a:p>
        </p:txBody>
      </p:sp>
      <p:sp>
        <p:nvSpPr>
          <p:cNvPr id="16" name="Shape 13"/>
          <p:cNvSpPr/>
          <p:nvPr/>
        </p:nvSpPr>
        <p:spPr>
          <a:xfrm>
            <a:off x="5577840" y="3246120"/>
            <a:ext cx="3291840" cy="896112"/>
          </a:xfrm>
          <a:prstGeom prst="rect">
            <a:avLst/>
          </a:prstGeom>
          <a:solidFill>
            <a:srgbClr val="132840"/>
          </a:solidFill>
          <a:ln w="12700">
            <a:solidFill>
              <a:srgbClr val="1F4A7A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7" name="Shape 14"/>
          <p:cNvSpPr/>
          <p:nvPr/>
        </p:nvSpPr>
        <p:spPr>
          <a:xfrm>
            <a:off x="5577840" y="3246120"/>
            <a:ext cx="54864" cy="896112"/>
          </a:xfrm>
          <a:prstGeom prst="rect">
            <a:avLst/>
          </a:prstGeom>
          <a:solidFill>
            <a:srgbClr val="00B8D4"/>
          </a:solidFill>
          <a:ln w="12700">
            <a:solidFill>
              <a:srgbClr val="00B8D4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5687568" y="3291840"/>
            <a:ext cx="31089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>
                <a:solidFill>
                  <a:srgbClr val="00B8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Verified</a:t>
            </a:r>
            <a:endParaRPr lang="en-US" sz="2000"/>
          </a:p>
        </p:txBody>
      </p:sp>
      <p:sp>
        <p:nvSpPr>
          <p:cNvPr id="19" name="Text 16"/>
          <p:cNvSpPr/>
          <p:nvPr/>
        </p:nvSpPr>
        <p:spPr>
          <a:xfrm>
            <a:off x="5687568" y="3639312"/>
            <a:ext cx="31089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Yeh &amp; Lien (2009)</a:t>
            </a:r>
            <a:endParaRPr lang="en-US" sz="1100"/>
          </a:p>
        </p:txBody>
      </p:sp>
      <p:sp>
        <p:nvSpPr>
          <p:cNvPr id="20" name="Text 17"/>
          <p:cNvSpPr/>
          <p:nvPr/>
        </p:nvSpPr>
        <p:spPr>
          <a:xfrm>
            <a:off x="5687568" y="3840480"/>
            <a:ext cx="31089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>
                <a:solidFill>
                  <a:srgbClr val="4FC3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Original paper confirmed same finding</a:t>
            </a:r>
            <a:endParaRPr lang="en-US" sz="1000"/>
          </a:p>
        </p:txBody>
      </p:sp>
      <p:sp>
        <p:nvSpPr>
          <p:cNvPr id="21" name="Shape 18"/>
          <p:cNvSpPr/>
          <p:nvPr/>
        </p:nvSpPr>
        <p:spPr>
          <a:xfrm>
            <a:off x="5577840" y="4297680"/>
            <a:ext cx="3291840" cy="594360"/>
          </a:xfrm>
          <a:prstGeom prst="rect">
            <a:avLst/>
          </a:prstGeom>
          <a:solidFill>
            <a:srgbClr val="1A2D1A"/>
          </a:solidFill>
          <a:ln w="12700">
            <a:solidFill>
              <a:srgbClr val="00C853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5669280" y="4325112"/>
            <a:ext cx="310896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i="1">
                <a:solidFill>
                  <a:srgbClr val="FFB3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you paid late last month → you're likely to default next month.</a:t>
            </a:r>
            <a:endParaRPr lang="en-US" sz="110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0F6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D2137"/>
          </a:solidFill>
          <a:ln w="12700">
            <a:solidFill>
              <a:srgbClr val="0D2137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4572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PCA &amp; Dimensionality Insights</a:t>
            </a:r>
            <a:endParaRPr lang="en-US" sz="2600"/>
          </a:p>
        </p:txBody>
      </p:sp>
      <p:graphicFrame>
        <p:nvGraphicFramePr>
          <p:cNvPr id="4" name="Chart 0"/>
          <p:cNvGraphicFramePr/>
          <p:nvPr/>
        </p:nvGraphicFramePr>
        <p:xfrm>
          <a:off x="365760" y="914400"/>
          <a:ext cx="5029200" cy="38404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5" name="Text 2"/>
          <p:cNvSpPr/>
          <p:nvPr/>
        </p:nvSpPr>
        <p:spPr>
          <a:xfrm>
            <a:off x="5577840" y="960120"/>
            <a:ext cx="3291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>
                <a:solidFill>
                  <a:srgbClr val="0D21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Variance Thresholds</a:t>
            </a:r>
            <a:endParaRPr lang="en-US" sz="1400"/>
          </a:p>
        </p:txBody>
      </p:sp>
      <p:sp>
        <p:nvSpPr>
          <p:cNvPr id="6" name="Shape 3"/>
          <p:cNvSpPr/>
          <p:nvPr/>
        </p:nvSpPr>
        <p:spPr>
          <a:xfrm>
            <a:off x="5577840" y="1417320"/>
            <a:ext cx="3200400" cy="548640"/>
          </a:xfrm>
          <a:prstGeom prst="rect">
            <a:avLst/>
          </a:prstGeom>
          <a:solidFill>
            <a:srgbClr val="FFFFFF"/>
          </a:solidFill>
          <a:ln w="12700">
            <a:solidFill>
              <a:srgbClr val="BBDEFB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5577840" y="1417320"/>
            <a:ext cx="54864" cy="548640"/>
          </a:xfrm>
          <a:prstGeom prst="rect">
            <a:avLst/>
          </a:prstGeom>
          <a:solidFill>
            <a:srgbClr val="1565C0"/>
          </a:solidFill>
          <a:ln w="12700">
            <a:solidFill>
              <a:srgbClr val="1565C0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5687568" y="1444752"/>
            <a:ext cx="301752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>
                <a:solidFill>
                  <a:srgbClr val="0D21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90% variance</a:t>
            </a:r>
            <a:endParaRPr lang="en-US" sz="1300"/>
          </a:p>
        </p:txBody>
      </p:sp>
      <p:sp>
        <p:nvSpPr>
          <p:cNvPr id="9" name="Text 6"/>
          <p:cNvSpPr/>
          <p:nvPr/>
        </p:nvSpPr>
        <p:spPr>
          <a:xfrm>
            <a:off x="5687568" y="1682496"/>
            <a:ext cx="301752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>
                <a:solidFill>
                  <a:srgbClr val="546E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13 components needed</a:t>
            </a:r>
            <a:endParaRPr lang="en-US" sz="1100"/>
          </a:p>
        </p:txBody>
      </p:sp>
      <p:sp>
        <p:nvSpPr>
          <p:cNvPr id="10" name="Shape 7"/>
          <p:cNvSpPr/>
          <p:nvPr/>
        </p:nvSpPr>
        <p:spPr>
          <a:xfrm>
            <a:off x="5577840" y="2103120"/>
            <a:ext cx="3200400" cy="548640"/>
          </a:xfrm>
          <a:prstGeom prst="rect">
            <a:avLst/>
          </a:prstGeom>
          <a:solidFill>
            <a:srgbClr val="FFFFFF"/>
          </a:solidFill>
          <a:ln w="12700">
            <a:solidFill>
              <a:srgbClr val="BBDEFB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5577840" y="2103120"/>
            <a:ext cx="54864" cy="548640"/>
          </a:xfrm>
          <a:prstGeom prst="rect">
            <a:avLst/>
          </a:prstGeom>
          <a:solidFill>
            <a:srgbClr val="00B8D4"/>
          </a:solidFill>
          <a:ln w="12700">
            <a:solidFill>
              <a:srgbClr val="00B8D4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5687568" y="2130552"/>
            <a:ext cx="301752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>
                <a:solidFill>
                  <a:srgbClr val="0D21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95% variance</a:t>
            </a:r>
            <a:endParaRPr lang="en-US" sz="1300"/>
          </a:p>
        </p:txBody>
      </p:sp>
      <p:sp>
        <p:nvSpPr>
          <p:cNvPr id="13" name="Text 10"/>
          <p:cNvSpPr/>
          <p:nvPr/>
        </p:nvSpPr>
        <p:spPr>
          <a:xfrm>
            <a:off x="5687568" y="2368296"/>
            <a:ext cx="301752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>
                <a:solidFill>
                  <a:srgbClr val="546E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15 components needed</a:t>
            </a:r>
            <a:endParaRPr lang="en-US" sz="1100"/>
          </a:p>
        </p:txBody>
      </p:sp>
      <p:sp>
        <p:nvSpPr>
          <p:cNvPr id="14" name="Shape 11"/>
          <p:cNvSpPr/>
          <p:nvPr/>
        </p:nvSpPr>
        <p:spPr>
          <a:xfrm>
            <a:off x="5577840" y="2788920"/>
            <a:ext cx="3200400" cy="548640"/>
          </a:xfrm>
          <a:prstGeom prst="rect">
            <a:avLst/>
          </a:prstGeom>
          <a:solidFill>
            <a:srgbClr val="FFFFFF"/>
          </a:solidFill>
          <a:ln w="12700">
            <a:solidFill>
              <a:srgbClr val="BBDEFB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5" name="Shape 12"/>
          <p:cNvSpPr/>
          <p:nvPr/>
        </p:nvSpPr>
        <p:spPr>
          <a:xfrm>
            <a:off x="5577840" y="2788920"/>
            <a:ext cx="54864" cy="548640"/>
          </a:xfrm>
          <a:prstGeom prst="rect">
            <a:avLst/>
          </a:prstGeom>
          <a:solidFill>
            <a:srgbClr val="FFB300"/>
          </a:solidFill>
          <a:ln w="12700">
            <a:solidFill>
              <a:srgbClr val="FFB300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5687568" y="2816352"/>
            <a:ext cx="301752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>
                <a:solidFill>
                  <a:srgbClr val="0D21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99% variance</a:t>
            </a:r>
            <a:endParaRPr lang="en-US" sz="1300"/>
          </a:p>
        </p:txBody>
      </p:sp>
      <p:sp>
        <p:nvSpPr>
          <p:cNvPr id="17" name="Text 14"/>
          <p:cNvSpPr/>
          <p:nvPr/>
        </p:nvSpPr>
        <p:spPr>
          <a:xfrm>
            <a:off x="5687568" y="3054096"/>
            <a:ext cx="301752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>
                <a:solidFill>
                  <a:srgbClr val="546E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19 components needed</a:t>
            </a:r>
            <a:endParaRPr lang="en-US" sz="1100"/>
          </a:p>
        </p:txBody>
      </p:sp>
      <p:sp>
        <p:nvSpPr>
          <p:cNvPr id="18" name="Text 15"/>
          <p:cNvSpPr/>
          <p:nvPr/>
        </p:nvSpPr>
        <p:spPr>
          <a:xfrm>
            <a:off x="5577840" y="3566160"/>
            <a:ext cx="3291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>
                <a:solidFill>
                  <a:srgbClr val="0D21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this tells us:</a:t>
            </a:r>
            <a:endParaRPr lang="en-US" sz="1200"/>
          </a:p>
        </p:txBody>
      </p:sp>
      <p:sp>
        <p:nvSpPr>
          <p:cNvPr id="19" name="Text 16"/>
          <p:cNvSpPr/>
          <p:nvPr/>
        </p:nvSpPr>
        <p:spPr>
          <a:xfrm>
            <a:off x="5577840" y="3886200"/>
            <a:ext cx="32918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>
                <a:solidFill>
                  <a:srgbClr val="1A2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Dataset has moderate correlations — not strongly reducible
• Classes overlap in 2D PCA space — confirms non-linear boundaries
• Explains why Decision Tree outperforms Logistic Regression</a:t>
            </a:r>
            <a:endParaRPr lang="en-US" sz="105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D213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Critical Analysis &amp; Lessons</a:t>
            </a:r>
            <a:endParaRPr lang="en-US" sz="3000"/>
          </a:p>
        </p:txBody>
      </p:sp>
      <p:sp>
        <p:nvSpPr>
          <p:cNvPr id="3" name="Shape 1"/>
          <p:cNvSpPr/>
          <p:nvPr/>
        </p:nvSpPr>
        <p:spPr>
          <a:xfrm>
            <a:off x="457200" y="804672"/>
            <a:ext cx="8229600" cy="27432"/>
          </a:xfrm>
          <a:prstGeom prst="rect">
            <a:avLst/>
          </a:prstGeom>
          <a:solidFill>
            <a:srgbClr val="00B8D4"/>
          </a:solidFill>
          <a:ln w="12700">
            <a:solidFill>
              <a:srgbClr val="00B8D4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274320" y="1005840"/>
            <a:ext cx="4114800" cy="1737360"/>
          </a:xfrm>
          <a:prstGeom prst="rect">
            <a:avLst/>
          </a:prstGeom>
          <a:solidFill>
            <a:srgbClr val="132840"/>
          </a:solidFill>
          <a:ln w="12700">
            <a:solidFill>
              <a:srgbClr val="1F4A7A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384048" y="1188720"/>
            <a:ext cx="502920" cy="502920"/>
          </a:xfrm>
          <a:prstGeom prst="ellipse">
            <a:avLst/>
          </a:prstGeom>
          <a:solidFill>
            <a:srgbClr val="1565C0"/>
          </a:solidFill>
          <a:ln w="12700">
            <a:solidFill>
              <a:srgbClr val="1565C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84048" y="118872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LR</a:t>
            </a:r>
            <a:endParaRPr lang="en-US" sz="1100"/>
          </a:p>
        </p:txBody>
      </p:sp>
      <p:sp>
        <p:nvSpPr>
          <p:cNvPr id="7" name="Text 5"/>
          <p:cNvSpPr/>
          <p:nvPr/>
        </p:nvSpPr>
        <p:spPr>
          <a:xfrm>
            <a:off x="987552" y="1188720"/>
            <a:ext cx="3291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Logistic Regression</a:t>
            </a:r>
            <a:endParaRPr lang="en-US" sz="1300"/>
          </a:p>
        </p:txBody>
      </p:sp>
      <p:sp>
        <p:nvSpPr>
          <p:cNvPr id="8" name="Text 6"/>
          <p:cNvSpPr/>
          <p:nvPr/>
        </p:nvSpPr>
        <p:spPr>
          <a:xfrm>
            <a:off x="411480" y="1600200"/>
            <a:ext cx="3840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Highest recall (0.62) — finds most defaulters</a:t>
            </a:r>
            <a:endParaRPr lang="en-US" sz="1100"/>
          </a:p>
        </p:txBody>
      </p:sp>
      <p:sp>
        <p:nvSpPr>
          <p:cNvPr id="9" name="Text 7"/>
          <p:cNvSpPr/>
          <p:nvPr/>
        </p:nvSpPr>
        <p:spPr>
          <a:xfrm>
            <a:off x="411480" y="1874520"/>
            <a:ext cx="38404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>
                <a:solidFill>
                  <a:srgbClr val="4FC3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But very low precision (0.37) — flags too many non-defaulters. Class imbalance handling essential.</a:t>
            </a:r>
            <a:endParaRPr lang="en-US" sz="1050"/>
          </a:p>
        </p:txBody>
      </p:sp>
      <p:sp>
        <p:nvSpPr>
          <p:cNvPr id="10" name="Shape 8"/>
          <p:cNvSpPr/>
          <p:nvPr/>
        </p:nvSpPr>
        <p:spPr>
          <a:xfrm>
            <a:off x="4709160" y="1005840"/>
            <a:ext cx="4114800" cy="1737360"/>
          </a:xfrm>
          <a:prstGeom prst="rect">
            <a:avLst/>
          </a:prstGeom>
          <a:solidFill>
            <a:srgbClr val="132840"/>
          </a:solidFill>
          <a:ln w="12700">
            <a:solidFill>
              <a:srgbClr val="1F4A7A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818888" y="1188720"/>
            <a:ext cx="502920" cy="502920"/>
          </a:xfrm>
          <a:prstGeom prst="ellipse">
            <a:avLst/>
          </a:prstGeom>
          <a:solidFill>
            <a:srgbClr val="9C27B0"/>
          </a:solidFill>
          <a:ln w="12700">
            <a:solidFill>
              <a:srgbClr val="9C27B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818888" y="118872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NB</a:t>
            </a:r>
            <a:endParaRPr lang="en-US" sz="1100"/>
          </a:p>
        </p:txBody>
      </p:sp>
      <p:sp>
        <p:nvSpPr>
          <p:cNvPr id="13" name="Text 11"/>
          <p:cNvSpPr/>
          <p:nvPr/>
        </p:nvSpPr>
        <p:spPr>
          <a:xfrm>
            <a:off x="5422392" y="1188720"/>
            <a:ext cx="3291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>
                <a:solidFill>
                  <a:srgbClr val="9C27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Gaussian Naive Bayes</a:t>
            </a:r>
            <a:endParaRPr lang="en-US" sz="1300"/>
          </a:p>
        </p:txBody>
      </p:sp>
      <p:sp>
        <p:nvSpPr>
          <p:cNvPr id="14" name="Text 12"/>
          <p:cNvSpPr/>
          <p:nvPr/>
        </p:nvSpPr>
        <p:spPr>
          <a:xfrm>
            <a:off x="4846320" y="1600200"/>
            <a:ext cx="3840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Moderate all-round but worst accuracy (0.75)</a:t>
            </a:r>
            <a:endParaRPr lang="en-US" sz="1100"/>
          </a:p>
        </p:txBody>
      </p:sp>
      <p:sp>
        <p:nvSpPr>
          <p:cNvPr id="15" name="Text 13"/>
          <p:cNvSpPr/>
          <p:nvPr/>
        </p:nvSpPr>
        <p:spPr>
          <a:xfrm>
            <a:off x="4846320" y="1874520"/>
            <a:ext cx="38404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>
                <a:solidFill>
                  <a:srgbClr val="4FC3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 independence assumption strongly violated — correlations in PAY_AMT columns hurt performance significantly.</a:t>
            </a:r>
            <a:endParaRPr lang="en-US" sz="1050"/>
          </a:p>
        </p:txBody>
      </p:sp>
      <p:sp>
        <p:nvSpPr>
          <p:cNvPr id="16" name="Shape 14"/>
          <p:cNvSpPr/>
          <p:nvPr/>
        </p:nvSpPr>
        <p:spPr>
          <a:xfrm>
            <a:off x="274320" y="2971800"/>
            <a:ext cx="4114800" cy="1737360"/>
          </a:xfrm>
          <a:prstGeom prst="rect">
            <a:avLst/>
          </a:prstGeom>
          <a:solidFill>
            <a:srgbClr val="132840"/>
          </a:solidFill>
          <a:ln w="12700">
            <a:solidFill>
              <a:srgbClr val="1F4A7A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84048" y="3154680"/>
            <a:ext cx="502920" cy="502920"/>
          </a:xfrm>
          <a:prstGeom prst="ellipse">
            <a:avLst/>
          </a:prstGeom>
          <a:solidFill>
            <a:srgbClr val="00C853"/>
          </a:solidFill>
          <a:ln w="12700">
            <a:solidFill>
              <a:srgbClr val="00C853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84048" y="315468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DT</a:t>
            </a:r>
            <a:endParaRPr lang="en-US" sz="1100"/>
          </a:p>
        </p:txBody>
      </p:sp>
      <p:sp>
        <p:nvSpPr>
          <p:cNvPr id="19" name="Text 17"/>
          <p:cNvSpPr/>
          <p:nvPr/>
        </p:nvSpPr>
        <p:spPr>
          <a:xfrm>
            <a:off x="987552" y="3154680"/>
            <a:ext cx="3291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>
                <a:solidFill>
                  <a:srgbClr val="00C85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Decision Tree (Winner)</a:t>
            </a:r>
            <a:endParaRPr lang="en-US" sz="1300"/>
          </a:p>
        </p:txBody>
      </p:sp>
      <p:sp>
        <p:nvSpPr>
          <p:cNvPr id="20" name="Text 18"/>
          <p:cNvSpPr/>
          <p:nvPr/>
        </p:nvSpPr>
        <p:spPr>
          <a:xfrm>
            <a:off x="411480" y="3566160"/>
            <a:ext cx="3840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Best F1 (0.52), best AUC (0.76), most stable CV</a:t>
            </a:r>
            <a:endParaRPr lang="en-US" sz="1100"/>
          </a:p>
        </p:txBody>
      </p:sp>
      <p:sp>
        <p:nvSpPr>
          <p:cNvPr id="21" name="Text 19"/>
          <p:cNvSpPr/>
          <p:nvPr/>
        </p:nvSpPr>
        <p:spPr>
          <a:xfrm>
            <a:off x="411480" y="3840480"/>
            <a:ext cx="38404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>
                <a:solidFill>
                  <a:srgbClr val="4FC3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Non-linearity captured well. Gini impurity reveals PAY_0 dominance. Controlled depth prevents overfitting.</a:t>
            </a:r>
            <a:endParaRPr lang="en-US" sz="1050"/>
          </a:p>
        </p:txBody>
      </p:sp>
      <p:sp>
        <p:nvSpPr>
          <p:cNvPr id="22" name="Shape 20"/>
          <p:cNvSpPr/>
          <p:nvPr/>
        </p:nvSpPr>
        <p:spPr>
          <a:xfrm>
            <a:off x="4709160" y="2971800"/>
            <a:ext cx="4114800" cy="1737360"/>
          </a:xfrm>
          <a:prstGeom prst="rect">
            <a:avLst/>
          </a:prstGeom>
          <a:solidFill>
            <a:srgbClr val="132840"/>
          </a:solidFill>
          <a:ln w="12700">
            <a:solidFill>
              <a:srgbClr val="1F4A7A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4818888" y="3154680"/>
            <a:ext cx="502920" cy="502920"/>
          </a:xfrm>
          <a:prstGeom prst="ellipse">
            <a:avLst/>
          </a:prstGeom>
          <a:solidFill>
            <a:srgbClr val="FFB300"/>
          </a:solidFill>
          <a:ln w="12700">
            <a:solidFill>
              <a:srgbClr val="FFB30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4818888" y="315468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★</a:t>
            </a:r>
            <a:endParaRPr lang="en-US" sz="1100"/>
          </a:p>
        </p:txBody>
      </p:sp>
      <p:sp>
        <p:nvSpPr>
          <p:cNvPr id="25" name="Text 23"/>
          <p:cNvSpPr/>
          <p:nvPr/>
        </p:nvSpPr>
        <p:spPr>
          <a:xfrm>
            <a:off x="5422392" y="3154680"/>
            <a:ext cx="3291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>
                <a:solidFill>
                  <a:srgbClr val="FFB3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Overall Project Lesson</a:t>
            </a:r>
            <a:endParaRPr lang="en-US" sz="1300"/>
          </a:p>
        </p:txBody>
      </p:sp>
      <p:sp>
        <p:nvSpPr>
          <p:cNvPr id="26" name="Text 24"/>
          <p:cNvSpPr/>
          <p:nvPr/>
        </p:nvSpPr>
        <p:spPr>
          <a:xfrm>
            <a:off x="4846320" y="3566160"/>
            <a:ext cx="3840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Recent behavior &gt; demographics &gt; historical averages</a:t>
            </a:r>
            <a:endParaRPr lang="en-US" sz="1100"/>
          </a:p>
        </p:txBody>
      </p:sp>
      <p:sp>
        <p:nvSpPr>
          <p:cNvPr id="27" name="Text 25"/>
          <p:cNvSpPr/>
          <p:nvPr/>
        </p:nvSpPr>
        <p:spPr>
          <a:xfrm>
            <a:off x="4846320" y="3840480"/>
            <a:ext cx="38404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>
                <a:solidFill>
                  <a:srgbClr val="4FC3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PAY_0 alone contributes 74.6% of split importance. Banks should weight current-month payment status highest.</a:t>
            </a:r>
            <a:endParaRPr lang="en-US" sz="105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0F6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D2137"/>
          </a:solidFill>
          <a:ln w="12700">
            <a:solidFill>
              <a:srgbClr val="0D2137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4572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We Improved the Models</a:t>
            </a:r>
            <a:endParaRPr lang="en-US" sz="2600"/>
          </a:p>
        </p:txBody>
      </p:sp>
      <p:sp>
        <p:nvSpPr>
          <p:cNvPr id="4" name="Shape 2"/>
          <p:cNvSpPr/>
          <p:nvPr/>
        </p:nvSpPr>
        <p:spPr>
          <a:xfrm>
            <a:off x="274320" y="960120"/>
            <a:ext cx="8595360" cy="804672"/>
          </a:xfrm>
          <a:prstGeom prst="rect">
            <a:avLst/>
          </a:prstGeom>
          <a:solidFill>
            <a:srgbClr val="FFFFFF"/>
          </a:solidFill>
          <a:ln w="12700">
            <a:solidFill>
              <a:srgbClr val="BBDEFB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274320" y="960120"/>
            <a:ext cx="1005840" cy="804672"/>
          </a:xfrm>
          <a:prstGeom prst="rect">
            <a:avLst/>
          </a:prstGeom>
          <a:solidFill>
            <a:srgbClr val="0D2137"/>
          </a:solidFill>
          <a:ln w="12700">
            <a:solidFill>
              <a:srgbClr val="0D2137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960120"/>
            <a:ext cx="100584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>
                <a:solidFill>
                  <a:srgbClr val="00B8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 24</a:t>
            </a:r>
            <a:endParaRPr lang="en-US" sz="1100"/>
          </a:p>
        </p:txBody>
      </p:sp>
      <p:sp>
        <p:nvSpPr>
          <p:cNvPr id="7" name="Shape 5"/>
          <p:cNvSpPr/>
          <p:nvPr/>
        </p:nvSpPr>
        <p:spPr>
          <a:xfrm>
            <a:off x="8046720" y="1143000"/>
            <a:ext cx="777240" cy="438912"/>
          </a:xfrm>
          <a:prstGeom prst="rect">
            <a:avLst/>
          </a:prstGeom>
          <a:solidFill>
            <a:srgbClr val="00C853"/>
          </a:solidFill>
          <a:ln w="12700">
            <a:solidFill>
              <a:srgbClr val="00C853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046720" y="1143000"/>
            <a:ext cx="77724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kern="0" spc="10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DONE</a:t>
            </a:r>
            <a:endParaRPr lang="en-US" sz="900"/>
          </a:p>
        </p:txBody>
      </p:sp>
      <p:sp>
        <p:nvSpPr>
          <p:cNvPr id="9" name="Text 7"/>
          <p:cNvSpPr/>
          <p:nvPr/>
        </p:nvSpPr>
        <p:spPr>
          <a:xfrm>
            <a:off x="1417320" y="1051560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>
                <a:solidFill>
                  <a:srgbClr val="0D21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Hyperparameter Tuning</a:t>
            </a:r>
            <a:endParaRPr lang="en-US" sz="1300"/>
          </a:p>
        </p:txBody>
      </p:sp>
      <p:sp>
        <p:nvSpPr>
          <p:cNvPr id="10" name="Text 8"/>
          <p:cNvSpPr/>
          <p:nvPr/>
        </p:nvSpPr>
        <p:spPr>
          <a:xfrm>
            <a:off x="1417320" y="1362456"/>
            <a:ext cx="64922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>
                <a:solidFill>
                  <a:srgbClr val="546E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GridSearchCV — varying C for LR, max_depth &amp; min_samples_leaf for DT</a:t>
            </a:r>
            <a:endParaRPr lang="en-US" sz="1050"/>
          </a:p>
        </p:txBody>
      </p:sp>
      <p:sp>
        <p:nvSpPr>
          <p:cNvPr id="11" name="Shape 9"/>
          <p:cNvSpPr/>
          <p:nvPr/>
        </p:nvSpPr>
        <p:spPr>
          <a:xfrm>
            <a:off x="274320" y="1920240"/>
            <a:ext cx="8595360" cy="804672"/>
          </a:xfrm>
          <a:prstGeom prst="rect">
            <a:avLst/>
          </a:prstGeom>
          <a:solidFill>
            <a:srgbClr val="FFFFFF"/>
          </a:solidFill>
          <a:ln w="12700">
            <a:solidFill>
              <a:srgbClr val="BBDEFB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274320" y="1920240"/>
            <a:ext cx="1005840" cy="804672"/>
          </a:xfrm>
          <a:prstGeom prst="rect">
            <a:avLst/>
          </a:prstGeom>
          <a:solidFill>
            <a:srgbClr val="0D2137"/>
          </a:solidFill>
          <a:ln w="12700">
            <a:solidFill>
              <a:srgbClr val="0D2137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274320" y="1920240"/>
            <a:ext cx="100584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>
                <a:solidFill>
                  <a:srgbClr val="00B8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 31</a:t>
            </a:r>
            <a:endParaRPr lang="en-US" sz="1100"/>
          </a:p>
        </p:txBody>
      </p:sp>
      <p:sp>
        <p:nvSpPr>
          <p:cNvPr id="14" name="Shape 12"/>
          <p:cNvSpPr/>
          <p:nvPr/>
        </p:nvSpPr>
        <p:spPr>
          <a:xfrm>
            <a:off x="8046720" y="2103120"/>
            <a:ext cx="777240" cy="438912"/>
          </a:xfrm>
          <a:prstGeom prst="rect">
            <a:avLst/>
          </a:prstGeom>
          <a:solidFill>
            <a:srgbClr val="00C853"/>
          </a:solidFill>
          <a:ln w="12700">
            <a:solidFill>
              <a:srgbClr val="00C853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046720" y="2103120"/>
            <a:ext cx="77724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kern="0" spc="10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DONE</a:t>
            </a:r>
            <a:endParaRPr lang="en-US" sz="900"/>
          </a:p>
        </p:txBody>
      </p:sp>
      <p:sp>
        <p:nvSpPr>
          <p:cNvPr id="16" name="Text 14"/>
          <p:cNvSpPr/>
          <p:nvPr/>
        </p:nvSpPr>
        <p:spPr>
          <a:xfrm>
            <a:off x="1417320" y="2011680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>
                <a:solidFill>
                  <a:srgbClr val="0D21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SMOTE Resampling</a:t>
            </a:r>
            <a:endParaRPr lang="en-US" sz="1300"/>
          </a:p>
        </p:txBody>
      </p:sp>
      <p:sp>
        <p:nvSpPr>
          <p:cNvPr id="17" name="Text 15"/>
          <p:cNvSpPr/>
          <p:nvPr/>
        </p:nvSpPr>
        <p:spPr>
          <a:xfrm>
            <a:off x="1417320" y="2322576"/>
            <a:ext cx="64922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>
                <a:solidFill>
                  <a:srgbClr val="546E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imblearn SMOTE to synthesize minority class samples &amp; address 3.5:1 imbalance</a:t>
            </a:r>
            <a:endParaRPr lang="en-US" sz="1050"/>
          </a:p>
        </p:txBody>
      </p:sp>
      <p:sp>
        <p:nvSpPr>
          <p:cNvPr id="18" name="Shape 16"/>
          <p:cNvSpPr/>
          <p:nvPr/>
        </p:nvSpPr>
        <p:spPr>
          <a:xfrm>
            <a:off x="274320" y="2880360"/>
            <a:ext cx="8595360" cy="804672"/>
          </a:xfrm>
          <a:prstGeom prst="rect">
            <a:avLst/>
          </a:prstGeom>
          <a:solidFill>
            <a:srgbClr val="FFFFFF"/>
          </a:solidFill>
          <a:ln w="12700">
            <a:solidFill>
              <a:srgbClr val="BBDEFB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274320" y="2880360"/>
            <a:ext cx="1005840" cy="804672"/>
          </a:xfrm>
          <a:prstGeom prst="rect">
            <a:avLst/>
          </a:prstGeom>
          <a:solidFill>
            <a:srgbClr val="0D2137"/>
          </a:solidFill>
          <a:ln w="12700">
            <a:solidFill>
              <a:srgbClr val="0D213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74320" y="2880360"/>
            <a:ext cx="100584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>
                <a:solidFill>
                  <a:srgbClr val="00B8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Apr 7</a:t>
            </a:r>
            <a:endParaRPr lang="en-US" sz="1100"/>
          </a:p>
        </p:txBody>
      </p:sp>
      <p:sp>
        <p:nvSpPr>
          <p:cNvPr id="21" name="Shape 19"/>
          <p:cNvSpPr/>
          <p:nvPr/>
        </p:nvSpPr>
        <p:spPr>
          <a:xfrm>
            <a:off x="8046720" y="3063240"/>
            <a:ext cx="777240" cy="438912"/>
          </a:xfrm>
          <a:prstGeom prst="rect">
            <a:avLst/>
          </a:prstGeom>
          <a:solidFill>
            <a:srgbClr val="00C853"/>
          </a:solidFill>
          <a:ln w="12700">
            <a:solidFill>
              <a:srgbClr val="00C853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8046720" y="3063240"/>
            <a:ext cx="77724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kern="0" spc="10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DONE</a:t>
            </a:r>
            <a:endParaRPr lang="en-US" sz="900"/>
          </a:p>
        </p:txBody>
      </p:sp>
      <p:sp>
        <p:nvSpPr>
          <p:cNvPr id="23" name="Text 21"/>
          <p:cNvSpPr/>
          <p:nvPr/>
        </p:nvSpPr>
        <p:spPr>
          <a:xfrm>
            <a:off x="1417320" y="2971800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>
                <a:solidFill>
                  <a:srgbClr val="0D21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 Engineering</a:t>
            </a:r>
            <a:endParaRPr lang="en-US" sz="1300"/>
          </a:p>
        </p:txBody>
      </p:sp>
      <p:sp>
        <p:nvSpPr>
          <p:cNvPr id="24" name="Text 22"/>
          <p:cNvSpPr/>
          <p:nvPr/>
        </p:nvSpPr>
        <p:spPr>
          <a:xfrm>
            <a:off x="1417320" y="3282696"/>
            <a:ext cx="64922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>
                <a:solidFill>
                  <a:srgbClr val="546E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Payment utilization ratios (PAY_AMT / BILL_AMT) as new features + Random Forest tested</a:t>
            </a:r>
            <a:endParaRPr lang="en-US" sz="1050"/>
          </a:p>
        </p:txBody>
      </p:sp>
      <p:sp>
        <p:nvSpPr>
          <p:cNvPr id="25" name="Shape 23"/>
          <p:cNvSpPr/>
          <p:nvPr/>
        </p:nvSpPr>
        <p:spPr>
          <a:xfrm>
            <a:off x="274320" y="3840480"/>
            <a:ext cx="8595360" cy="804672"/>
          </a:xfrm>
          <a:prstGeom prst="rect">
            <a:avLst/>
          </a:prstGeom>
          <a:solidFill>
            <a:srgbClr val="FFFFFF"/>
          </a:solidFill>
          <a:ln w="12700">
            <a:solidFill>
              <a:srgbClr val="BBDEFB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274320" y="3840480"/>
            <a:ext cx="1005840" cy="804672"/>
          </a:xfrm>
          <a:prstGeom prst="rect">
            <a:avLst/>
          </a:prstGeom>
          <a:solidFill>
            <a:srgbClr val="0D2137"/>
          </a:solidFill>
          <a:ln w="12700">
            <a:solidFill>
              <a:srgbClr val="0D2137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74320" y="3840480"/>
            <a:ext cx="100584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>
                <a:solidFill>
                  <a:srgbClr val="00B8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Apr 14</a:t>
            </a:r>
            <a:endParaRPr lang="en-US" sz="1100"/>
          </a:p>
        </p:txBody>
      </p:sp>
      <p:sp>
        <p:nvSpPr>
          <p:cNvPr id="28" name="Shape 26"/>
          <p:cNvSpPr/>
          <p:nvPr/>
        </p:nvSpPr>
        <p:spPr>
          <a:xfrm>
            <a:off x="8046720" y="4023360"/>
            <a:ext cx="777240" cy="438912"/>
          </a:xfrm>
          <a:prstGeom prst="rect">
            <a:avLst/>
          </a:prstGeom>
          <a:solidFill>
            <a:srgbClr val="00B8D4"/>
          </a:solidFill>
          <a:ln w="12700">
            <a:solidFill>
              <a:srgbClr val="00B8D4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8046720" y="4023360"/>
            <a:ext cx="77724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kern="0" spc="10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FINAL</a:t>
            </a:r>
            <a:endParaRPr lang="en-US" sz="900"/>
          </a:p>
        </p:txBody>
      </p:sp>
      <p:sp>
        <p:nvSpPr>
          <p:cNvPr id="30" name="Text 28"/>
          <p:cNvSpPr/>
          <p:nvPr/>
        </p:nvSpPr>
        <p:spPr>
          <a:xfrm>
            <a:off x="1417320" y="3931920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>
                <a:solidFill>
                  <a:srgbClr val="0D21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Final Model Selection</a:t>
            </a:r>
            <a:endParaRPr lang="en-US" sz="1300"/>
          </a:p>
        </p:txBody>
      </p:sp>
      <p:sp>
        <p:nvSpPr>
          <p:cNvPr id="31" name="Text 29"/>
          <p:cNvSpPr/>
          <p:nvPr/>
        </p:nvSpPr>
        <p:spPr>
          <a:xfrm>
            <a:off x="1417320" y="4242816"/>
            <a:ext cx="64922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>
                <a:solidFill>
                  <a:srgbClr val="546E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Complete pipeline comparison, final report, and this presentation</a:t>
            </a:r>
            <a:endParaRPr lang="en-US" sz="105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D213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0B8D4"/>
          </a:solidFill>
          <a:ln w="12700">
            <a:solidFill>
              <a:srgbClr val="00B8D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600">
                <a:solidFill>
                  <a:srgbClr val="00B8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CONCLUSIONS</a:t>
            </a:r>
            <a:endParaRPr lang="en-US" sz="1200"/>
          </a:p>
        </p:txBody>
      </p:sp>
      <p:sp>
        <p:nvSpPr>
          <p:cNvPr id="4" name="Text 2"/>
          <p:cNvSpPr/>
          <p:nvPr/>
        </p:nvSpPr>
        <p:spPr>
          <a:xfrm>
            <a:off x="457200" y="640080"/>
            <a:ext cx="82296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600" b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Takeaways</a:t>
            </a:r>
            <a:endParaRPr lang="en-US" sz="3600"/>
          </a:p>
        </p:txBody>
      </p:sp>
      <p:sp>
        <p:nvSpPr>
          <p:cNvPr id="5" name="Shape 3"/>
          <p:cNvSpPr/>
          <p:nvPr/>
        </p:nvSpPr>
        <p:spPr>
          <a:xfrm>
            <a:off x="365760" y="1490472"/>
            <a:ext cx="438912" cy="438912"/>
          </a:xfrm>
          <a:prstGeom prst="ellipse">
            <a:avLst/>
          </a:prstGeom>
          <a:solidFill>
            <a:srgbClr val="00B8D4"/>
          </a:solidFill>
          <a:ln w="12700">
            <a:solidFill>
              <a:srgbClr val="00B8D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65760" y="1490472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>
                <a:solidFill>
                  <a:srgbClr val="0D21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200"/>
          </a:p>
        </p:txBody>
      </p:sp>
      <p:sp>
        <p:nvSpPr>
          <p:cNvPr id="7" name="Text 5"/>
          <p:cNvSpPr/>
          <p:nvPr/>
        </p:nvSpPr>
        <p:spPr>
          <a:xfrm>
            <a:off x="960120" y="1472184"/>
            <a:ext cx="78638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Decision Tree is the best model — highest F1 (0.52), ROC-AUC (0.76), and lowest CV variance (±0.007)</a:t>
            </a:r>
            <a:endParaRPr lang="en-US" sz="1250"/>
          </a:p>
        </p:txBody>
      </p:sp>
      <p:sp>
        <p:nvSpPr>
          <p:cNvPr id="8" name="Shape 6"/>
          <p:cNvSpPr/>
          <p:nvPr/>
        </p:nvSpPr>
        <p:spPr>
          <a:xfrm>
            <a:off x="365760" y="2203704"/>
            <a:ext cx="438912" cy="438912"/>
          </a:xfrm>
          <a:prstGeom prst="ellipse">
            <a:avLst/>
          </a:prstGeom>
          <a:solidFill>
            <a:srgbClr val="00B8D4"/>
          </a:solidFill>
          <a:ln w="12700">
            <a:solidFill>
              <a:srgbClr val="00B8D4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65760" y="2203704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>
                <a:solidFill>
                  <a:srgbClr val="0D21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200"/>
          </a:p>
        </p:txBody>
      </p:sp>
      <p:sp>
        <p:nvSpPr>
          <p:cNvPr id="10" name="Text 8"/>
          <p:cNvSpPr/>
          <p:nvPr/>
        </p:nvSpPr>
        <p:spPr>
          <a:xfrm>
            <a:off x="960120" y="2185416"/>
            <a:ext cx="78638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PAY_0 is overwhelmingly dominant at 74.6% Gini importance — recent payment behavior is the best predictor</a:t>
            </a:r>
            <a:endParaRPr lang="en-US" sz="1250"/>
          </a:p>
        </p:txBody>
      </p:sp>
      <p:sp>
        <p:nvSpPr>
          <p:cNvPr id="11" name="Shape 9"/>
          <p:cNvSpPr/>
          <p:nvPr/>
        </p:nvSpPr>
        <p:spPr>
          <a:xfrm>
            <a:off x="365760" y="2916936"/>
            <a:ext cx="438912" cy="438912"/>
          </a:xfrm>
          <a:prstGeom prst="ellipse">
            <a:avLst/>
          </a:prstGeom>
          <a:solidFill>
            <a:srgbClr val="00B8D4"/>
          </a:solidFill>
          <a:ln w="12700">
            <a:solidFill>
              <a:srgbClr val="00B8D4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5760" y="2916936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>
                <a:solidFill>
                  <a:srgbClr val="0D21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200"/>
          </a:p>
        </p:txBody>
      </p:sp>
      <p:sp>
        <p:nvSpPr>
          <p:cNvPr id="13" name="Text 11"/>
          <p:cNvSpPr/>
          <p:nvPr/>
        </p:nvSpPr>
        <p:spPr>
          <a:xfrm>
            <a:off x="960120" y="2898648"/>
            <a:ext cx="78638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Linear models fail when classes aren't separable — PCA &amp; DT results both confirm non-linear boundaries</a:t>
            </a:r>
            <a:endParaRPr lang="en-US" sz="1250"/>
          </a:p>
        </p:txBody>
      </p:sp>
      <p:sp>
        <p:nvSpPr>
          <p:cNvPr id="14" name="Shape 12"/>
          <p:cNvSpPr/>
          <p:nvPr/>
        </p:nvSpPr>
        <p:spPr>
          <a:xfrm>
            <a:off x="365760" y="3630168"/>
            <a:ext cx="438912" cy="438912"/>
          </a:xfrm>
          <a:prstGeom prst="ellipse">
            <a:avLst/>
          </a:prstGeom>
          <a:solidFill>
            <a:srgbClr val="00B8D4"/>
          </a:solidFill>
          <a:ln w="12700">
            <a:solidFill>
              <a:srgbClr val="00B8D4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630168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>
                <a:solidFill>
                  <a:srgbClr val="0D21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200"/>
          </a:p>
        </p:txBody>
      </p:sp>
      <p:sp>
        <p:nvSpPr>
          <p:cNvPr id="16" name="Text 14"/>
          <p:cNvSpPr/>
          <p:nvPr/>
        </p:nvSpPr>
        <p:spPr>
          <a:xfrm>
            <a:off x="960120" y="3611880"/>
            <a:ext cx="78638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 imbalance must be handled — balanced weighting was critical; SMOTE tested in final stage</a:t>
            </a:r>
            <a:endParaRPr lang="en-US" sz="1250"/>
          </a:p>
        </p:txBody>
      </p:sp>
      <p:sp>
        <p:nvSpPr>
          <p:cNvPr id="17" name="Shape 15"/>
          <p:cNvSpPr/>
          <p:nvPr/>
        </p:nvSpPr>
        <p:spPr>
          <a:xfrm>
            <a:off x="365760" y="4343400"/>
            <a:ext cx="438912" cy="438912"/>
          </a:xfrm>
          <a:prstGeom prst="ellipse">
            <a:avLst/>
          </a:prstGeom>
          <a:solidFill>
            <a:srgbClr val="00B8D4"/>
          </a:solidFill>
          <a:ln w="12700">
            <a:solidFill>
              <a:srgbClr val="00B8D4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4343400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>
                <a:solidFill>
                  <a:srgbClr val="0D21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1200"/>
          </a:p>
        </p:txBody>
      </p:sp>
      <p:sp>
        <p:nvSpPr>
          <p:cNvPr id="19" name="Text 17"/>
          <p:cNvSpPr/>
          <p:nvPr/>
        </p:nvSpPr>
        <p:spPr>
          <a:xfrm>
            <a:off x="960120" y="4325112"/>
            <a:ext cx="78638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Recall vs. Precision trade-off is domain-specific — for banks, missing a defaulter is riskier than a false flag</a:t>
            </a:r>
            <a:endParaRPr lang="en-US" sz="1250"/>
          </a:p>
        </p:txBody>
      </p:sp>
      <p:sp>
        <p:nvSpPr>
          <p:cNvPr id="20" name="Shape 18"/>
          <p:cNvSpPr/>
          <p:nvPr/>
        </p:nvSpPr>
        <p:spPr>
          <a:xfrm>
            <a:off x="0" y="4983480"/>
            <a:ext cx="9144000" cy="54864"/>
          </a:xfrm>
          <a:prstGeom prst="rect">
            <a:avLst/>
          </a:prstGeom>
          <a:solidFill>
            <a:srgbClr val="00B8D4"/>
          </a:solidFill>
          <a:ln w="12700">
            <a:solidFill>
              <a:srgbClr val="00B8D4"/>
            </a:solidFill>
            <a:prstDash val="solid"/>
          </a:ln>
        </p:spPr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D213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743200" y="548640"/>
            <a:ext cx="3657600" cy="3657600"/>
          </a:xfrm>
          <a:prstGeom prst="ellipse">
            <a:avLst/>
          </a:prstGeom>
          <a:solidFill>
            <a:srgbClr val="132840"/>
          </a:solidFill>
          <a:ln w="12700">
            <a:solidFill>
              <a:srgbClr val="1F4A7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1188720"/>
            <a:ext cx="8229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4800" b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Thank You</a:t>
            </a:r>
            <a:endParaRPr lang="en-US" sz="4800"/>
          </a:p>
        </p:txBody>
      </p:sp>
      <p:sp>
        <p:nvSpPr>
          <p:cNvPr id="4" name="Text 2"/>
          <p:cNvSpPr/>
          <p:nvPr/>
        </p:nvSpPr>
        <p:spPr>
          <a:xfrm>
            <a:off x="457200" y="2103120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>
                <a:solidFill>
                  <a:srgbClr val="00B8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Questions &amp; Discussion</a:t>
            </a:r>
            <a:endParaRPr lang="en-US" sz="2000"/>
          </a:p>
        </p:txBody>
      </p:sp>
      <p:sp>
        <p:nvSpPr>
          <p:cNvPr id="5" name="Shape 3"/>
          <p:cNvSpPr/>
          <p:nvPr/>
        </p:nvSpPr>
        <p:spPr>
          <a:xfrm>
            <a:off x="3200400" y="2743200"/>
            <a:ext cx="2743200" cy="36576"/>
          </a:xfrm>
          <a:prstGeom prst="rect">
            <a:avLst/>
          </a:prstGeom>
          <a:solidFill>
            <a:srgbClr val="00B8D4"/>
          </a:solidFill>
          <a:ln w="12700">
            <a:solidFill>
              <a:srgbClr val="00B8D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57200" y="292608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>
                <a:solidFill>
                  <a:srgbClr val="546E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3  |  BFOR 516  |  Spring 2026</a:t>
            </a:r>
            <a:endParaRPr lang="en-US" sz="1200"/>
          </a:p>
        </p:txBody>
      </p:sp>
      <p:sp>
        <p:nvSpPr>
          <p:cNvPr id="7" name="Text 5"/>
          <p:cNvSpPr/>
          <p:nvPr/>
        </p:nvSpPr>
        <p:spPr>
          <a:xfrm>
            <a:off x="457200" y="4480560"/>
            <a:ext cx="8229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>
                <a:solidFill>
                  <a:srgbClr val="2A4A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Dataset: UCI Default of Credit Card Clients  |  Yeh &amp; Lien (2009)</a:t>
            </a:r>
            <a:endParaRPr lang="en-US" sz="1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Application>Microsoft Office PowerPoint</Application>
  <PresentationFormat>On-screen Show (16:9)</PresentationFormat>
  <Slides>14</Slides>
  <Notes>14</Notes>
  <HiddenSlides>0</HiddenSlide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5" baseType="lpstr"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Predicting Credit Card Defaults - Group 3 Milestone 3</dc:title>
  <dc:subject>PptxGenJS Presentation</dc:subject>
  <dc:creator>PptxGenJS</dc:creator>
  <cp:revision>1</cp:revision>
  <dcterms:created xsi:type="dcterms:W3CDTF">2026-04-21T02:57:56Z</dcterms:created>
  <dcterms:modified xsi:type="dcterms:W3CDTF">2026-04-21T03:22:10Z</dcterms:modified>
</cp:coreProperties>
</file>