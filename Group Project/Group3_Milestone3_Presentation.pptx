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Precision*</c:v>
                  </c:pt>
                  <c:pt idx="2">
                    <c:v>Recall*</c:v>
                  </c:pt>
                  <c:pt idx="3">
                    <c:v>F1-Score*</c:v>
                  </c:pt>
                  <c:pt idx="4">
                    <c:v>ROC-AUC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0.6795</c:v>
                </c:pt>
                <c:pt idx="1">
                  <c:v>0.3671</c:v>
                </c:pt>
                <c:pt idx="2">
                  <c:v>0.6202</c:v>
                </c:pt>
                <c:pt idx="3">
                  <c:v>0.4612</c:v>
                </c:pt>
                <c:pt idx="4">
                  <c:v>0.7084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Gaussian Naive Bayes</c:v>
                </c:pt>
              </c:strCache>
            </c:strRef>
          </c:tx>
          <c:spPr>
            <a:solidFill>
              <a:srgbClr val="7B1FA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Precision*</c:v>
                  </c:pt>
                  <c:pt idx="2">
                    <c:v>Recall*</c:v>
                  </c:pt>
                  <c:pt idx="3">
                    <c:v>F1-Score*</c:v>
                  </c:pt>
                  <c:pt idx="4">
                    <c:v>ROC-AUC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0.7518</c:v>
                </c:pt>
                <c:pt idx="1">
                  <c:v>0.4504</c:v>
                </c:pt>
                <c:pt idx="2">
                  <c:v>0.5539</c:v>
                </c:pt>
                <c:pt idx="3">
                  <c:v>0.4968</c:v>
                </c:pt>
                <c:pt idx="4">
                  <c:v>0.7248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Decision Tree</c:v>
                </c:pt>
              </c:strCache>
            </c:strRef>
          </c:tx>
          <c:spPr>
            <a:solidFill>
              <a:srgbClr val="0069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Precision*</c:v>
                  </c:pt>
                  <c:pt idx="2">
                    <c:v>Recall*</c:v>
                  </c:pt>
                  <c:pt idx="3">
                    <c:v>F1-Score*</c:v>
                  </c:pt>
                  <c:pt idx="4">
                    <c:v>ROC-AUC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0.7723</c:v>
                </c:pt>
                <c:pt idx="1">
                  <c:v>0.487</c:v>
                </c:pt>
                <c:pt idx="2">
                  <c:v>0.5516</c:v>
                </c:pt>
                <c:pt idx="3">
                  <c:v>0.5173</c:v>
                </c:pt>
                <c:pt idx="4">
                  <c:v>0.7589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BBDEF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0F6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Gini Importance (%)</c:v>
                </c:pt>
              </c:strCache>
            </c:strRef>
          </c:tx>
          <c:spPr>
            <a:solidFill>
              <a:srgbClr val="00B8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8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PAY_0</c:v>
                  </c:pt>
                  <c:pt idx="1">
                    <c:v>PAY_AMT2</c:v>
                  </c:pt>
                  <c:pt idx="2">
                    <c:v>PAY_4</c:v>
                  </c:pt>
                  <c:pt idx="3">
                    <c:v>LIMIT_BAL</c:v>
                  </c:pt>
                  <c:pt idx="4">
                    <c:v>PAY_3</c:v>
                  </c:pt>
                  <c:pt idx="5">
                    <c:v>PAY_2</c:v>
                  </c:pt>
                  <c:pt idx="6">
                    <c:v>PAY_AMT4</c:v>
                  </c:pt>
                  <c:pt idx="7">
                    <c:v>PAY_AMT3</c:v>
                  </c:pt>
                  <c:pt idx="8">
                    <c:v>PAY_AMT1</c:v>
                  </c:pt>
                  <c:pt idx="9">
                    <c:v>BILL_AMT2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74.61</c:v>
                </c:pt>
                <c:pt idx="1">
                  <c:v>7.37</c:v>
                </c:pt>
                <c:pt idx="2">
                  <c:v>3.72</c:v>
                </c:pt>
                <c:pt idx="3">
                  <c:v>2.76</c:v>
                </c:pt>
                <c:pt idx="4">
                  <c:v>2.25</c:v>
                </c:pt>
                <c:pt idx="5">
                  <c:v>2</c:v>
                </c:pt>
                <c:pt idx="6">
                  <c:v>1.5</c:v>
                </c:pt>
                <c:pt idx="7">
                  <c:v>1.48</c:v>
                </c:pt>
                <c:pt idx="8">
                  <c:v>1.05</c:v>
                </c:pt>
                <c:pt idx="9">
                  <c:v>0.89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0CAF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b"/>
        <c:majorGridlines>
          <c:spPr>
            <a:ln w="6350" cap="flat">
              <a:solidFill>
                <a:srgbClr val="1F4A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CAF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13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Cumulative Explained Variance by PCA Components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Variance Explained</c:v>
                </c:pt>
              </c:strCache>
            </c:strRef>
          </c:tx>
          <c:spPr>
            <a:solidFill>
              <a:srgbClr val="1565C0"/>
            </a:solidFill>
            <a:ln w="38100" cap="flat">
              <a:solidFill>
                <a:srgbClr val="1565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PC1</c:v>
                  </c:pt>
                  <c:pt idx="1">
                    <c:v>PC2</c:v>
                  </c:pt>
                  <c:pt idx="2">
                    <c:v>PC3</c:v>
                  </c:pt>
                  <c:pt idx="3">
                    <c:v>PC4</c:v>
                  </c:pt>
                  <c:pt idx="4">
                    <c:v>PC5</c:v>
                  </c:pt>
                  <c:pt idx="5">
                    <c:v>PC6</c:v>
                  </c:pt>
                  <c:pt idx="6">
                    <c:v>PC7</c:v>
                  </c:pt>
                  <c:pt idx="7">
                    <c:v>PC8</c:v>
                  </c:pt>
                  <c:pt idx="8">
                    <c:v>PC9</c:v>
                  </c:pt>
                  <c:pt idx="9">
                    <c:v>PC10</c:v>
                  </c:pt>
                  <c:pt idx="10">
                    <c:v>PC11</c:v>
                  </c:pt>
                  <c:pt idx="11">
                    <c:v>PC12</c:v>
                  </c:pt>
                  <c:pt idx="12">
                    <c:v>PC13</c:v>
                  </c:pt>
                  <c:pt idx="13">
                    <c:v>PC14</c:v>
                  </c:pt>
                  <c:pt idx="14">
                    <c:v>PC15</c:v>
                  </c:pt>
                  <c:pt idx="15">
                    <c:v>PC16</c:v>
                  </c:pt>
                  <c:pt idx="16">
                    <c:v>PC17</c:v>
                  </c:pt>
                  <c:pt idx="17">
                    <c:v>PC18</c:v>
                  </c:pt>
                  <c:pt idx="18">
                    <c:v>PC19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28.5</c:v>
                </c:pt>
                <c:pt idx="1">
                  <c:v>46.4</c:v>
                </c:pt>
                <c:pt idx="2">
                  <c:v>56</c:v>
                </c:pt>
                <c:pt idx="3">
                  <c:v>62</c:v>
                </c:pt>
                <c:pt idx="4">
                  <c:v>64.2</c:v>
                </c:pt>
                <c:pt idx="5">
                  <c:v>67.5</c:v>
                </c:pt>
                <c:pt idx="6">
                  <c:v>70.5</c:v>
                </c:pt>
                <c:pt idx="7">
                  <c:v>73</c:v>
                </c:pt>
                <c:pt idx="8">
                  <c:v>75.5</c:v>
                </c:pt>
                <c:pt idx="9">
                  <c:v>83.1</c:v>
                </c:pt>
                <c:pt idx="10">
                  <c:v>84.5</c:v>
                </c:pt>
                <c:pt idx="11">
                  <c:v>86</c:v>
                </c:pt>
                <c:pt idx="12">
                  <c:v>87.5</c:v>
                </c:pt>
                <c:pt idx="13">
                  <c:v>89</c:v>
                </c:pt>
                <c:pt idx="14">
                  <c:v>91.5</c:v>
                </c:pt>
                <c:pt idx="15">
                  <c:v>93</c:v>
                </c:pt>
                <c:pt idx="16">
                  <c:v>95</c:v>
                </c:pt>
                <c:pt idx="17">
                  <c:v>97</c:v>
                </c:pt>
                <c:pt idx="18">
                  <c:v>99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74320"/>
            <a:ext cx="3657600" cy="36576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F4A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rgbClr val="234870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Defaults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Techniques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2286000" cy="36576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63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BFOR 516 – Advanced Data Analytics for Cybersecurity  |  Spring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45720" cy="256032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520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Spencer Kone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867912"/>
            <a:ext cx="45720" cy="256032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867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H. Bahar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15384"/>
            <a:ext cx="45720" cy="256032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2153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Kunapureddy Leela Pavan Kumar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562856"/>
            <a:ext cx="45720" cy="256032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5628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Maddirala Shalem Raju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Dr. Srishti Gupta  |  Group 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Stakes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73152" cy="1645920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338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Risk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defaults cost banks billions annually — predicting them early prevents major losses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73152" cy="1645920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338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48132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22% of clients default, making prediction harder — the model must detect the minority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80360"/>
            <a:ext cx="73152" cy="1645920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083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Dataset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35584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 Taiwan credit card clients from UCI ML Repository — real behavior, real stakes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880360"/>
            <a:ext cx="73152" cy="1645920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0083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Metrics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35584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is misleading — recall matters most since missing a defaulter is costlier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of Credit Card Clients  |  UCI Machine Learning Repository  |  Yeh &amp; Lien (2009)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325880"/>
            <a:ext cx="2560320" cy="1508760"/>
          </a:xfrm>
          <a:prstGeom prst="rect">
            <a:avLst/>
          </a:prstGeom>
          <a:solidFill>
            <a:srgbClr val="132840"/>
          </a:solidFill>
          <a:ln w="12700">
            <a:solidFill>
              <a:srgbClr val="1F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560320" cy="45720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087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Records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1325880"/>
            <a:ext cx="2560320" cy="1508760"/>
          </a:xfrm>
          <a:prstGeom prst="rect">
            <a:avLst/>
          </a:prstGeom>
          <a:solidFill>
            <a:srgbClr val="132840"/>
          </a:solidFill>
          <a:ln w="12700">
            <a:solidFill>
              <a:srgbClr val="1F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325880"/>
            <a:ext cx="2560320" cy="45720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5087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154680" y="2240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1325880"/>
            <a:ext cx="2560320" cy="1508760"/>
          </a:xfrm>
          <a:prstGeom prst="rect">
            <a:avLst/>
          </a:prstGeom>
          <a:solidFill>
            <a:srgbClr val="132840"/>
          </a:solidFill>
          <a:ln w="12700">
            <a:solidFill>
              <a:srgbClr val="1F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325880"/>
            <a:ext cx="2560320" cy="45720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5087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22.12%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989320" y="2240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2560320" cy="1508760"/>
          </a:xfrm>
          <a:prstGeom prst="rect">
            <a:avLst/>
          </a:prstGeom>
          <a:solidFill>
            <a:srgbClr val="132840"/>
          </a:solidFill>
          <a:ln w="12700">
            <a:solidFill>
              <a:srgbClr val="1F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63240"/>
            <a:ext cx="2560320" cy="45720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461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3.5:1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320040" y="3977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54680" y="3063240"/>
            <a:ext cx="2560320" cy="1508760"/>
          </a:xfrm>
          <a:prstGeom prst="rect">
            <a:avLst/>
          </a:prstGeom>
          <a:solidFill>
            <a:srgbClr val="132840"/>
          </a:solidFill>
          <a:ln w="12700">
            <a:solidFill>
              <a:srgbClr val="1F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3063240"/>
            <a:ext cx="2560320" cy="45720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32461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NT$167K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3154680" y="3977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Credit Limit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89320" y="3063240"/>
            <a:ext cx="2560320" cy="1508760"/>
          </a:xfrm>
          <a:prstGeom prst="rect">
            <a:avLst/>
          </a:prstGeom>
          <a:solidFill>
            <a:srgbClr val="132840"/>
          </a:solidFill>
          <a:ln w="12700">
            <a:solidFill>
              <a:srgbClr val="1F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3063240"/>
            <a:ext cx="2560320" cy="45720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32461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yrs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5989320" y="3977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Cleaning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663440" y="91440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438912" cy="10972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438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280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Inspection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59105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 rows × 24 cols, all int64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missing values — 35 duplicate rows kept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38912" cy="10972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38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Cleaning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82549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0, 5, 6 undocumented → remapped to 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345 rows affected (1.15%)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657600"/>
            <a:ext cx="438912" cy="10972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657600"/>
            <a:ext cx="438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Cleaning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405993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0 undocumented → remapped to 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rows affected. Total cleaned: 399 rows (1.3%)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1188720"/>
            <a:ext cx="4297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188720"/>
            <a:ext cx="438912" cy="10972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188720"/>
            <a:ext cx="438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120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Train/Test Split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159105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 (random_state=42, stratify=y)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22.12% preserved in both sets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2423160"/>
            <a:ext cx="4297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423160"/>
            <a:ext cx="438912" cy="10972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423160"/>
            <a:ext cx="438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1208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Normalization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2080" y="282549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on train only → applied to both sets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data leakage from test set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4663440"/>
            <a:ext cx="8595360" cy="384048"/>
          </a:xfrm>
          <a:prstGeom prst="rect">
            <a:avLst/>
          </a:prstGeom>
          <a:solidFill>
            <a:srgbClr val="EBF5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6817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30,000 clean records  •  399 rows corrected (1.3%)  •  24,000 train / 6,000 test  •  No data leakage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Rationale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27432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8328" y="132588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" y="1920240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CHOSEN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" y="214884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in finance; interpretable coefficients show feature impact on default probability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8328" y="2880360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" y="310896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linear separability — violated here (PCA shows class overlap)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8328" y="3840480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" y="406908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to counter 3.5:1 imbalance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36392" y="91440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36392" y="914400"/>
            <a:ext cx="2743200" cy="36576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6392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46120" y="132588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Naive Bayes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46120" y="1920240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CHOSEN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46120" y="214884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approach using Bayes theorem — good contrast to deterministic LR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46120" y="2880360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46120" y="310896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feature independence — violated (PAY_AMT1–6 correlations &gt; 0.9)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46120" y="3840480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46120" y="406908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class_weight support; expected lower performance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44184" y="91440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44184" y="914400"/>
            <a:ext cx="2743200" cy="3657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44184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53912" y="132588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53912" y="1920240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CHOSEN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53912" y="214884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relationships without requiring feature scaling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53912" y="2880360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53912" y="310896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overfitting — controlled with max_depth=5, min_samples_leaf=20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53912" y="3840480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FIX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53912" y="406908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impurity as criterion; class_weight='balanced' applied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used multiple metrics — accuracy alone is misleading with 78/22 class split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651760" cy="1828800"/>
          </a:xfrm>
          <a:prstGeom prst="rect">
            <a:avLst/>
          </a:prstGeom>
          <a:solidFill>
            <a:srgbClr val="132840"/>
          </a:solidFill>
          <a:ln w="12700">
            <a:solidFill>
              <a:srgbClr val="1F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651760" cy="54864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25880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HIGHEST PRIORITY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152704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(Default class)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1892808"/>
            <a:ext cx="2286000" cy="18288"/>
          </a:xfrm>
          <a:prstGeom prst="rect">
            <a:avLst/>
          </a:prstGeom>
          <a:solidFill>
            <a:srgbClr val="1F4A7A"/>
          </a:solidFill>
          <a:ln w="12700">
            <a:solidFill>
              <a:srgbClr val="1F4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965960"/>
            <a:ext cx="243230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real defaulter is the most costly error for the bank — false negatives mean undetected risk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1234440"/>
            <a:ext cx="2651760" cy="1828800"/>
          </a:xfrm>
          <a:prstGeom prst="rect">
            <a:avLst/>
          </a:prstGeom>
          <a:solidFill>
            <a:srgbClr val="132840"/>
          </a:solidFill>
          <a:ln w="12700">
            <a:solidFill>
              <a:srgbClr val="1F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234440"/>
            <a:ext cx="265176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325880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64408" y="152704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(Default class)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64408" y="1892808"/>
            <a:ext cx="2286000" cy="18288"/>
          </a:xfrm>
          <a:prstGeom prst="rect">
            <a:avLst/>
          </a:prstGeom>
          <a:solidFill>
            <a:srgbClr val="1F4A7A"/>
          </a:solidFill>
          <a:ln w="12700">
            <a:solidFill>
              <a:srgbClr val="1F4A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1965960"/>
            <a:ext cx="243230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important — too many false positives rejects creditworthy customers unnecessarily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1234440"/>
            <a:ext cx="2651760" cy="1828800"/>
          </a:xfrm>
          <a:prstGeom prst="rect">
            <a:avLst/>
          </a:prstGeom>
          <a:solidFill>
            <a:srgbClr val="132840"/>
          </a:solidFill>
          <a:ln w="12700">
            <a:solidFill>
              <a:srgbClr val="1F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234440"/>
            <a:ext cx="2651760" cy="54864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1325880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METRIC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44768" y="152704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44768" y="1892808"/>
            <a:ext cx="2286000" cy="18288"/>
          </a:xfrm>
          <a:prstGeom prst="rect">
            <a:avLst/>
          </a:prstGeom>
          <a:solidFill>
            <a:srgbClr val="1F4A7A"/>
          </a:solidFill>
          <a:ln w="12700">
            <a:solidFill>
              <a:srgbClr val="1F4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1965960"/>
            <a:ext cx="243230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&amp; recall — single score that penalises extreme imbalance between the two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200400"/>
            <a:ext cx="4114800" cy="1691640"/>
          </a:xfrm>
          <a:prstGeom prst="rect">
            <a:avLst/>
          </a:prstGeom>
          <a:solidFill>
            <a:srgbClr val="132840"/>
          </a:solidFill>
          <a:ln w="12700">
            <a:solidFill>
              <a:srgbClr val="1F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200400"/>
            <a:ext cx="4114800" cy="5486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2918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COMPARISON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34930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11480" y="3858768"/>
            <a:ext cx="3657600" cy="18288"/>
          </a:xfrm>
          <a:prstGeom prst="rect">
            <a:avLst/>
          </a:prstGeom>
          <a:solidFill>
            <a:srgbClr val="1F4A7A"/>
          </a:solidFill>
          <a:ln w="12700">
            <a:solidFill>
              <a:srgbClr val="1F4A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9319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discrimination ability across ALL decision thresholds — robust to class imbalance, main ranking metric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3200400"/>
            <a:ext cx="4114800" cy="1691640"/>
          </a:xfrm>
          <a:prstGeom prst="rect">
            <a:avLst/>
          </a:prstGeom>
          <a:solidFill>
            <a:srgbClr val="132840"/>
          </a:solidFill>
          <a:ln w="12700">
            <a:solidFill>
              <a:srgbClr val="1F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3200400"/>
            <a:ext cx="41148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2918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CHECK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0" y="34930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54880" y="3858768"/>
            <a:ext cx="3657600" cy="18288"/>
          </a:xfrm>
          <a:prstGeom prst="rect">
            <a:avLst/>
          </a:prstGeom>
          <a:solidFill>
            <a:srgbClr val="1F4A7A"/>
          </a:solidFill>
          <a:ln w="12700">
            <a:solidFill>
              <a:srgbClr val="1F4A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9319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fold preserves the 22.12% default rate — guards against lucky/unlucky single splits and measures model stability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6,000-sample stratified test set  |  * Metrics for Default (1) class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097280"/>
                <a:gridCol w="1097280"/>
                <a:gridCol w="1097280"/>
                <a:gridCol w="109728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Precision*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Recall*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F1-Score*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CV AUC (5-fold)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Logistic Regression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0.6795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0.3671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</a:rPr>
                        <a:t>0.6202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0.4612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0.7084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0.7264 ± 0.011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Gaussian Naive Bayes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0.7518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0.4504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0.5539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0.4968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0.7248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0.7365 ± 0.010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695C"/>
                          </a:solidFill>
                        </a:rPr>
                        <a:t>Decision Tree 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95C"/>
                          </a:solidFill>
                        </a:rPr>
                        <a:t>0.7723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95C"/>
                          </a:solidFill>
                        </a:rPr>
                        <a:t>0.4870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95C"/>
                          </a:solidFill>
                        </a:rPr>
                        <a:t>0.5516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95C"/>
                          </a:solidFill>
                        </a:rPr>
                        <a:t>0.5173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95C"/>
                          </a:solidFill>
                        </a:rPr>
                        <a:t>0.7589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695C"/>
                          </a:solidFill>
                        </a:rPr>
                        <a:t>0.7577 ± 0.007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61188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3611880"/>
            <a:ext cx="1920240" cy="457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367588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65760" y="39044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0.5173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65760" y="4407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87168" y="361188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87168" y="3611880"/>
            <a:ext cx="1920240" cy="45720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87168" y="367588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AUC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487168" y="39044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0.7589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2487168" y="4407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608576" y="361188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08576" y="3611880"/>
            <a:ext cx="192024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08576" y="367588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RECALL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608576" y="39044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0.6202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4608576" y="4407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729984" y="361188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729984" y="3611880"/>
            <a:ext cx="192024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29984" y="367588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CV VARIANCE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729984" y="39044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±0.007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6729984" y="4407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– most stable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Performance Comparison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84124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Predictor: PAY_0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— Gini Feature Importance  |  PAY_0 = most recent month repayment status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18872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234440"/>
            <a:ext cx="3291840" cy="896112"/>
          </a:xfrm>
          <a:prstGeom prst="rect">
            <a:avLst/>
          </a:prstGeom>
          <a:solidFill>
            <a:srgbClr val="132840"/>
          </a:solidFill>
          <a:ln w="12700">
            <a:solidFill>
              <a:srgbClr val="1F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1234440"/>
            <a:ext cx="54864" cy="896112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87568" y="12801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74.61%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687568" y="162763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PAY_0 Gini Importance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87568" y="18288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all other 22 features combined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2240280"/>
            <a:ext cx="3291840" cy="896112"/>
          </a:xfrm>
          <a:prstGeom prst="rect">
            <a:avLst/>
          </a:prstGeom>
          <a:solidFill>
            <a:srgbClr val="132840"/>
          </a:solidFill>
          <a:ln w="12700">
            <a:solidFill>
              <a:srgbClr val="1F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2240280"/>
            <a:ext cx="54864" cy="896112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2860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687568" y="263347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payment history vars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687568" y="28346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PAY_0, PAY_AMT2, PAY_4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577840" y="3246120"/>
            <a:ext cx="3291840" cy="896112"/>
          </a:xfrm>
          <a:prstGeom prst="rect">
            <a:avLst/>
          </a:prstGeom>
          <a:solidFill>
            <a:srgbClr val="132840"/>
          </a:solidFill>
          <a:ln w="12700">
            <a:solidFill>
              <a:srgbClr val="1F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77840" y="3246120"/>
            <a:ext cx="54864" cy="896112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87568" y="32918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687568" y="363931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Yeh &amp; Lien (2009)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87568" y="38404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paper confirmed same finding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577840" y="4297680"/>
            <a:ext cx="3291840" cy="594360"/>
          </a:xfrm>
          <a:prstGeom prst="rect">
            <a:avLst/>
          </a:prstGeom>
          <a:solidFill>
            <a:srgbClr val="1A2D1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0" y="4325112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paid late last month → you're likely to default next month.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&amp; Dimensionality Insights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960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Thresholds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577840" y="141732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1417320"/>
            <a:ext cx="54864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87568" y="1444752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variance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87568" y="1682496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13 components needed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577840" y="210312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2103120"/>
            <a:ext cx="54864" cy="548640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87568" y="2130552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variance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687568" y="2368296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15 components needed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77840" y="278892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77840" y="2788920"/>
            <a:ext cx="54864" cy="5486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2816352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variance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687568" y="3054096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19 components needed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577840" y="3566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tells us: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577840" y="38862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has moderate correlations — not strongly reducible
</a:t>
            </a:r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Classes overlap in 2D PCA space — confirms non-linear boundaries
</a:t>
            </a:r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Explains why Decision Tree outperforms Logistic Regression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Analysis &amp; Lessons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4114800" cy="1737360"/>
          </a:xfrm>
          <a:prstGeom prst="rect">
            <a:avLst/>
          </a:prstGeom>
          <a:solidFill>
            <a:srgbClr val="132840"/>
          </a:solidFill>
          <a:ln w="12700">
            <a:solidFill>
              <a:srgbClr val="1F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188720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" y="1188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recall (0.62) — finds most defaulters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very low precision (0.37) — flags too many non-defaulters. Class imbalance handling essential.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114800" cy="1737360"/>
          </a:xfrm>
          <a:prstGeom prst="rect">
            <a:avLst/>
          </a:prstGeom>
          <a:solidFill>
            <a:srgbClr val="132840"/>
          </a:solidFill>
          <a:ln w="12700">
            <a:solidFill>
              <a:srgbClr val="1F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18888" y="1188720"/>
            <a:ext cx="502920" cy="502920"/>
          </a:xfrm>
          <a:prstGeom prst="ellipse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22392" y="1188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Naive Bayes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600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all-round but worst accuracy (0.75)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8745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independence assumption strongly violated — correlations in PAY_AMT columns hurt performance significantly.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4114800" cy="1737360"/>
          </a:xfrm>
          <a:prstGeom prst="rect">
            <a:avLst/>
          </a:prstGeom>
          <a:solidFill>
            <a:srgbClr val="132840"/>
          </a:solidFill>
          <a:ln w="12700">
            <a:solidFill>
              <a:srgbClr val="1F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3154680"/>
            <a:ext cx="502920" cy="50292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87552" y="3154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(Winner)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3566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(0.52), best AUC (0.76), most stable CV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8404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Non-linearity captured well. Gini impurity reveals PAY_0 dominance. Controlled depth prevents overfitting.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971800"/>
            <a:ext cx="4114800" cy="1737360"/>
          </a:xfrm>
          <a:prstGeom prst="rect">
            <a:avLst/>
          </a:prstGeom>
          <a:solidFill>
            <a:srgbClr val="132840"/>
          </a:solidFill>
          <a:ln w="12700">
            <a:solidFill>
              <a:srgbClr val="1F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18888" y="3154680"/>
            <a:ext cx="502920" cy="50292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22392" y="3154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Project Lesson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3566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behavior &gt; demographics &gt; historical averages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8404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PAY_0 alone contributes 74.6% of split importance. Banks should weight current-month payment status highest.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Improved the Models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00584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1005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46720" y="1143000"/>
            <a:ext cx="777240" cy="43891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0" y="1143000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1051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1362456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— varying C for LR, max_depth &amp; min_samples_leaf for DT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20240"/>
            <a:ext cx="100584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20240"/>
            <a:ext cx="1005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31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2103120"/>
            <a:ext cx="777240" cy="43891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2103120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17320" y="2011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Resampling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2322576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imblearn SMOTE to synthesize minority class samples &amp; address 3.5:1 imbalance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80360"/>
            <a:ext cx="100584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880360"/>
            <a:ext cx="1005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0" y="3063240"/>
            <a:ext cx="777240" cy="43891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3063240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17320" y="2971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3282696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utilization ratios (PAY_AMT / BILL_AMT) as new features + Random Forest tested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84048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840480"/>
            <a:ext cx="100584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840480"/>
            <a:ext cx="1005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4023360"/>
            <a:ext cx="777240" cy="438912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4023360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417320" y="3931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Selection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17320" y="4242816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 comparison, final report, and this presentation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490472"/>
            <a:ext cx="438912" cy="438912"/>
          </a:xfrm>
          <a:prstGeom prst="ellipse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904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472184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is the best model — highest F1 (0.52), ROC-AUC (0.76), and lowest CV variance (±0.007)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203704"/>
            <a:ext cx="438912" cy="438912"/>
          </a:xfrm>
          <a:prstGeom prst="ellipse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037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185416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PAY_0 is overwhelmingly dominant at 74.6% Gini importance — recent payment behavior is the best predictor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916936"/>
            <a:ext cx="438912" cy="438912"/>
          </a:xfrm>
          <a:prstGeom prst="ellipse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169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89864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 fail when classes aren't separable — PCA &amp; DT results both confirm non-linear boundaries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630168"/>
            <a:ext cx="438912" cy="438912"/>
          </a:xfrm>
          <a:prstGeom prst="ellipse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301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6118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must be handled — balanced weighting was critical; SMOTE tested in final stage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4343400"/>
            <a:ext cx="438912" cy="438912"/>
          </a:xfrm>
          <a:prstGeom prst="ellipse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3434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32511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vs. Precision trade-off is domain-specific — for banks, missing a defaulter is riskier than a false flag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548640"/>
            <a:ext cx="3657600" cy="3657600"/>
          </a:xfrm>
          <a:prstGeom prst="ellipse">
            <a:avLst/>
          </a:prstGeom>
          <a:solidFill>
            <a:srgbClr val="132840"/>
          </a:solidFill>
          <a:ln w="12700">
            <a:solidFill>
              <a:srgbClr val="1F4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 |  BFOR 516  |  Spring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UCI Default of Credit Card Clients  |  Yeh &amp; Lien (2009)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Credit Card Defaults - Group 3 Milestone 3</dc:title>
  <dc:subject>PptxGenJS Presentation</dc:subject>
  <dc:creator>PptxGenJS</dc:creator>
  <cp:lastModifiedBy>PptxGenJS</cp:lastModifiedBy>
  <cp:revision>1</cp:revision>
  <dcterms:created xsi:type="dcterms:W3CDTF">2026-04-21T02:57:56Z</dcterms:created>
  <dcterms:modified xsi:type="dcterms:W3CDTF">2026-04-21T02:57:56Z</dcterms:modified>
</cp:coreProperties>
</file>