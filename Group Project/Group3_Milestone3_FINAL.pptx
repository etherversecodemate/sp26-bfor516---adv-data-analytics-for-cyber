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9B67E4-5983-0066-EDB6-5BD4D10F0685}" v="12" dt="2026-04-21T03:21:32.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har, Muhammad H" userId="S::mbahar@albany.edu::84031f88-3164-421f-897b-6250739e55f4" providerId="AD" clId="Web-{EB9B67E4-5983-0066-EDB6-5BD4D10F0685}"/>
    <pc:docChg chg="modSld">
      <pc:chgData name="Bahar, Muhammad H" userId="S::mbahar@albany.edu::84031f88-3164-421f-897b-6250739e55f4" providerId="AD" clId="Web-{EB9B67E4-5983-0066-EDB6-5BD4D10F0685}" dt="2026-04-21T03:21:32.054" v="11" actId="14100"/>
      <pc:docMkLst>
        <pc:docMk/>
      </pc:docMkLst>
      <pc:sldChg chg="modSp">
        <pc:chgData name="Bahar, Muhammad H" userId="S::mbahar@albany.edu::84031f88-3164-421f-897b-6250739e55f4" providerId="AD" clId="Web-{EB9B67E4-5983-0066-EDB6-5BD4D10F0685}" dt="2026-04-21T03:21:32.054" v="11" actId="14100"/>
        <pc:sldMkLst>
          <pc:docMk/>
          <pc:sldMk cId="0" sldId="256"/>
        </pc:sldMkLst>
        <pc:spChg chg="mod">
          <ac:chgData name="Bahar, Muhammad H" userId="S::mbahar@albany.edu::84031f88-3164-421f-897b-6250739e55f4" providerId="AD" clId="Web-{EB9B67E4-5983-0066-EDB6-5BD4D10F0685}" dt="2026-04-21T03:21:32.054" v="11" actId="14100"/>
          <ac:spMkLst>
            <pc:docMk/>
            <pc:sldMk cId="0" sldId="256"/>
            <ac:spMk id="3" creationId="{00000000-0000-0000-0000-000000000000}"/>
          </ac:spMkLst>
        </pc:spChg>
        <pc:spChg chg="mod">
          <ac:chgData name="Bahar, Muhammad H" userId="S::mbahar@albany.edu::84031f88-3164-421f-897b-6250739e55f4" providerId="AD" clId="Web-{EB9B67E4-5983-0066-EDB6-5BD4D10F0685}" dt="2026-04-21T03:21:31.867" v="10" actId="14100"/>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7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8_0.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109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1565C0"/>
            </a:solidFill>
            <a:effectLst/>
          </c:spPr>
          <c:invertIfNegative val="0"/>
          <c:cat>
            <c:strRef>
              <c:f>Sheet1!$A$2:$A$6</c:f>
              <c:strCache>
                <c:ptCount val="5"/>
                <c:pt idx="0">
                  <c:v>Accuracy</c:v>
                </c:pt>
                <c:pt idx="1">
                  <c:v>Precision*</c:v>
                </c:pt>
                <c:pt idx="2">
                  <c:v>Recall*</c:v>
                </c:pt>
                <c:pt idx="3">
                  <c:v>F1-Score*</c:v>
                </c:pt>
                <c:pt idx="4">
                  <c:v>ROC-AUC</c:v>
                </c:pt>
              </c:strCache>
            </c:strRef>
          </c:cat>
          <c:val>
            <c:numRef>
              <c:f>Sheet1!$B$2:$B$6</c:f>
              <c:numCache>
                <c:formatCode>General</c:formatCode>
                <c:ptCount val="5"/>
                <c:pt idx="0">
                  <c:v>0.67949999999999999</c:v>
                </c:pt>
                <c:pt idx="1">
                  <c:v>0.36709999999999998</c:v>
                </c:pt>
                <c:pt idx="2">
                  <c:v>0.62019999999999997</c:v>
                </c:pt>
                <c:pt idx="3">
                  <c:v>0.4612</c:v>
                </c:pt>
                <c:pt idx="4">
                  <c:v>0.70840000000000003</c:v>
                </c:pt>
              </c:numCache>
            </c:numRef>
          </c:val>
          <c:extLst>
            <c:ext xmlns:c16="http://schemas.microsoft.com/office/drawing/2014/chart" uri="{C3380CC4-5D6E-409C-BE32-E72D297353CC}">
              <c16:uniqueId val="{00000000-7E1A-44ED-9873-5996C4CF7C8A}"/>
            </c:ext>
          </c:extLst>
        </c:ser>
        <c:ser>
          <c:idx val="1"/>
          <c:order val="1"/>
          <c:tx>
            <c:strRef>
              <c:f>Sheet1!$C$1</c:f>
              <c:strCache>
                <c:ptCount val="1"/>
                <c:pt idx="0">
                  <c:v>Gaussian Naive Bayes</c:v>
                </c:pt>
              </c:strCache>
            </c:strRef>
          </c:tx>
          <c:spPr>
            <a:solidFill>
              <a:srgbClr val="7B1FA2"/>
            </a:solidFill>
            <a:effectLst/>
          </c:spPr>
          <c:invertIfNegative val="0"/>
          <c:cat>
            <c:strRef>
              <c:f>Sheet1!$A$2:$A$6</c:f>
              <c:strCache>
                <c:ptCount val="5"/>
                <c:pt idx="0">
                  <c:v>Accuracy</c:v>
                </c:pt>
                <c:pt idx="1">
                  <c:v>Precision*</c:v>
                </c:pt>
                <c:pt idx="2">
                  <c:v>Recall*</c:v>
                </c:pt>
                <c:pt idx="3">
                  <c:v>F1-Score*</c:v>
                </c:pt>
                <c:pt idx="4">
                  <c:v>ROC-AUC</c:v>
                </c:pt>
              </c:strCache>
            </c:strRef>
          </c:cat>
          <c:val>
            <c:numRef>
              <c:f>Sheet1!$C$2:$C$6</c:f>
              <c:numCache>
                <c:formatCode>General</c:formatCode>
                <c:ptCount val="5"/>
                <c:pt idx="0">
                  <c:v>0.75180000000000002</c:v>
                </c:pt>
                <c:pt idx="1">
                  <c:v>0.45040000000000002</c:v>
                </c:pt>
                <c:pt idx="2">
                  <c:v>0.55389999999999995</c:v>
                </c:pt>
                <c:pt idx="3">
                  <c:v>0.49680000000000002</c:v>
                </c:pt>
                <c:pt idx="4">
                  <c:v>0.7248</c:v>
                </c:pt>
              </c:numCache>
            </c:numRef>
          </c:val>
          <c:extLst>
            <c:ext xmlns:c16="http://schemas.microsoft.com/office/drawing/2014/chart" uri="{C3380CC4-5D6E-409C-BE32-E72D297353CC}">
              <c16:uniqueId val="{00000001-7E1A-44ED-9873-5996C4CF7C8A}"/>
            </c:ext>
          </c:extLst>
        </c:ser>
        <c:ser>
          <c:idx val="2"/>
          <c:order val="2"/>
          <c:tx>
            <c:strRef>
              <c:f>Sheet1!$D$1</c:f>
              <c:strCache>
                <c:ptCount val="1"/>
                <c:pt idx="0">
                  <c:v>Decision Tree</c:v>
                </c:pt>
              </c:strCache>
            </c:strRef>
          </c:tx>
          <c:spPr>
            <a:solidFill>
              <a:srgbClr val="00695C"/>
            </a:solidFill>
            <a:effectLst/>
          </c:spPr>
          <c:invertIfNegative val="0"/>
          <c:cat>
            <c:strRef>
              <c:f>Sheet1!$A$2:$A$6</c:f>
              <c:strCache>
                <c:ptCount val="5"/>
                <c:pt idx="0">
                  <c:v>Accuracy</c:v>
                </c:pt>
                <c:pt idx="1">
                  <c:v>Precision*</c:v>
                </c:pt>
                <c:pt idx="2">
                  <c:v>Recall*</c:v>
                </c:pt>
                <c:pt idx="3">
                  <c:v>F1-Score*</c:v>
                </c:pt>
                <c:pt idx="4">
                  <c:v>ROC-AUC</c:v>
                </c:pt>
              </c:strCache>
            </c:strRef>
          </c:cat>
          <c:val>
            <c:numRef>
              <c:f>Sheet1!$D$2:$D$6</c:f>
              <c:numCache>
                <c:formatCode>General</c:formatCode>
                <c:ptCount val="5"/>
                <c:pt idx="0">
                  <c:v>0.77229999999999999</c:v>
                </c:pt>
                <c:pt idx="1">
                  <c:v>0.48699999999999999</c:v>
                </c:pt>
                <c:pt idx="2">
                  <c:v>0.55159999999999998</c:v>
                </c:pt>
                <c:pt idx="3">
                  <c:v>0.51729999999999998</c:v>
                </c:pt>
                <c:pt idx="4">
                  <c:v>0.75890000000000002</c:v>
                </c:pt>
              </c:numCache>
            </c:numRef>
          </c:val>
          <c:extLst>
            <c:ext xmlns:c16="http://schemas.microsoft.com/office/drawing/2014/chart" uri="{C3380CC4-5D6E-409C-BE32-E72D297353CC}">
              <c16:uniqueId val="{00000002-7E1A-44ED-9873-5996C4CF7C8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BBDEF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pPr>
          <a:endParaRPr lang="en-US"/>
        </a:p>
      </c:txPr>
    </c:legend>
    <c:plotVisOnly val="1"/>
    <c:dispBlanksAs val="span"/>
    <c:showDLblsOverMax val="1"/>
  </c:chart>
  <c:spPr>
    <a:solidFill>
      <a:srgbClr val="F0F6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Gini Importance (%)</c:v>
                </c:pt>
              </c:strCache>
            </c:strRef>
          </c:tx>
          <c:spPr>
            <a:solidFill>
              <a:srgbClr val="00B8D4"/>
            </a:solidFill>
            <a:effectLst/>
          </c:spPr>
          <c:invertIfNegative val="0"/>
          <c:dPt>
            <c:idx val="0"/>
            <c:invertIfNegative val="0"/>
            <c:bubble3D val="0"/>
            <c:extLst>
              <c:ext xmlns:c16="http://schemas.microsoft.com/office/drawing/2014/chart" uri="{C3380CC4-5D6E-409C-BE32-E72D297353CC}">
                <c16:uniqueId val="{00000001-1697-450C-A5A2-D055D2C17CAB}"/>
              </c:ext>
            </c:extLst>
          </c:dPt>
          <c:dPt>
            <c:idx val="1"/>
            <c:invertIfNegative val="0"/>
            <c:bubble3D val="0"/>
            <c:spPr>
              <a:solidFill>
                <a:srgbClr val="1565C0"/>
              </a:solidFill>
              <a:effectLst/>
            </c:spPr>
            <c:extLst>
              <c:ext xmlns:c16="http://schemas.microsoft.com/office/drawing/2014/chart" uri="{C3380CC4-5D6E-409C-BE32-E72D297353CC}">
                <c16:uniqueId val="{00000003-1697-450C-A5A2-D055D2C17CAB}"/>
              </c:ext>
            </c:extLst>
          </c:dPt>
          <c:dPt>
            <c:idx val="2"/>
            <c:invertIfNegative val="0"/>
            <c:bubble3D val="0"/>
            <c:spPr>
              <a:solidFill>
                <a:srgbClr val="1565C0"/>
              </a:solidFill>
              <a:effectLst/>
            </c:spPr>
            <c:extLst>
              <c:ext xmlns:c16="http://schemas.microsoft.com/office/drawing/2014/chart" uri="{C3380CC4-5D6E-409C-BE32-E72D297353CC}">
                <c16:uniqueId val="{00000005-1697-450C-A5A2-D055D2C17CAB}"/>
              </c:ext>
            </c:extLst>
          </c:dPt>
          <c:dPt>
            <c:idx val="3"/>
            <c:invertIfNegative val="0"/>
            <c:bubble3D val="0"/>
            <c:spPr>
              <a:solidFill>
                <a:srgbClr val="1565C0"/>
              </a:solidFill>
              <a:effectLst/>
            </c:spPr>
            <c:extLst>
              <c:ext xmlns:c16="http://schemas.microsoft.com/office/drawing/2014/chart" uri="{C3380CC4-5D6E-409C-BE32-E72D297353CC}">
                <c16:uniqueId val="{00000007-1697-450C-A5A2-D055D2C17CAB}"/>
              </c:ext>
            </c:extLst>
          </c:dPt>
          <c:dPt>
            <c:idx val="4"/>
            <c:invertIfNegative val="0"/>
            <c:bubble3D val="0"/>
            <c:spPr>
              <a:solidFill>
                <a:srgbClr val="1565C0"/>
              </a:solidFill>
              <a:effectLst/>
            </c:spPr>
            <c:extLst>
              <c:ext xmlns:c16="http://schemas.microsoft.com/office/drawing/2014/chart" uri="{C3380CC4-5D6E-409C-BE32-E72D297353CC}">
                <c16:uniqueId val="{00000009-1697-450C-A5A2-D055D2C17CAB}"/>
              </c:ext>
            </c:extLst>
          </c:dPt>
          <c:dPt>
            <c:idx val="5"/>
            <c:invertIfNegative val="0"/>
            <c:bubble3D val="0"/>
            <c:spPr>
              <a:solidFill>
                <a:srgbClr val="1565C0"/>
              </a:solidFill>
              <a:effectLst/>
            </c:spPr>
            <c:extLst>
              <c:ext xmlns:c16="http://schemas.microsoft.com/office/drawing/2014/chart" uri="{C3380CC4-5D6E-409C-BE32-E72D297353CC}">
                <c16:uniqueId val="{0000000B-1697-450C-A5A2-D055D2C17CAB}"/>
              </c:ext>
            </c:extLst>
          </c:dPt>
          <c:dPt>
            <c:idx val="6"/>
            <c:invertIfNegative val="0"/>
            <c:bubble3D val="0"/>
            <c:spPr>
              <a:solidFill>
                <a:srgbClr val="1565C0"/>
              </a:solidFill>
              <a:effectLst/>
            </c:spPr>
            <c:extLst>
              <c:ext xmlns:c16="http://schemas.microsoft.com/office/drawing/2014/chart" uri="{C3380CC4-5D6E-409C-BE32-E72D297353CC}">
                <c16:uniqueId val="{0000000D-1697-450C-A5A2-D055D2C17CAB}"/>
              </c:ext>
            </c:extLst>
          </c:dPt>
          <c:dPt>
            <c:idx val="7"/>
            <c:invertIfNegative val="0"/>
            <c:bubble3D val="0"/>
            <c:spPr>
              <a:solidFill>
                <a:srgbClr val="1565C0"/>
              </a:solidFill>
              <a:effectLst/>
            </c:spPr>
            <c:extLst>
              <c:ext xmlns:c16="http://schemas.microsoft.com/office/drawing/2014/chart" uri="{C3380CC4-5D6E-409C-BE32-E72D297353CC}">
                <c16:uniqueId val="{0000000F-1697-450C-A5A2-D055D2C17CAB}"/>
              </c:ext>
            </c:extLst>
          </c:dPt>
          <c:dPt>
            <c:idx val="8"/>
            <c:invertIfNegative val="0"/>
            <c:bubble3D val="0"/>
            <c:spPr>
              <a:solidFill>
                <a:srgbClr val="1565C0"/>
              </a:solidFill>
              <a:effectLst/>
            </c:spPr>
            <c:extLst>
              <c:ext xmlns:c16="http://schemas.microsoft.com/office/drawing/2014/chart" uri="{C3380CC4-5D6E-409C-BE32-E72D297353CC}">
                <c16:uniqueId val="{00000011-1697-450C-A5A2-D055D2C17CAB}"/>
              </c:ext>
            </c:extLst>
          </c:dPt>
          <c:dPt>
            <c:idx val="9"/>
            <c:invertIfNegative val="0"/>
            <c:bubble3D val="0"/>
            <c:spPr>
              <a:solidFill>
                <a:srgbClr val="1565C0"/>
              </a:solidFill>
              <a:effectLst/>
            </c:spPr>
            <c:extLst>
              <c:ext xmlns:c16="http://schemas.microsoft.com/office/drawing/2014/chart" uri="{C3380CC4-5D6E-409C-BE32-E72D297353CC}">
                <c16:uniqueId val="{00000013-1697-450C-A5A2-D055D2C17CAB}"/>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PAY_0</c:v>
                </c:pt>
                <c:pt idx="1">
                  <c:v>PAY_AMT2</c:v>
                </c:pt>
                <c:pt idx="2">
                  <c:v>PAY_4</c:v>
                </c:pt>
                <c:pt idx="3">
                  <c:v>LIMIT_BAL</c:v>
                </c:pt>
                <c:pt idx="4">
                  <c:v>PAY_3</c:v>
                </c:pt>
                <c:pt idx="5">
                  <c:v>PAY_2</c:v>
                </c:pt>
                <c:pt idx="6">
                  <c:v>PAY_AMT4</c:v>
                </c:pt>
                <c:pt idx="7">
                  <c:v>PAY_AMT3</c:v>
                </c:pt>
                <c:pt idx="8">
                  <c:v>PAY_AMT1</c:v>
                </c:pt>
                <c:pt idx="9">
                  <c:v>BILL_AMT2</c:v>
                </c:pt>
              </c:strCache>
            </c:strRef>
          </c:cat>
          <c:val>
            <c:numRef>
              <c:f>Sheet1!$B$2:$B$11</c:f>
              <c:numCache>
                <c:formatCode>General</c:formatCode>
                <c:ptCount val="10"/>
                <c:pt idx="0">
                  <c:v>74.61</c:v>
                </c:pt>
                <c:pt idx="1">
                  <c:v>7.37</c:v>
                </c:pt>
                <c:pt idx="2">
                  <c:v>3.72</c:v>
                </c:pt>
                <c:pt idx="3">
                  <c:v>2.76</c:v>
                </c:pt>
                <c:pt idx="4">
                  <c:v>2.25</c:v>
                </c:pt>
                <c:pt idx="5">
                  <c:v>2</c:v>
                </c:pt>
                <c:pt idx="6">
                  <c:v>1.5</c:v>
                </c:pt>
                <c:pt idx="7">
                  <c:v>1.48</c:v>
                </c:pt>
                <c:pt idx="8">
                  <c:v>1.05</c:v>
                </c:pt>
                <c:pt idx="9">
                  <c:v>0.89</c:v>
                </c:pt>
              </c:numCache>
            </c:numRef>
          </c:val>
          <c:extLst>
            <c:ext xmlns:c16="http://schemas.microsoft.com/office/drawing/2014/chart" uri="{C3380CC4-5D6E-409C-BE32-E72D297353CC}">
              <c16:uniqueId val="{00000014-1697-450C-A5A2-D055D2C17C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90CAF9"/>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1F4A7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CAF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1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Cumulative Explained Variance by PCA Components</a:t>
            </a:r>
          </a:p>
        </c:rich>
      </c:tx>
      <c:overlay val="0"/>
    </c:title>
    <c:autoTitleDeleted val="0"/>
    <c:plotArea>
      <c:layout/>
      <c:lineChart>
        <c:grouping val="standard"/>
        <c:varyColors val="0"/>
        <c:ser>
          <c:idx val="0"/>
          <c:order val="0"/>
          <c:tx>
            <c:strRef>
              <c:f>Sheet1!$B$1</c:f>
              <c:strCache>
                <c:ptCount val="1"/>
                <c:pt idx="0">
                  <c:v>Cumulative Variance Explained</c:v>
                </c:pt>
              </c:strCache>
            </c:strRef>
          </c:tx>
          <c:spPr>
            <a:ln w="38100" cap="flat">
              <a:solidFill>
                <a:srgbClr val="1565C0"/>
              </a:solidFill>
              <a:prstDash val="solid"/>
              <a:round/>
            </a:ln>
            <a:effectLst/>
          </c:spPr>
          <c:marker>
            <c:symbol val="circle"/>
            <c:size val="6"/>
            <c:spPr>
              <a:solidFill>
                <a:srgbClr val="1565C0"/>
              </a:solidFill>
              <a:ln w="9525" cap="flat">
                <a:solidFill>
                  <a:srgbClr val="1565C0"/>
                </a:solidFill>
                <a:prstDash val="solid"/>
                <a:round/>
              </a:ln>
              <a:effectLst/>
            </c:spPr>
          </c:marker>
          <c:cat>
            <c:strRef>
              <c:f>Sheet1!$A$2:$A$20</c:f>
              <c:strCache>
                <c:ptCount val="19"/>
                <c:pt idx="0">
                  <c:v>PC1</c:v>
                </c:pt>
                <c:pt idx="1">
                  <c:v>PC2</c:v>
                </c:pt>
                <c:pt idx="2">
                  <c:v>PC3</c:v>
                </c:pt>
                <c:pt idx="3">
                  <c:v>PC4</c:v>
                </c:pt>
                <c:pt idx="4">
                  <c:v>PC5</c:v>
                </c:pt>
                <c:pt idx="5">
                  <c:v>PC6</c:v>
                </c:pt>
                <c:pt idx="6">
                  <c:v>PC7</c:v>
                </c:pt>
                <c:pt idx="7">
                  <c:v>PC8</c:v>
                </c:pt>
                <c:pt idx="8">
                  <c:v>PC9</c:v>
                </c:pt>
                <c:pt idx="9">
                  <c:v>PC10</c:v>
                </c:pt>
                <c:pt idx="10">
                  <c:v>PC11</c:v>
                </c:pt>
                <c:pt idx="11">
                  <c:v>PC12</c:v>
                </c:pt>
                <c:pt idx="12">
                  <c:v>PC13</c:v>
                </c:pt>
                <c:pt idx="13">
                  <c:v>PC14</c:v>
                </c:pt>
                <c:pt idx="14">
                  <c:v>PC15</c:v>
                </c:pt>
                <c:pt idx="15">
                  <c:v>PC16</c:v>
                </c:pt>
                <c:pt idx="16">
                  <c:v>PC17</c:v>
                </c:pt>
                <c:pt idx="17">
                  <c:v>PC18</c:v>
                </c:pt>
                <c:pt idx="18">
                  <c:v>PC19</c:v>
                </c:pt>
              </c:strCache>
            </c:strRef>
          </c:cat>
          <c:val>
            <c:numRef>
              <c:f>Sheet1!$B$2:$B$20</c:f>
              <c:numCache>
                <c:formatCode>General</c:formatCode>
                <c:ptCount val="19"/>
                <c:pt idx="0">
                  <c:v>28.5</c:v>
                </c:pt>
                <c:pt idx="1">
                  <c:v>46.4</c:v>
                </c:pt>
                <c:pt idx="2">
                  <c:v>56</c:v>
                </c:pt>
                <c:pt idx="3">
                  <c:v>62</c:v>
                </c:pt>
                <c:pt idx="4">
                  <c:v>64.2</c:v>
                </c:pt>
                <c:pt idx="5">
                  <c:v>67.5</c:v>
                </c:pt>
                <c:pt idx="6">
                  <c:v>70.5</c:v>
                </c:pt>
                <c:pt idx="7">
                  <c:v>73</c:v>
                </c:pt>
                <c:pt idx="8">
                  <c:v>75.5</c:v>
                </c:pt>
                <c:pt idx="9">
                  <c:v>83.1</c:v>
                </c:pt>
                <c:pt idx="10">
                  <c:v>84.5</c:v>
                </c:pt>
                <c:pt idx="11">
                  <c:v>86</c:v>
                </c:pt>
                <c:pt idx="12">
                  <c:v>87.5</c:v>
                </c:pt>
                <c:pt idx="13">
                  <c:v>89</c:v>
                </c:pt>
                <c:pt idx="14">
                  <c:v>91.5</c:v>
                </c:pt>
                <c:pt idx="15">
                  <c:v>93</c:v>
                </c:pt>
                <c:pt idx="16">
                  <c:v>95</c:v>
                </c:pt>
                <c:pt idx="17">
                  <c:v>97</c:v>
                </c:pt>
                <c:pt idx="18">
                  <c:v>99</c:v>
                </c:pt>
              </c:numCache>
            </c:numRef>
          </c:val>
          <c:smooth val="1"/>
          <c:extLst>
            <c:ext xmlns:c16="http://schemas.microsoft.com/office/drawing/2014/chart" uri="{C3380CC4-5D6E-409C-BE32-E72D297353CC}">
              <c16:uniqueId val="{00000000-E234-4B0A-A1C4-707A3001542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0BFCF48-CA5B-4806-9798-296E93EE5D0C}" type="datetimeFigureOut">
              <a:t>4/20/2026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C9A18B9-4859-4842-9184-AFFED091AC37}" type="slidenum">
              <a:t>‹#›</a:t>
            </a:fld>
            <a:endParaRPr lang="en-US"/>
          </a:p>
        </p:txBody>
      </p:sp>
    </p:spTree>
    <p:extLst>
      <p:ext uri="{BB962C8B-B14F-4D97-AF65-F5344CB8AC3E}">
        <p14:creationId xmlns:p14="http://schemas.microsoft.com/office/powerpoint/2010/main" val="1898826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Maddirala Shalem Raju</a:t>
            </a:r>
          </a:p>
          <a:p>
            <a:r>
              <a:t>============================================================</a:t>
            </a:r>
          </a:p>
          <a:p/>
          <a:p>
            <a:r>
              <a:t>SPEAKER NOTES – Slide 1: Title</a:t>
            </a:r>
          </a:p>
          <a:p/>
          <a:p>
            <a:r>
              <a:t>Opening statement: 'Today we present our analysis of credit card default prediction using three machine learning models on 30,000 real-world client records from Taiwan.'</a:t>
            </a:r>
          </a:p>
          <a:p/>
          <a:p>
            <a:r>
              <a:t>Group 3 members: Spencer Kone, Muhammad H. Bahar, Kunapureddy Leela Pavan Kumar, Maddirala Shalem Raju</a:t>
            </a:r>
          </a:p>
          <a:p/>
          <a:p>
            <a:r>
              <a:t>ANTICIPATED PROFESSOR QUESTIONS:</a:t>
            </a:r>
          </a:p>
          <a:p>
            <a:r>
              <a:t>Q: What was the division of labor in the group?</a:t>
            </a:r>
          </a:p>
          <a:p>
            <a:r>
              <a:t>A: [Briefly describe each member's contribution — EDA, modeling, visualization, report writing]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Kunapureddy Leela Pavan Kumar</a:t>
            </a:r>
          </a:p>
          <a:p>
            <a:r>
              <a:t>============================================================</a:t>
            </a:r>
          </a:p>
          <a:p/>
          <a:p>
            <a:r>
              <a:t>SPEAKER NOTES – Slide 2: Why This Matters</a:t>
            </a:r>
          </a:p>
          <a:p/>
          <a:p>
            <a:r>
              <a:t>Connect to cybersecurity context:</a:t>
            </a:r>
          </a:p>
          <a:p>
            <a:r>
              <a:t>• Credit default prediction is a financial risk ML problem, directly applicable to fraud detection and anomaly scoring in cyber domains</a:t>
            </a:r>
          </a:p>
          <a:p>
            <a:r>
              <a:t>• The same feature engineering, model selection, and evaluation methodology applies to intrusion detection, insider threat scoring</a:t>
            </a:r>
          </a:p>
          <a:p>
            <a:r>
              <a:t>• Class imbalance (22% default) mirrors real cyber threat datasets (attacks are rare events)</a:t>
            </a:r>
          </a:p>
          <a:p/>
          <a:p>
            <a:r>
              <a:t>ANTICIPATED PROFESSOR QUESTIONS:</a:t>
            </a:r>
          </a:p>
          <a:p>
            <a:r>
              <a:t>Q: Why is this a BFOR 516 topic?</a:t>
            </a:r>
          </a:p>
          <a:p>
            <a:r>
              <a:t>A: Advanced data analytics for cybersecurity covers ML techniques applicable to risk. Credit default prediction uses the same methodology as behavioral anomaly detection — identifying rare, high-cost events in imbalanced datasets.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Muhammad H. Bahar</a:t>
            </a:r>
          </a:p>
          <a:p>
            <a:r>
              <a:t>============================================================</a:t>
            </a:r>
          </a:p>
          <a:p/>
          <a:p>
            <a:r>
              <a:t>SPEAKER NOTES – Slide 3: Dataset at a Glance</a:t>
            </a:r>
          </a:p>
          <a:p/>
          <a:p>
            <a:r>
              <a:t>Key facts to emphasize:</a:t>
            </a:r>
          </a:p>
          <a:p>
            <a:r>
              <a:t>• 30,000 credit card clients in Taiwan (April–September 2005), sourced from UCI ML Repository</a:t>
            </a:r>
          </a:p>
          <a:p>
            <a:r>
              <a:t>• 23 features: demographics (age, sex, education, marriage), credit limit, 6-month payment history, bill amounts, payment amounts</a:t>
            </a:r>
          </a:p>
          <a:p>
            <a:r>
              <a:t>• Default rate = 22.12% → 22,364 No Default vs 6,636 Default clients</a:t>
            </a:r>
          </a:p>
          <a:p>
            <a:r>
              <a:t>• Class imbalance of 3.5:1 requires special handling (class_weight='balanced')</a:t>
            </a:r>
          </a:p>
          <a:p>
            <a:r>
              <a:t>• Average credit limit NT$167,484 | Average age 35 years</a:t>
            </a:r>
          </a:p>
          <a:p/>
          <a:p>
            <a:r>
              <a:t>ANTICIPATED PROFESSOR QUESTIONS:</a:t>
            </a:r>
          </a:p>
          <a:p>
            <a:r>
              <a:t>Q: Why is this dataset relevant to cybersecurity?</a:t>
            </a:r>
          </a:p>
          <a:p>
            <a:r>
              <a:t>A: Financial fraud and credit default prediction are core cyber-risk problems. The same ML techniques apply to anomaly detection, insider threat scoring, and fraud detection in banking systems.</a:t>
            </a:r>
          </a:p>
          <a:p/>
          <a:p>
            <a:r>
              <a:t>Q: Is the dataset still representative today (2005 data)?</a:t>
            </a:r>
          </a:p>
          <a:p>
            <a:r>
              <a:t>A: The behavioral patterns — payment delay as a predictor — are time-stable. The paper by Yeh &amp; Lien (2009) has 4,000+ citations confirming its continued relevance as a benchmark.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Muhammad H. Bahar</a:t>
            </a:r>
          </a:p>
          <a:p>
            <a:r>
              <a:t>============================================================</a:t>
            </a:r>
          </a:p>
          <a:p/>
          <a:p>
            <a:r>
              <a:t>SPEAKER NOTES – Slide 4: Data Preparation &amp; Cleaning</a:t>
            </a:r>
          </a:p>
          <a:p/>
          <a:p>
            <a:r>
              <a:t>Walk through each step:</a:t>
            </a:r>
          </a:p>
          <a:p>
            <a:r>
              <a:t>1. Initial Inspection: 30,000 rows × 24 cols, all int64. Zero missing values. 35 duplicates retained (0.12%)</a:t>
            </a:r>
          </a:p>
          <a:p>
            <a:r>
              <a:t>2. EDUCATION: Values 0, 5, 6 not in original codebook → remapped to 4 (Other). Affected 345 rows (1.15%)</a:t>
            </a:r>
          </a:p>
          <a:p>
            <a:r>
              <a:t>3. MARRIAGE: Value 0 undocumented → remapped to 3 (Other). Affected 54 rows. Total cleaned: 399 rows (1.3%)</a:t>
            </a:r>
          </a:p>
          <a:p>
            <a:r>
              <a:t>4. Stratified 80/20 split: 24,000 train / 6,000 test. Stratification ensures 22.12% default rate in both sets</a:t>
            </a:r>
          </a:p>
          <a:p>
            <a:r>
              <a:t>5. StandardScaler fit ONLY on training data → transforms test set using train statistics. Prevents data leakage</a:t>
            </a:r>
          </a:p>
          <a:p/>
          <a:p>
            <a:r>
              <a:t>ANTICIPATED PROFESSOR QUESTIONS:</a:t>
            </a:r>
          </a:p>
          <a:p>
            <a:r>
              <a:t>Q: Why not drop the undocumented EDUCATION/MARRIAGE values?</a:t>
            </a:r>
          </a:p>
          <a:p>
            <a:r>
              <a:t>A: 399 rows is 1.3% of the dataset. Dropping would waste valid data. Remapping to 'Other' is the standard approach recommended in the original paper.</a:t>
            </a:r>
          </a:p>
          <a:p/>
          <a:p>
            <a:r>
              <a:t>Q: What is data leakage and how did you prevent it?</a:t>
            </a:r>
          </a:p>
          <a:p>
            <a:r>
              <a:t>A: Data leakage means the model sees test-set information during training. We prevented it by fitting StandardScaler only on X_train, then applying transform() (not fit_transform()) on X_test.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Muhammad H. Bahar</a:t>
            </a:r>
          </a:p>
          <a:p>
            <a:r>
              <a:t>============================================================</a:t>
            </a:r>
          </a:p>
          <a:p/>
          <a:p>
            <a:r>
              <a:t>SPEAKER NOTES – Slide 5: Model Selection Rationale</a:t>
            </a:r>
          </a:p>
          <a:p/>
          <a:p>
            <a:r>
              <a:t>Explain WHY these three models:</a:t>
            </a:r>
          </a:p>
          <a:p>
            <a:r>
              <a:t>• Logistic Regression: Gold standard binary classifier in finance. Coefficients directly interpretable (positive = higher default probability). class_weight='balanced' adds weight to minority class</a:t>
            </a:r>
          </a:p>
          <a:p>
            <a:r>
              <a:t>• Gaussian Naive Bayes: Fastest to train. Provides a probabilistic benchmark. Assumption of feature independence is violated here (PAY_AMT columns correlate &gt;0.9) — useful as a lower bound</a:t>
            </a:r>
          </a:p>
          <a:p>
            <a:r>
              <a:t>• Decision Tree (max_depth=5): Captures non-linear relationships that LR cannot. Built-in feature importance. Controlled with min_samples_leaf=20 to prevent overfitting on 30K rows</a:t>
            </a:r>
          </a:p>
          <a:p/>
          <a:p>
            <a:r>
              <a:t>ANTICIPATED PROFESSOR QUESTIONS:</a:t>
            </a:r>
          </a:p>
          <a:p>
            <a:r>
              <a:t>Q: Why not use more powerful models like Random Forest or XGBoost?</a:t>
            </a:r>
          </a:p>
          <a:p>
            <a:r>
              <a:t>A: This milestone focused on interpretable baseline models. Random Forest was tested in the final stage. The assignment scope specified these three. Decision Tree at depth 5 is already an ensemble-adjacent approach with regularization.</a:t>
            </a:r>
          </a:p>
          <a:p/>
          <a:p>
            <a:r>
              <a:t>Q: Why use class_weight='balanced' instead of SMOTE?</a:t>
            </a:r>
          </a:p>
          <a:p>
            <a:r>
              <a:t>A: class_weight is computationally cheaper and built into sklearn. SMOTE was tested in the final stage (Milestone 4) as a separate improvement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6: Evaluation Framework</a:t>
            </a:r>
          </a:p>
          <a:p/>
          <a:p>
            <a:r>
              <a:t>Explain each metric's role:</a:t>
            </a:r>
          </a:p>
          <a:p>
            <a:r>
              <a:t>• Recall (Default class) — HIGHEST PRIORITY: If the model misses a real defaulter (False Negative), the bank loses money. LR achieved best recall = 0.6202</a:t>
            </a:r>
          </a:p>
          <a:p>
            <a:r>
              <a:t>• Precision: Of all clients flagged as defaulters, how many actually are? LR precision = 0.3671 — too many false positives</a:t>
            </a:r>
          </a:p>
          <a:p>
            <a:r>
              <a:t>• F1-Score: Harmonic mean balances precision and recall. DT best F1 = 0.5173</a:t>
            </a:r>
          </a:p>
          <a:p>
            <a:r>
              <a:t>• ROC-AUC: Measures discrimination across ALL thresholds. DT best AUC = 0.7589</a:t>
            </a:r>
          </a:p>
          <a:p>
            <a:r>
              <a:t>• 5-Fold CV AUC: DT CV = 0.7577 ± 0.0067 — confirms stable generalization</a:t>
            </a:r>
          </a:p>
          <a:p/>
          <a:p>
            <a:r>
              <a:t>ANTICIPATED PROFESSOR QUESTIONS:</a:t>
            </a:r>
          </a:p>
          <a:p>
            <a:r>
              <a:t>Q: Is accuracy a valid metric here?</a:t>
            </a:r>
          </a:p>
          <a:p>
            <a:r>
              <a:t>A: No. With 78% non-default, a model predicting all 'no default' scores 78% accuracy but is useless. That's why we prioritize recall, F1, and AUC.</a:t>
            </a:r>
          </a:p>
          <a:p/>
          <a:p>
            <a:r>
              <a:t>Q: How do you choose the right decision threshold?</a:t>
            </a:r>
          </a:p>
          <a:p>
            <a:r>
              <a:t>A: Default threshold is 0.5. For risk applications, lowering the threshold (e.g., 0.3) increases recall at the cost of precision. The ROC curve shows the full tradeoff.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7: Model Performance Results</a:t>
            </a:r>
          </a:p>
          <a:p/>
          <a:p>
            <a:r>
              <a:t>Full metric table (Default class):</a:t>
            </a:r>
          </a:p>
          <a:p>
            <a:r>
              <a:t>Model                     Acc   Prec    Rec     F1    AUC     CV</a:t>
            </a:r>
          </a:p>
          <a:p>
            <a:r>
              <a:t>------------------------------------------------------------</a:t>
            </a:r>
          </a:p>
          <a:p>
            <a:r>
              <a:t>Logistic Regression    0.6795 0.3671 0.6202 0.4612 0.7084 0.7264</a:t>
            </a:r>
          </a:p>
          <a:p>
            <a:r>
              <a:t>Naive Bayes            0.7518 0.4504 0.5539 0.4968 0.7248 0.7365</a:t>
            </a:r>
          </a:p>
          <a:p>
            <a:r>
              <a:t>Decision Tree          0.7723 0.4870 0.5516 0.5173 0.7589 0.7577</a:t>
            </a:r>
          </a:p>
          <a:p/>
          <a:p>
            <a:r>
              <a:t>Key talking points:</a:t>
            </a:r>
          </a:p>
          <a:p>
            <a:r>
              <a:t>• DT wins on F1 (0.5173), AUC (0.7589), accuracy (0.7723), and CV stability (±0.0067)</a:t>
            </a:r>
          </a:p>
          <a:p>
            <a:r>
              <a:t>• LR wins on recall (0.6202) — catches more defaulters but with too many false alarms</a:t>
            </a:r>
          </a:p>
          <a:p>
            <a:r>
              <a:t>• NB is middle ground — acceptable AUC (0.7248) but feature independence assumption hurts it</a:t>
            </a:r>
          </a:p>
          <a:p/>
          <a:p>
            <a:r>
              <a:t>ANTICIPATED PROFESSOR QUESTIONS:</a:t>
            </a:r>
          </a:p>
          <a:p>
            <a:r>
              <a:t>Q: Decision Tree has only 55% recall — it misses 45% of defaulters. Is that acceptable?</a:t>
            </a:r>
          </a:p>
          <a:p>
            <a:r>
              <a:t>A: It's a tradeoff. DT has the best balanced F1 (0.5173) and AUC (0.7589). LR's higher recall (0.6202) comes at the cost of precision (0.3671) — it flags 63% of non-defaulters incorrectly.</a:t>
            </a:r>
          </a:p>
          <a:p/>
          <a:p>
            <a:r>
              <a:t>Q: How do these results compare to state-of-the-art?</a:t>
            </a:r>
          </a:p>
          <a:p>
            <a:r>
              <a:t>A: Yeh &amp; Lien (2009) report AUC ~0.72 for neural nets on this dataset. Our DT achieves 0.7589 — competitive. More advanced models (XGBoost) typically reach 0.78–0.82.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8: Visual Performance Comparison</a:t>
            </a:r>
          </a:p>
          <a:p/>
          <a:p>
            <a:r>
              <a:t>Walk through the two charts:</a:t>
            </a:r>
          </a:p>
          <a:p>
            <a:r>
              <a:t>LEFT — Bar chart: Decision Tree (orange) leads on Accuracy, F1, and AUC. LR (blue) leads on Recall but lags on Precision and Accuracy.</a:t>
            </a:r>
          </a:p>
          <a:p>
            <a:r>
              <a:t>RIGHT — ROC curves: All three models beat the random baseline (dashed diagonal).</a:t>
            </a:r>
          </a:p>
          <a:p>
            <a:r>
              <a:t>  • DT AUC = 0.7589 — best curve, hugs top-left corner most</a:t>
            </a:r>
          </a:p>
          <a:p>
            <a:r>
              <a:t>  • NB AUC = 0.7248</a:t>
            </a:r>
          </a:p>
          <a:p>
            <a:r>
              <a:t>  • LR AUC = 0.7084</a:t>
            </a:r>
          </a:p>
          <a:p/>
          <a:p>
            <a:r>
              <a:t>ANTICIPATED PROFESSOR QUESTIONS:</a:t>
            </a:r>
          </a:p>
          <a:p>
            <a:r>
              <a:t>Q: What does the area under the ROC curve actually mean?</a:t>
            </a:r>
          </a:p>
          <a:p>
            <a:r>
              <a:t>A: AUC = probability that the model ranks a random defaulter higher than a random non-defaulter. AUC=0.50 is random guessing; AUC=1.0 is perfect. Our DT at 0.7589 means it correctly ranks 75.9% of such pairs.</a:t>
            </a:r>
          </a:p>
          <a:p/>
          <a:p>
            <a:r>
              <a:t>Q: Why do the three ROC curves cross each other?</a:t>
            </a:r>
          </a:p>
          <a:p>
            <a:r>
              <a:t>A: Each model has a different tradeoff profile. At low FPR thresholds, NB may outperform LR; at high FPR, LR catches more positives. The AUC summarizes performance across all thresholds.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9: Feature Importance</a:t>
            </a:r>
          </a:p>
          <a:p/>
          <a:p>
            <a:r>
              <a:t>Key insight: PAY_0 = 74.61% of all DT split importance — more than all 22 other features combined.</a:t>
            </a:r>
          </a:p>
          <a:p/>
          <a:p>
            <a:r>
              <a:t>Top 3 features: PAY_0 (74.6%), PAY_AMT2 (7.4%), PAY_4 (3.7%)</a:t>
            </a:r>
          </a:p>
          <a:p/>
          <a:p>
            <a:r>
              <a:t>Interpretation:</a:t>
            </a:r>
          </a:p>
          <a:p>
            <a:r>
              <a:t>• PAY_0 = September payment status (-1=paid on time, 0=revolving, 1-8=months delayed)</a:t>
            </a:r>
          </a:p>
          <a:p>
            <a:r>
              <a:t>• Clients who were even 1 month late in September have dramatically higher default probability</a:t>
            </a:r>
          </a:p>
          <a:p>
            <a:r>
              <a:t>• Payment amounts matter more than bill amounts — whether you paid, not how much you owe</a:t>
            </a:r>
          </a:p>
          <a:p>
            <a:r>
              <a:t>• Demographics (age, sex, education) have near-zero importance</a:t>
            </a:r>
          </a:p>
          <a:p/>
          <a:p>
            <a:r>
              <a:t>LR Coefficients (right chart): PAY_0 also dominates. LIMIT_BAL has a negative coefficient — higher credit limit → lower default risk.</a:t>
            </a:r>
          </a:p>
          <a:p/>
          <a:p>
            <a:r>
              <a:t>ANTICIPATED PROFESSOR QUESTIONS:</a:t>
            </a:r>
          </a:p>
          <a:p>
            <a:r>
              <a:t>Q: Does PAY_0 dominating mean the other features are useless?</a:t>
            </a:r>
          </a:p>
          <a:p>
            <a:r>
              <a:t>A: Not entirely. They contribute to edge cases. But PAY_0 alone at the root split cleanly separates ~75% of cases. This is consistent with behavioral finance: recent payment behavior is the strongest signal of future behavior.</a:t>
            </a:r>
          </a:p>
          <a:p/>
          <a:p>
            <a:r>
              <a:t>Q: Could there be multicollinearity issues with the payment history features?</a:t>
            </a:r>
          </a:p>
          <a:p>
            <a:r>
              <a:t>A: Yes — PAY_0 through PAY_6 are correlated (r≈0.5–0.7). This hurts LR coefficient interpretation but not DT importance, since DT selects the best single split at each node.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10: PCA &amp; Dimensionality Insights</a:t>
            </a:r>
          </a:p>
          <a:p/>
          <a:p>
            <a:r>
              <a:t>PCA was run on standardized training features (23 features).</a:t>
            </a:r>
          </a:p>
          <a:p>
            <a:r>
              <a:t>Results:</a:t>
            </a:r>
          </a:p>
          <a:p>
            <a:r>
              <a:t>• 90% variance → 13 components (vs 23 original)</a:t>
            </a:r>
          </a:p>
          <a:p>
            <a:r>
              <a:t>• 95% variance → 15 components</a:t>
            </a:r>
          </a:p>
          <a:p>
            <a:r>
              <a:t>• 99% variance → 19 components</a:t>
            </a:r>
          </a:p>
          <a:p>
            <a:r>
              <a:t>• Top 5 PCs explain 64.2% of variance</a:t>
            </a:r>
          </a:p>
          <a:p/>
          <a:p>
            <a:r>
              <a:t>2D scatter (fig_07): Classes significantly overlap → confirms linear boundaries are insufficient.</a:t>
            </a:r>
          </a:p>
          <a:p/>
          <a:p>
            <a:r>
              <a:t>What this tells us:</a:t>
            </a:r>
          </a:p>
          <a:p>
            <a:r>
              <a:t>• Dataset has moderate correlations — not strongly reducible like image data</a:t>
            </a:r>
          </a:p>
          <a:p>
            <a:r>
              <a:t>• Non-linear models (DT) have an inherent advantage over LR here</a:t>
            </a:r>
          </a:p>
          <a:p>
            <a:r>
              <a:t>• Dimensionality reduction via PCA would sacrifice meaningful variance without large accuracy gain</a:t>
            </a:r>
          </a:p>
          <a:p/>
          <a:p>
            <a:r>
              <a:t>ANTICIPATED PROFESSOR QUESTIONS:</a:t>
            </a:r>
          </a:p>
          <a:p>
            <a:r>
              <a:t>Q: Did you use PCA as input to your models?</a:t>
            </a:r>
          </a:p>
          <a:p>
            <a:r>
              <a:t>A: No — we used it diagnostically to understand the feature space. For LR and NB, we used all 23 scaled features. Using PCA components as model input would reduce interpretability without meaningful performance gain.</a:t>
            </a:r>
          </a:p>
          <a:p/>
          <a:p>
            <a:r>
              <a:t>Q: What does class overlap in PCA space tell you about model selection?</a:t>
            </a:r>
          </a:p>
          <a:p>
            <a:r>
              <a:t>A: If classes were linearly separable in PCA space, LR would excel. The overlap confirms that decision boundaries are non-linear, which is why Decision Tree outperforms Logistic Regression.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 TECHNICAL LEAD: Spencer Kone</a:t>
            </a:r>
          </a:p>
          <a:p>
            <a:r>
              <a:t>============================================================</a:t>
            </a:r>
          </a:p>
          <a:p/>
          <a:p>
            <a:r>
              <a:t>SPEAKER NOTES – Slide 11: Critical Analysis &amp; Lessons</a:t>
            </a:r>
          </a:p>
          <a:p/>
          <a:p>
            <a:r>
              <a:t>LR Analysis:</a:t>
            </a:r>
          </a:p>
          <a:p>
            <a:r>
              <a:t>• Highest recall (0.6202) — catches most actual defaulters</a:t>
            </a:r>
          </a:p>
          <a:p>
            <a:r>
              <a:t>• But precision only 0.3671 — 63% of its 'default' predictions are wrong</a:t>
            </a:r>
          </a:p>
          <a:p>
            <a:r>
              <a:t>• class_weight='balanced' pushed it toward recall at the cost of precision</a:t>
            </a:r>
          </a:p>
          <a:p/>
          <a:p>
            <a:r>
              <a:t>NB Analysis:</a:t>
            </a:r>
          </a:p>
          <a:p>
            <a:r>
              <a:t>• Moderate AUC (0.7248) despite the independence assumption violation</a:t>
            </a:r>
          </a:p>
          <a:p>
            <a:r>
              <a:t>• PAY_AMT columns have correlations &gt;0.9 — NB treats them as independent, causing overconfident probabilities</a:t>
            </a:r>
          </a:p>
          <a:p/>
          <a:p>
            <a:r>
              <a:t>DT Analysis (Winner):</a:t>
            </a:r>
          </a:p>
          <a:p>
            <a:r>
              <a:t>• Best F1 (0.5173), best AUC (0.7589), best CV stability (±0.0067)</a:t>
            </a:r>
          </a:p>
          <a:p>
            <a:r>
              <a:t>• max_depth=5 prevents overfitting. PAY_0 at root = 74.6% of split importance</a:t>
            </a:r>
          </a:p>
          <a:p/>
          <a:p>
            <a:r>
              <a:t>ANTICIPATED PROFESSOR QUESTIONS:</a:t>
            </a:r>
          </a:p>
          <a:p>
            <a:r>
              <a:t>Q: What would you change if you could redo the project?</a:t>
            </a:r>
          </a:p>
          <a:p>
            <a:r>
              <a:t>A: (1) Use SMOTE earlier for class balancing. (2) Test Random Forest and XGBoost as non-linear ensemble methods. (3) Engineer payment utilization features (PAY_AMT/BILL_AMT ratios). (4) Use Shapley values for model explanation.</a:t>
            </a:r>
          </a:p>
          <a:p/>
          <a:p>
            <a:r>
              <a:t>Q: Is a Decision Tree at depth 5 overfitting?</a:t>
            </a:r>
          </a:p>
          <a:p>
            <a:r>
              <a:t>A: We controlled for this with min_samples_leaf=20 (each leaf needs 20 samples) and min_samples_split=50. Cross-validation confirms: CV AUC = 0.7577 vs test AUC = 0.7589 — minimal gap, no significant overfitting.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Kunapureddy Leela Pavan Kumar</a:t>
            </a:r>
          </a:p>
          <a:p>
            <a:r>
              <a:t>============================================================</a:t>
            </a:r>
          </a:p>
          <a:p/>
          <a:p>
            <a:r>
              <a:t>SPEAKER NOTES – Slide 12: How We Improved the Models</a:t>
            </a:r>
          </a:p>
          <a:p/>
          <a:p>
            <a:r>
              <a:t>Timeline of improvements across milestones:</a:t>
            </a:r>
          </a:p>
          <a:p>
            <a:r>
              <a:t>Mar 24 — GridSearchCV: Tuned C parameter for LR (tested C=0.01,0.1,1,10) and max_depth (3,5,7,10) + min_samples_leaf (10,20,50) for DT. Best params confirmed our initial choices.</a:t>
            </a:r>
          </a:p>
          <a:p>
            <a:r>
              <a:t>Mar 31 — SMOTE: Used imblearn SMOTE to synthesize minority class samples in training set only. Improved recall but required careful validation to avoid synthetic leakage.</a:t>
            </a:r>
          </a:p>
          <a:p>
            <a:r>
              <a:t>Apr 7 — Feature Engineering: Created payment utilization ratios (PAY_AMT1/BILL_AMT1, etc.). Also tested Random Forest, which improved AUC to ~0.77.</a:t>
            </a:r>
          </a:p>
          <a:p>
            <a:r>
              <a:t>Apr 14 — Final Selection: Decision Tree with original features selected as most interpretable + best baseline.</a:t>
            </a:r>
          </a:p>
          <a:p/>
          <a:p>
            <a:r>
              <a:t>ANTICIPATED PROFESSOR QUESTIONS:</a:t>
            </a:r>
          </a:p>
          <a:p>
            <a:r>
              <a:t>Q: Did SMOTE improve or hurt performance?</a:t>
            </a:r>
          </a:p>
          <a:p>
            <a:r>
              <a:t>A: SMOTE improved recall by ~5% but slightly hurt precision. Net effect on F1 was marginal. It must only be applied to training data — applying to test data would be a serious methodological error.</a:t>
            </a:r>
          </a:p>
          <a:p/>
          <a:p>
            <a:r>
              <a:t>Q: What hyperparameters did GridSearchCV find as optimal?</a:t>
            </a:r>
          </a:p>
          <a:p>
            <a:r>
              <a:t>A: For LR: C=1.0 (default). For DT: max_depth=5, min_samples_leaf=20 — confirming our initial setup was well-chosen.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Maddirala Shalem Raju</a:t>
            </a:r>
          </a:p>
          <a:p>
            <a:r>
              <a:t>============================================================</a:t>
            </a:r>
          </a:p>
          <a:p/>
          <a:p>
            <a:r>
              <a:t>SPEAKER NOTES – Slide 13: Conclusions</a:t>
            </a:r>
          </a:p>
          <a:p/>
          <a:p>
            <a:r>
              <a:t>Five key takeaways to deliver confidently:</a:t>
            </a:r>
          </a:p>
          <a:p/>
          <a:p>
            <a:r>
              <a:t>01: Decision Tree is the best model — F1=0.5173, AUC=0.7589, CV stability ±0.007</a:t>
            </a:r>
          </a:p>
          <a:p>
            <a:r>
              <a:t>02: PAY_0 dominates at 74.6% Gini importance — if a client was late last month, they are very likely to default next month</a:t>
            </a:r>
          </a:p>
          <a:p>
            <a:r>
              <a:t>03: Linear models fail on this dataset — PCA confirms non-linear class boundaries; DT handles this naturally</a:t>
            </a:r>
          </a:p>
          <a:p>
            <a:r>
              <a:t>04: Class imbalance (3.5:1) MUST be handled — without balanced weighting, models predict 'no default' for everything</a:t>
            </a:r>
          </a:p>
          <a:p>
            <a:r>
              <a:t>05: Domain context matters — for banks, recall (catching defaulters) &gt; precision (avoiding false alarms)</a:t>
            </a:r>
          </a:p>
          <a:p/>
          <a:p>
            <a:r>
              <a:t>ANTICIPATED PROFESSOR QUESTIONS:</a:t>
            </a:r>
          </a:p>
          <a:p>
            <a:r>
              <a:t>Q: What is the business recommendation from your analysis?</a:t>
            </a:r>
          </a:p>
          <a:p>
            <a:r>
              <a:t>A: Banks should deploy a Decision Tree model prioritizing PAY_0 as the primary screen. Clients with any payment delay in the most recent month should trigger a manual review. This approach balances recall and precision better than a pure threshold rule.</a:t>
            </a:r>
          </a:p>
          <a:p/>
          <a:p>
            <a:r>
              <a:t>Q: What are the ethical implications of this model?</a:t>
            </a:r>
          </a:p>
          <a:p>
            <a:r>
              <a:t>A: The model uses SEX and MARRIAGE as features. Even though they have low importance, using them could constitute discrimination. A production model should test for demographic parity and consider removing or auditing these features under fair lending laws.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a:r>
          </a:p>
          <a:p>
            <a:r>
              <a:t>  PRESENTER: Maddirala Shalem Raju</a:t>
            </a:r>
          </a:p>
          <a:p>
            <a:r>
              <a:t>============================================================</a:t>
            </a:r>
          </a:p>
          <a:p/>
          <a:p>
            <a:r>
              <a:t>SPEAKER NOTES – Slide 14: Thank You</a:t>
            </a:r>
          </a:p>
          <a:p/>
          <a:p>
            <a:r>
              <a:t>Close with: 'We welcome any questions on our methodology, results, or next steps.'</a:t>
            </a:r>
          </a:p>
          <a:p/>
          <a:p>
            <a:r>
              <a:t>Be prepared to pull up:</a:t>
            </a:r>
          </a:p>
          <a:p>
            <a:r>
              <a:t>• fig_08_model_comparison_roc.png for ROC curve questions</a:t>
            </a:r>
          </a:p>
          <a:p>
            <a:r>
              <a:t>• fig_09_feature_importance.png for feature questions</a:t>
            </a:r>
          </a:p>
          <a:p>
            <a:r>
              <a:t>• The full metric table from Slide 7 for any specific number questions</a:t>
            </a:r>
          </a:p>
          <a:p/>
          <a:p>
            <a:r>
              <a:t>FINAL ANTICIPATED QUESTIONS:</a:t>
            </a:r>
          </a:p>
          <a:p>
            <a:r>
              <a:t>Q: If you had more time, what would you do next?</a:t>
            </a:r>
          </a:p>
          <a:p>
            <a:r>
              <a:t>A: (1) XGBoost / Random Forest ensemble. (2) SHAP values for explainability. (3) Threshold optimization for the bank's specific cost ratio of false negatives to false positives. (4) Time-series features using rolling payment history.</a:t>
            </a:r>
          </a:p>
          <a:p/>
          <a:p>
            <a:r>
              <a:t>Q: How confident are you that this model would work in production?</a:t>
            </a:r>
          </a:p>
          <a:p>
            <a:r>
              <a:t>A: The CV AUC of 0.7577 ± 0.0067 shows consistent generalization. However, production deployment requires: drift monitoring, periodic retraining, fairness audits, and A/B testing against existing bank rules.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sp>
      <p:sp>
        <p:nvSpPr>
          <p:cNvPr id="3" name="Shape 1"/>
          <p:cNvSpPr/>
          <p:nvPr/>
        </p:nvSpPr>
        <p:spPr>
          <a:xfrm>
            <a:off x="5943600" y="274320"/>
            <a:ext cx="3657600" cy="3657600"/>
          </a:xfrm>
          <a:prstGeom prst="ellipse">
            <a:avLst/>
          </a:prstGeom>
          <a:solidFill>
            <a:srgbClr val="1A3A5C"/>
          </a:solidFill>
          <a:ln w="12700">
            <a:solidFill>
              <a:srgbClr val="1F4A7A"/>
            </a:solidFill>
            <a:prstDash val="solid"/>
          </a:ln>
        </p:spPr>
      </p:sp>
      <p:sp>
        <p:nvSpPr>
          <p:cNvPr id="4" name="Shape 2"/>
          <p:cNvSpPr/>
          <p:nvPr/>
        </p:nvSpPr>
        <p:spPr>
          <a:xfrm>
            <a:off x="6583680" y="822960"/>
            <a:ext cx="2377440" cy="2377440"/>
          </a:xfrm>
          <a:prstGeom prst="ellipse">
            <a:avLst/>
          </a:prstGeom>
          <a:solidFill>
            <a:srgbClr val="234870"/>
          </a:solidFill>
          <a:ln w="12700">
            <a:solidFill>
              <a:srgbClr val="00B8D4"/>
            </a:solidFill>
            <a:prstDash val="solid"/>
          </a:ln>
        </p:spPr>
      </p:sp>
      <p:sp>
        <p:nvSpPr>
          <p:cNvPr id="5" name="Text 3"/>
          <p:cNvSpPr/>
          <p:nvPr/>
        </p:nvSpPr>
        <p:spPr>
          <a:xfrm>
            <a:off x="457200" y="548640"/>
            <a:ext cx="5669280" cy="640080"/>
          </a:xfrm>
          <a:prstGeom prst="rect">
            <a:avLst/>
          </a:prstGeom>
          <a:noFill/>
          <a:ln/>
        </p:spPr>
        <p:txBody>
          <a:bodyPr wrap="square" rtlCol="0" anchor="ctr"/>
          <a:lstStyle/>
          <a:p>
            <a:pPr marL="0" indent="0">
              <a:buNone/>
            </a:pPr>
            <a:r>
              <a:rPr lang="en-US" sz="1300" b="1" kern="0" spc="600">
                <a:solidFill>
                  <a:srgbClr val="00B8D4"/>
                </a:solidFill>
                <a:latin typeface="Calibri" pitchFamily="34" charset="0"/>
                <a:ea typeface="Calibri" pitchFamily="34" charset="-122"/>
                <a:cs typeface="Calibri" pitchFamily="34" charset="-120"/>
              </a:rPr>
              <a:t>PREDICTING</a:t>
            </a:r>
            <a:endParaRPr lang="en-US" sz="1300"/>
          </a:p>
        </p:txBody>
      </p:sp>
      <p:sp>
        <p:nvSpPr>
          <p:cNvPr id="6" name="Text 4"/>
          <p:cNvSpPr/>
          <p:nvPr/>
        </p:nvSpPr>
        <p:spPr>
          <a:xfrm>
            <a:off x="457200" y="1005840"/>
            <a:ext cx="5669280" cy="1371600"/>
          </a:xfrm>
          <a:prstGeom prst="rect">
            <a:avLst/>
          </a:prstGeom>
          <a:noFill/>
          <a:ln/>
        </p:spPr>
        <p:txBody>
          <a:bodyPr wrap="square" lIns="0" tIns="0" rIns="0" bIns="0" rtlCol="0" anchor="ctr"/>
          <a:lstStyle/>
          <a:p>
            <a:pPr marL="0" indent="0">
              <a:buNone/>
            </a:pPr>
            <a:r>
              <a:rPr lang="en-US" sz="4000" b="1">
                <a:solidFill>
                  <a:srgbClr val="FFFFFF"/>
                </a:solidFill>
                <a:latin typeface="Calibri" pitchFamily="34" charset="0"/>
                <a:ea typeface="Calibri" pitchFamily="34" charset="-122"/>
                <a:cs typeface="Calibri" pitchFamily="34" charset="-120"/>
              </a:rPr>
              <a:t>Credit Card Defaults</a:t>
            </a:r>
            <a:endParaRPr lang="en-US" sz="4000"/>
          </a:p>
        </p:txBody>
      </p:sp>
      <p:sp>
        <p:nvSpPr>
          <p:cNvPr id="7" name="Text 5"/>
          <p:cNvSpPr/>
          <p:nvPr/>
        </p:nvSpPr>
        <p:spPr>
          <a:xfrm>
            <a:off x="457200" y="2286000"/>
            <a:ext cx="5669280" cy="548640"/>
          </a:xfrm>
          <a:prstGeom prst="rect">
            <a:avLst/>
          </a:prstGeom>
          <a:noFill/>
          <a:ln/>
        </p:spPr>
        <p:txBody>
          <a:bodyPr wrap="square" rtlCol="0" anchor="ctr"/>
          <a:lstStyle/>
          <a:p>
            <a:pPr marL="0" indent="0">
              <a:buNone/>
            </a:pPr>
            <a:r>
              <a:rPr lang="en-US" sz="1800">
                <a:solidFill>
                  <a:srgbClr val="4FC3F7"/>
                </a:solidFill>
                <a:latin typeface="Calibri" pitchFamily="34" charset="0"/>
                <a:ea typeface="Calibri" pitchFamily="34" charset="-122"/>
                <a:cs typeface="Calibri" pitchFamily="34" charset="-120"/>
              </a:rPr>
              <a:t>Using Machine Learning Techniques</a:t>
            </a:r>
            <a:endParaRPr lang="en-US" sz="1800"/>
          </a:p>
        </p:txBody>
      </p:sp>
      <p:sp>
        <p:nvSpPr>
          <p:cNvPr id="8" name="Shape 6"/>
          <p:cNvSpPr/>
          <p:nvPr/>
        </p:nvSpPr>
        <p:spPr>
          <a:xfrm>
            <a:off x="457200" y="2926080"/>
            <a:ext cx="2286000" cy="36576"/>
          </a:xfrm>
          <a:prstGeom prst="rect">
            <a:avLst/>
          </a:prstGeom>
          <a:solidFill>
            <a:srgbClr val="00B8D4"/>
          </a:solidFill>
          <a:ln w="12700">
            <a:solidFill>
              <a:srgbClr val="00B8D4"/>
            </a:solidFill>
            <a:prstDash val="solid"/>
          </a:ln>
        </p:spPr>
      </p:sp>
      <p:sp>
        <p:nvSpPr>
          <p:cNvPr id="9" name="Text 7"/>
          <p:cNvSpPr/>
          <p:nvPr/>
        </p:nvSpPr>
        <p:spPr>
          <a:xfrm>
            <a:off x="457200" y="3063240"/>
            <a:ext cx="6400800" cy="32004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BFOR 516 – Advanced Data Analytics for Cybersecurity  |  Spring 2026</a:t>
            </a:r>
            <a:endParaRPr lang="en-US" sz="1100"/>
          </a:p>
        </p:txBody>
      </p:sp>
      <p:sp>
        <p:nvSpPr>
          <p:cNvPr id="10" name="Shape 8"/>
          <p:cNvSpPr/>
          <p:nvPr/>
        </p:nvSpPr>
        <p:spPr>
          <a:xfrm>
            <a:off x="457200" y="3520440"/>
            <a:ext cx="45720" cy="256032"/>
          </a:xfrm>
          <a:prstGeom prst="rect">
            <a:avLst/>
          </a:prstGeom>
          <a:solidFill>
            <a:srgbClr val="00B8D4"/>
          </a:solidFill>
          <a:ln w="12700">
            <a:solidFill>
              <a:srgbClr val="00B8D4"/>
            </a:solidFill>
            <a:prstDash val="solid"/>
          </a:ln>
        </p:spPr>
      </p:sp>
      <p:sp>
        <p:nvSpPr>
          <p:cNvPr id="11" name="Text 9"/>
          <p:cNvSpPr/>
          <p:nvPr/>
        </p:nvSpPr>
        <p:spPr>
          <a:xfrm>
            <a:off x="658368" y="3520440"/>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Spencer Kone</a:t>
            </a:r>
            <a:endParaRPr lang="en-US" sz="1200"/>
          </a:p>
        </p:txBody>
      </p:sp>
      <p:sp>
        <p:nvSpPr>
          <p:cNvPr id="12" name="Shape 10"/>
          <p:cNvSpPr/>
          <p:nvPr/>
        </p:nvSpPr>
        <p:spPr>
          <a:xfrm>
            <a:off x="457200" y="3867912"/>
            <a:ext cx="45720" cy="256032"/>
          </a:xfrm>
          <a:prstGeom prst="rect">
            <a:avLst/>
          </a:prstGeom>
          <a:solidFill>
            <a:srgbClr val="00B8D4"/>
          </a:solidFill>
          <a:ln w="12700">
            <a:solidFill>
              <a:srgbClr val="00B8D4"/>
            </a:solidFill>
            <a:prstDash val="solid"/>
          </a:ln>
        </p:spPr>
      </p:sp>
      <p:sp>
        <p:nvSpPr>
          <p:cNvPr id="13" name="Text 11"/>
          <p:cNvSpPr/>
          <p:nvPr/>
        </p:nvSpPr>
        <p:spPr>
          <a:xfrm>
            <a:off x="658368" y="3867912"/>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Muhammad H. Bahar</a:t>
            </a:r>
            <a:endParaRPr lang="en-US" sz="1200"/>
          </a:p>
        </p:txBody>
      </p:sp>
      <p:sp>
        <p:nvSpPr>
          <p:cNvPr id="14" name="Shape 12"/>
          <p:cNvSpPr/>
          <p:nvPr/>
        </p:nvSpPr>
        <p:spPr>
          <a:xfrm>
            <a:off x="457200" y="4215384"/>
            <a:ext cx="45720" cy="256032"/>
          </a:xfrm>
          <a:prstGeom prst="rect">
            <a:avLst/>
          </a:prstGeom>
          <a:solidFill>
            <a:srgbClr val="00B8D4"/>
          </a:solidFill>
          <a:ln w="12700">
            <a:solidFill>
              <a:srgbClr val="00B8D4"/>
            </a:solidFill>
            <a:prstDash val="solid"/>
          </a:ln>
        </p:spPr>
      </p:sp>
      <p:sp>
        <p:nvSpPr>
          <p:cNvPr id="15" name="Text 13"/>
          <p:cNvSpPr/>
          <p:nvPr/>
        </p:nvSpPr>
        <p:spPr>
          <a:xfrm>
            <a:off x="658368" y="4215384"/>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Kunapureddy Leela Pavan Kumar</a:t>
            </a:r>
            <a:endParaRPr lang="en-US" sz="1200"/>
          </a:p>
        </p:txBody>
      </p:sp>
      <p:sp>
        <p:nvSpPr>
          <p:cNvPr id="16" name="Shape 14"/>
          <p:cNvSpPr/>
          <p:nvPr/>
        </p:nvSpPr>
        <p:spPr>
          <a:xfrm>
            <a:off x="457200" y="4562856"/>
            <a:ext cx="45720" cy="256032"/>
          </a:xfrm>
          <a:prstGeom prst="rect">
            <a:avLst/>
          </a:prstGeom>
          <a:solidFill>
            <a:srgbClr val="00B8D4"/>
          </a:solidFill>
          <a:ln w="12700">
            <a:solidFill>
              <a:srgbClr val="00B8D4"/>
            </a:solidFill>
            <a:prstDash val="solid"/>
          </a:ln>
        </p:spPr>
      </p:sp>
      <p:sp>
        <p:nvSpPr>
          <p:cNvPr id="17" name="Text 15"/>
          <p:cNvSpPr/>
          <p:nvPr/>
        </p:nvSpPr>
        <p:spPr>
          <a:xfrm>
            <a:off x="658368" y="4562856"/>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Maddirala Shalem Raju</a:t>
            </a:r>
            <a:endParaRPr lang="en-US" sz="1200"/>
          </a:p>
        </p:txBody>
      </p:sp>
      <p:sp>
        <p:nvSpPr>
          <p:cNvPr id="18" name="Text 16"/>
          <p:cNvSpPr/>
          <p:nvPr/>
        </p:nvSpPr>
        <p:spPr>
          <a:xfrm>
            <a:off x="457200" y="4846320"/>
            <a:ext cx="5486400" cy="228600"/>
          </a:xfrm>
          <a:prstGeom prst="rect">
            <a:avLst/>
          </a:prstGeom>
          <a:noFill/>
          <a:ln/>
        </p:spPr>
        <p:txBody>
          <a:bodyPr wrap="square" rtlCol="0" anchor="ctr"/>
          <a:lstStyle/>
          <a:p>
            <a:pPr marL="0" indent="0">
              <a:buNone/>
            </a:pPr>
            <a:r>
              <a:rPr lang="en-US" sz="1000">
                <a:solidFill>
                  <a:srgbClr val="546E7A"/>
                </a:solidFill>
                <a:latin typeface="Calibri" pitchFamily="34" charset="0"/>
                <a:ea typeface="Calibri" pitchFamily="34" charset="-122"/>
                <a:cs typeface="Calibri" pitchFamily="34" charset="-120"/>
              </a:rPr>
              <a:t>Faculty: Dr. Srishti Gupta  |  Group 3</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0"/>
            <a:ext cx="6400800" cy="822960"/>
          </a:xfrm>
          <a:prstGeom prst="rect">
            <a:avLst/>
          </a:prstGeom>
          <a:noFill/>
          <a:ln/>
        </p:spPr>
        <p:txBody>
          <a:bodyPr wrap="square" rtlCol="0" anchor="ctr"/>
          <a:lstStyle/>
          <a:p>
            <a:pPr marL="0" indent="0">
              <a:buNone/>
            </a:pPr>
            <a:r>
              <a:rPr lang="en-US" sz="1100" b="1" kern="0" spc="500">
                <a:solidFill>
                  <a:srgbClr val="00B8D4"/>
                </a:solidFill>
                <a:latin typeface="Calibri" pitchFamily="34" charset="0"/>
                <a:ea typeface="Calibri" pitchFamily="34" charset="-122"/>
                <a:cs typeface="Calibri" pitchFamily="34" charset="-120"/>
              </a:rPr>
              <a:t>WHY THIS MATTERS</a:t>
            </a:r>
            <a:endParaRPr lang="en-US" sz="1100"/>
          </a:p>
        </p:txBody>
      </p:sp>
      <p:sp>
        <p:nvSpPr>
          <p:cNvPr id="4" name="Text 2"/>
          <p:cNvSpPr/>
          <p:nvPr/>
        </p:nvSpPr>
        <p:spPr>
          <a:xfrm>
            <a:off x="457200" y="0"/>
            <a:ext cx="6400800" cy="822960"/>
          </a:xfrm>
          <a:prstGeom prst="rect">
            <a:avLst/>
          </a:prstGeom>
          <a:noFill/>
          <a:ln/>
        </p:spPr>
        <p:txBody>
          <a:bodyPr wrap="square" rtlCol="0" anchor="ctr"/>
          <a:lstStyle/>
          <a:p>
            <a:pPr marL="0" indent="0" algn="r">
              <a:buNone/>
            </a:pPr>
            <a:r>
              <a:rPr lang="en-US" sz="2800" b="1">
                <a:solidFill>
                  <a:srgbClr val="FFFFFF"/>
                </a:solidFill>
                <a:latin typeface="Calibri" pitchFamily="34" charset="0"/>
                <a:ea typeface="Calibri" pitchFamily="34" charset="-122"/>
                <a:cs typeface="Calibri" pitchFamily="34" charset="-120"/>
              </a:rPr>
              <a:t>The Problem &amp; Stakes</a:t>
            </a:r>
            <a:endParaRPr lang="en-US" sz="2800"/>
          </a:p>
        </p:txBody>
      </p:sp>
      <p:sp>
        <p:nvSpPr>
          <p:cNvPr id="5" name="Shape 3"/>
          <p:cNvSpPr/>
          <p:nvPr/>
        </p:nvSpPr>
        <p:spPr>
          <a:xfrm>
            <a:off x="36576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6" name="Shape 4"/>
          <p:cNvSpPr/>
          <p:nvPr/>
        </p:nvSpPr>
        <p:spPr>
          <a:xfrm>
            <a:off x="365760" y="1005840"/>
            <a:ext cx="73152" cy="1645920"/>
          </a:xfrm>
          <a:prstGeom prst="rect">
            <a:avLst/>
          </a:prstGeom>
          <a:solidFill>
            <a:srgbClr val="00B8D4"/>
          </a:solidFill>
          <a:ln w="12700">
            <a:solidFill>
              <a:srgbClr val="00B8D4"/>
            </a:solidFill>
            <a:prstDash val="solid"/>
          </a:ln>
        </p:spPr>
      </p:sp>
      <p:sp>
        <p:nvSpPr>
          <p:cNvPr id="7" name="Text 5"/>
          <p:cNvSpPr/>
          <p:nvPr/>
        </p:nvSpPr>
        <p:spPr>
          <a:xfrm>
            <a:off x="54864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Financial Risk</a:t>
            </a:r>
            <a:endParaRPr lang="en-US" sz="1400"/>
          </a:p>
        </p:txBody>
      </p:sp>
      <p:sp>
        <p:nvSpPr>
          <p:cNvPr id="8" name="Text 6"/>
          <p:cNvSpPr/>
          <p:nvPr/>
        </p:nvSpPr>
        <p:spPr>
          <a:xfrm>
            <a:off x="54864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Credit defaults cost banks billions annually — predicting them early prevents major losses</a:t>
            </a:r>
            <a:endParaRPr lang="en-US" sz="1200"/>
          </a:p>
        </p:txBody>
      </p:sp>
      <p:sp>
        <p:nvSpPr>
          <p:cNvPr id="9" name="Shape 7"/>
          <p:cNvSpPr/>
          <p:nvPr/>
        </p:nvSpPr>
        <p:spPr>
          <a:xfrm>
            <a:off x="475488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0" name="Shape 8"/>
          <p:cNvSpPr/>
          <p:nvPr/>
        </p:nvSpPr>
        <p:spPr>
          <a:xfrm>
            <a:off x="4754880" y="1005840"/>
            <a:ext cx="73152" cy="1645920"/>
          </a:xfrm>
          <a:prstGeom prst="rect">
            <a:avLst/>
          </a:prstGeom>
          <a:solidFill>
            <a:srgbClr val="00B8D4"/>
          </a:solidFill>
          <a:ln w="12700">
            <a:solidFill>
              <a:srgbClr val="00B8D4"/>
            </a:solidFill>
            <a:prstDash val="solid"/>
          </a:ln>
        </p:spPr>
      </p:sp>
      <p:sp>
        <p:nvSpPr>
          <p:cNvPr id="11" name="Text 9"/>
          <p:cNvSpPr/>
          <p:nvPr/>
        </p:nvSpPr>
        <p:spPr>
          <a:xfrm>
            <a:off x="493776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Class Imbalance</a:t>
            </a:r>
            <a:endParaRPr lang="en-US" sz="1400"/>
          </a:p>
        </p:txBody>
      </p:sp>
      <p:sp>
        <p:nvSpPr>
          <p:cNvPr id="12" name="Text 10"/>
          <p:cNvSpPr/>
          <p:nvPr/>
        </p:nvSpPr>
        <p:spPr>
          <a:xfrm>
            <a:off x="493776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Only 22% of clients default, making prediction harder — the model must detect the minority</a:t>
            </a:r>
            <a:endParaRPr lang="en-US" sz="1200"/>
          </a:p>
        </p:txBody>
      </p:sp>
      <p:sp>
        <p:nvSpPr>
          <p:cNvPr id="13" name="Shape 11"/>
          <p:cNvSpPr/>
          <p:nvPr/>
        </p:nvSpPr>
        <p:spPr>
          <a:xfrm>
            <a:off x="36576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4" name="Shape 12"/>
          <p:cNvSpPr/>
          <p:nvPr/>
        </p:nvSpPr>
        <p:spPr>
          <a:xfrm>
            <a:off x="365760" y="2880360"/>
            <a:ext cx="73152" cy="1645920"/>
          </a:xfrm>
          <a:prstGeom prst="rect">
            <a:avLst/>
          </a:prstGeom>
          <a:solidFill>
            <a:srgbClr val="00B8D4"/>
          </a:solidFill>
          <a:ln w="12700">
            <a:solidFill>
              <a:srgbClr val="00B8D4"/>
            </a:solidFill>
            <a:prstDash val="solid"/>
          </a:ln>
        </p:spPr>
      </p:sp>
      <p:sp>
        <p:nvSpPr>
          <p:cNvPr id="15" name="Text 13"/>
          <p:cNvSpPr/>
          <p:nvPr/>
        </p:nvSpPr>
        <p:spPr>
          <a:xfrm>
            <a:off x="54864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Real-World Dataset</a:t>
            </a:r>
            <a:endParaRPr lang="en-US" sz="1400"/>
          </a:p>
        </p:txBody>
      </p:sp>
      <p:sp>
        <p:nvSpPr>
          <p:cNvPr id="16" name="Text 14"/>
          <p:cNvSpPr/>
          <p:nvPr/>
        </p:nvSpPr>
        <p:spPr>
          <a:xfrm>
            <a:off x="54864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30,000 Taiwan credit card clients from UCI ML Repository — real behavior, real stakes</a:t>
            </a:r>
            <a:endParaRPr lang="en-US" sz="1200"/>
          </a:p>
        </p:txBody>
      </p:sp>
      <p:sp>
        <p:nvSpPr>
          <p:cNvPr id="17" name="Shape 15"/>
          <p:cNvSpPr/>
          <p:nvPr/>
        </p:nvSpPr>
        <p:spPr>
          <a:xfrm>
            <a:off x="475488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8" name="Shape 16"/>
          <p:cNvSpPr/>
          <p:nvPr/>
        </p:nvSpPr>
        <p:spPr>
          <a:xfrm>
            <a:off x="4754880" y="2880360"/>
            <a:ext cx="73152" cy="1645920"/>
          </a:xfrm>
          <a:prstGeom prst="rect">
            <a:avLst/>
          </a:prstGeom>
          <a:solidFill>
            <a:srgbClr val="00B8D4"/>
          </a:solidFill>
          <a:ln w="12700">
            <a:solidFill>
              <a:srgbClr val="00B8D4"/>
            </a:solidFill>
            <a:prstDash val="solid"/>
          </a:ln>
        </p:spPr>
      </p:sp>
      <p:sp>
        <p:nvSpPr>
          <p:cNvPr id="19" name="Text 17"/>
          <p:cNvSpPr/>
          <p:nvPr/>
        </p:nvSpPr>
        <p:spPr>
          <a:xfrm>
            <a:off x="493776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Multiple Metrics</a:t>
            </a:r>
            <a:endParaRPr lang="en-US" sz="1400"/>
          </a:p>
        </p:txBody>
      </p:sp>
      <p:sp>
        <p:nvSpPr>
          <p:cNvPr id="20" name="Text 18"/>
          <p:cNvSpPr/>
          <p:nvPr/>
        </p:nvSpPr>
        <p:spPr>
          <a:xfrm>
            <a:off x="493776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Accuracy alone is misleading — recall matters most since missing a defaulter is costlier</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Dataset at a Glance</a:t>
            </a:r>
            <a:endParaRPr lang="en-US" sz="3000"/>
          </a:p>
        </p:txBody>
      </p:sp>
      <p:sp>
        <p:nvSpPr>
          <p:cNvPr id="3" name="Text 1"/>
          <p:cNvSpPr/>
          <p:nvPr/>
        </p:nvSpPr>
        <p:spPr>
          <a:xfrm>
            <a:off x="457200" y="822960"/>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Default of Credit Card Clients  |  UCI Machine Learning Repository  |  Yeh &amp; Lien (2009)</a:t>
            </a:r>
            <a:endParaRPr lang="en-US" sz="1100"/>
          </a:p>
        </p:txBody>
      </p:sp>
      <p:sp>
        <p:nvSpPr>
          <p:cNvPr id="4" name="Shape 2"/>
          <p:cNvSpPr/>
          <p:nvPr/>
        </p:nvSpPr>
        <p:spPr>
          <a:xfrm>
            <a:off x="457200" y="1097280"/>
            <a:ext cx="8229600" cy="27432"/>
          </a:xfrm>
          <a:prstGeom prst="rect">
            <a:avLst/>
          </a:prstGeom>
          <a:solidFill>
            <a:srgbClr val="00B8D4"/>
          </a:solidFill>
          <a:ln w="12700">
            <a:solidFill>
              <a:srgbClr val="00B8D4"/>
            </a:solidFill>
            <a:prstDash val="solid"/>
          </a:ln>
        </p:spPr>
        <p:txBody>
          <a:bodyPr/>
          <a:p/>
        </p:txBody>
      </p:sp>
      <p:sp>
        <p:nvSpPr>
          <p:cNvPr id="5" name="Shape 3"/>
          <p:cNvSpPr/>
          <p:nvPr/>
        </p:nvSpPr>
        <p:spPr>
          <a:xfrm>
            <a:off x="32004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6" name="Shape 4"/>
          <p:cNvSpPr/>
          <p:nvPr/>
        </p:nvSpPr>
        <p:spPr>
          <a:xfrm>
            <a:off x="320040" y="1325880"/>
            <a:ext cx="2560320" cy="45720"/>
          </a:xfrm>
          <a:prstGeom prst="rect">
            <a:avLst/>
          </a:prstGeom>
          <a:solidFill>
            <a:srgbClr val="00B8D4"/>
          </a:solidFill>
          <a:ln w="12700">
            <a:solidFill>
              <a:srgbClr val="00B8D4"/>
            </a:solidFill>
            <a:prstDash val="solid"/>
          </a:ln>
        </p:spPr>
        <p:txBody>
          <a:bodyPr/>
          <a:p/>
        </p:txBody>
      </p:sp>
      <p:sp>
        <p:nvSpPr>
          <p:cNvPr id="7" name="Text 5"/>
          <p:cNvSpPr/>
          <p:nvPr/>
        </p:nvSpPr>
        <p:spPr>
          <a:xfrm>
            <a:off x="32004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30,000</a:t>
            </a:r>
            <a:endParaRPr lang="en-US" sz="3400"/>
          </a:p>
        </p:txBody>
      </p:sp>
      <p:sp>
        <p:nvSpPr>
          <p:cNvPr id="8" name="Text 6"/>
          <p:cNvSpPr/>
          <p:nvPr/>
        </p:nvSpPr>
        <p:spPr>
          <a:xfrm>
            <a:off x="32004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Client Records</a:t>
            </a:r>
            <a:endParaRPr lang="en-US" sz="1200"/>
          </a:p>
        </p:txBody>
      </p:sp>
      <p:sp>
        <p:nvSpPr>
          <p:cNvPr id="9" name="Shape 7"/>
          <p:cNvSpPr/>
          <p:nvPr/>
        </p:nvSpPr>
        <p:spPr>
          <a:xfrm>
            <a:off x="315468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0" name="Shape 8"/>
          <p:cNvSpPr/>
          <p:nvPr/>
        </p:nvSpPr>
        <p:spPr>
          <a:xfrm>
            <a:off x="3154680" y="1325880"/>
            <a:ext cx="2560320" cy="45720"/>
          </a:xfrm>
          <a:prstGeom prst="rect">
            <a:avLst/>
          </a:prstGeom>
          <a:solidFill>
            <a:srgbClr val="00B8D4"/>
          </a:solidFill>
          <a:ln w="12700">
            <a:solidFill>
              <a:srgbClr val="00B8D4"/>
            </a:solidFill>
            <a:prstDash val="solid"/>
          </a:ln>
        </p:spPr>
        <p:txBody>
          <a:bodyPr/>
          <a:p/>
        </p:txBody>
      </p:sp>
      <p:sp>
        <p:nvSpPr>
          <p:cNvPr id="11" name="Text 9"/>
          <p:cNvSpPr/>
          <p:nvPr/>
        </p:nvSpPr>
        <p:spPr>
          <a:xfrm>
            <a:off x="315468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23</a:t>
            </a:r>
            <a:endParaRPr lang="en-US" sz="3400"/>
          </a:p>
        </p:txBody>
      </p:sp>
      <p:sp>
        <p:nvSpPr>
          <p:cNvPr id="12" name="Text 10"/>
          <p:cNvSpPr/>
          <p:nvPr/>
        </p:nvSpPr>
        <p:spPr>
          <a:xfrm>
            <a:off x="315468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Features</a:t>
            </a:r>
            <a:endParaRPr lang="en-US" sz="1200"/>
          </a:p>
        </p:txBody>
      </p:sp>
      <p:sp>
        <p:nvSpPr>
          <p:cNvPr id="13" name="Shape 11"/>
          <p:cNvSpPr/>
          <p:nvPr/>
        </p:nvSpPr>
        <p:spPr>
          <a:xfrm>
            <a:off x="598932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4" name="Shape 12"/>
          <p:cNvSpPr/>
          <p:nvPr/>
        </p:nvSpPr>
        <p:spPr>
          <a:xfrm>
            <a:off x="5989320" y="1325880"/>
            <a:ext cx="2560320" cy="45720"/>
          </a:xfrm>
          <a:prstGeom prst="rect">
            <a:avLst/>
          </a:prstGeom>
          <a:solidFill>
            <a:srgbClr val="00B8D4"/>
          </a:solidFill>
          <a:ln w="12700">
            <a:solidFill>
              <a:srgbClr val="00B8D4"/>
            </a:solidFill>
            <a:prstDash val="solid"/>
          </a:ln>
        </p:spPr>
        <p:txBody>
          <a:bodyPr/>
          <a:p/>
        </p:txBody>
      </p:sp>
      <p:sp>
        <p:nvSpPr>
          <p:cNvPr id="15" name="Text 13"/>
          <p:cNvSpPr/>
          <p:nvPr/>
        </p:nvSpPr>
        <p:spPr>
          <a:xfrm>
            <a:off x="598932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22.12%</a:t>
            </a:r>
            <a:endParaRPr lang="en-US" sz="3400"/>
          </a:p>
        </p:txBody>
      </p:sp>
      <p:sp>
        <p:nvSpPr>
          <p:cNvPr id="16" name="Text 14"/>
          <p:cNvSpPr/>
          <p:nvPr/>
        </p:nvSpPr>
        <p:spPr>
          <a:xfrm>
            <a:off x="598932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Default Rate</a:t>
            </a:r>
            <a:endParaRPr lang="en-US" sz="1200"/>
          </a:p>
        </p:txBody>
      </p:sp>
      <p:sp>
        <p:nvSpPr>
          <p:cNvPr id="17" name="Shape 15"/>
          <p:cNvSpPr/>
          <p:nvPr/>
        </p:nvSpPr>
        <p:spPr>
          <a:xfrm>
            <a:off x="32004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8" name="Shape 16"/>
          <p:cNvSpPr/>
          <p:nvPr/>
        </p:nvSpPr>
        <p:spPr>
          <a:xfrm>
            <a:off x="320040" y="3063240"/>
            <a:ext cx="2560320" cy="45720"/>
          </a:xfrm>
          <a:prstGeom prst="rect">
            <a:avLst/>
          </a:prstGeom>
          <a:solidFill>
            <a:srgbClr val="00B8D4"/>
          </a:solidFill>
          <a:ln w="12700">
            <a:solidFill>
              <a:srgbClr val="00B8D4"/>
            </a:solidFill>
            <a:prstDash val="solid"/>
          </a:ln>
        </p:spPr>
        <p:txBody>
          <a:bodyPr/>
          <a:p/>
        </p:txBody>
      </p:sp>
      <p:sp>
        <p:nvSpPr>
          <p:cNvPr id="19" name="Text 17"/>
          <p:cNvSpPr/>
          <p:nvPr/>
        </p:nvSpPr>
        <p:spPr>
          <a:xfrm>
            <a:off x="32004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3.5:1</a:t>
            </a:r>
            <a:endParaRPr lang="en-US" sz="3400"/>
          </a:p>
        </p:txBody>
      </p:sp>
      <p:sp>
        <p:nvSpPr>
          <p:cNvPr id="20" name="Text 18"/>
          <p:cNvSpPr/>
          <p:nvPr/>
        </p:nvSpPr>
        <p:spPr>
          <a:xfrm>
            <a:off x="32004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Class Imbalance</a:t>
            </a:r>
            <a:endParaRPr lang="en-US" sz="1200"/>
          </a:p>
        </p:txBody>
      </p:sp>
      <p:sp>
        <p:nvSpPr>
          <p:cNvPr id="21" name="Shape 19"/>
          <p:cNvSpPr/>
          <p:nvPr/>
        </p:nvSpPr>
        <p:spPr>
          <a:xfrm>
            <a:off x="315468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22" name="Shape 20"/>
          <p:cNvSpPr/>
          <p:nvPr/>
        </p:nvSpPr>
        <p:spPr>
          <a:xfrm>
            <a:off x="3154680" y="3063240"/>
            <a:ext cx="2560320" cy="45720"/>
          </a:xfrm>
          <a:prstGeom prst="rect">
            <a:avLst/>
          </a:prstGeom>
          <a:solidFill>
            <a:srgbClr val="00B8D4"/>
          </a:solidFill>
          <a:ln w="12700">
            <a:solidFill>
              <a:srgbClr val="00B8D4"/>
            </a:solidFill>
            <a:prstDash val="solid"/>
          </a:ln>
        </p:spPr>
        <p:txBody>
          <a:bodyPr/>
          <a:p/>
        </p:txBody>
      </p:sp>
      <p:sp>
        <p:nvSpPr>
          <p:cNvPr id="23" name="Text 21"/>
          <p:cNvSpPr/>
          <p:nvPr/>
        </p:nvSpPr>
        <p:spPr>
          <a:xfrm>
            <a:off x="315468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NT$167K</a:t>
            </a:r>
            <a:endParaRPr lang="en-US" sz="3400"/>
          </a:p>
        </p:txBody>
      </p:sp>
      <p:sp>
        <p:nvSpPr>
          <p:cNvPr id="24" name="Text 22"/>
          <p:cNvSpPr/>
          <p:nvPr/>
        </p:nvSpPr>
        <p:spPr>
          <a:xfrm>
            <a:off x="315468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Avg Credit Limit</a:t>
            </a:r>
            <a:endParaRPr lang="en-US" sz="1200"/>
          </a:p>
        </p:txBody>
      </p:sp>
      <p:sp>
        <p:nvSpPr>
          <p:cNvPr id="25" name="Shape 23"/>
          <p:cNvSpPr/>
          <p:nvPr/>
        </p:nvSpPr>
        <p:spPr>
          <a:xfrm>
            <a:off x="598932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26" name="Shape 24"/>
          <p:cNvSpPr/>
          <p:nvPr/>
        </p:nvSpPr>
        <p:spPr>
          <a:xfrm>
            <a:off x="5989320" y="3063240"/>
            <a:ext cx="2560320" cy="45720"/>
          </a:xfrm>
          <a:prstGeom prst="rect">
            <a:avLst/>
          </a:prstGeom>
          <a:solidFill>
            <a:srgbClr val="00B8D4"/>
          </a:solidFill>
          <a:ln w="12700">
            <a:solidFill>
              <a:srgbClr val="00B8D4"/>
            </a:solidFill>
            <a:prstDash val="solid"/>
          </a:ln>
        </p:spPr>
        <p:txBody>
          <a:bodyPr/>
          <a:p/>
        </p:txBody>
      </p:sp>
      <p:sp>
        <p:nvSpPr>
          <p:cNvPr id="27" name="Text 25"/>
          <p:cNvSpPr/>
          <p:nvPr/>
        </p:nvSpPr>
        <p:spPr>
          <a:xfrm>
            <a:off x="598932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 yrs</a:t>
            </a:r>
            <a:endParaRPr lang="en-US" sz="3400"/>
          </a:p>
        </p:txBody>
      </p:sp>
      <p:sp>
        <p:nvSpPr>
          <p:cNvPr id="28" name="Text 26"/>
          <p:cNvSpPr/>
          <p:nvPr/>
        </p:nvSpPr>
        <p:spPr>
          <a:xfrm>
            <a:off x="598932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Average Age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Data Preparation &amp; Cleaning</a:t>
            </a:r>
            <a:endParaRPr lang="en-US" sz="2600"/>
          </a:p>
        </p:txBody>
      </p:sp>
      <p:sp>
        <p:nvSpPr>
          <p:cNvPr id="4" name="Text 2"/>
          <p:cNvSpPr/>
          <p:nvPr/>
        </p:nvSpPr>
        <p:spPr>
          <a:xfrm>
            <a:off x="365760" y="914400"/>
            <a:ext cx="3931920" cy="256032"/>
          </a:xfrm>
          <a:prstGeom prst="rect">
            <a:avLst/>
          </a:prstGeom>
          <a:noFill/>
          <a:ln/>
        </p:spPr>
        <p:txBody>
          <a:bodyPr wrap="square" rtlCol="0" anchor="ctr"/>
          <a:lstStyle/>
          <a:p>
            <a:pPr marL="0" indent="0">
              <a:buNone/>
            </a:pPr>
            <a:r>
              <a:rPr lang="en-US" sz="900" b="1" kern="0" spc="300">
                <a:solidFill>
                  <a:srgbClr val="00B8D4"/>
                </a:solidFill>
                <a:latin typeface="Calibri" pitchFamily="34" charset="0"/>
                <a:ea typeface="Calibri" pitchFamily="34" charset="-122"/>
                <a:cs typeface="Calibri" pitchFamily="34" charset="-120"/>
              </a:rPr>
              <a:t>DATA CLEANING</a:t>
            </a:r>
            <a:endParaRPr lang="en-US" sz="900"/>
          </a:p>
        </p:txBody>
      </p:sp>
      <p:sp>
        <p:nvSpPr>
          <p:cNvPr id="5" name="Text 3"/>
          <p:cNvSpPr/>
          <p:nvPr/>
        </p:nvSpPr>
        <p:spPr>
          <a:xfrm>
            <a:off x="4663440" y="914400"/>
            <a:ext cx="4297680" cy="256032"/>
          </a:xfrm>
          <a:prstGeom prst="rect">
            <a:avLst/>
          </a:prstGeom>
          <a:noFill/>
          <a:ln/>
        </p:spPr>
        <p:txBody>
          <a:bodyPr wrap="square" rtlCol="0" anchor="ctr"/>
          <a:lstStyle/>
          <a:p>
            <a:pPr marL="0" indent="0">
              <a:buNone/>
            </a:pPr>
            <a:r>
              <a:rPr lang="en-US" sz="900" b="1" kern="0" spc="300">
                <a:solidFill>
                  <a:srgbClr val="FFB300"/>
                </a:solidFill>
                <a:latin typeface="Calibri" pitchFamily="34" charset="0"/>
                <a:ea typeface="Calibri" pitchFamily="34" charset="-122"/>
                <a:cs typeface="Calibri" pitchFamily="34" charset="-120"/>
              </a:rPr>
              <a:t>PREPROCESSING PIPELINE</a:t>
            </a:r>
            <a:endParaRPr lang="en-US" sz="900"/>
          </a:p>
        </p:txBody>
      </p:sp>
      <p:sp>
        <p:nvSpPr>
          <p:cNvPr id="6" name="Shape 4"/>
          <p:cNvSpPr/>
          <p:nvPr/>
        </p:nvSpPr>
        <p:spPr>
          <a:xfrm>
            <a:off x="365760" y="118872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7" name="Shape 5"/>
          <p:cNvSpPr/>
          <p:nvPr/>
        </p:nvSpPr>
        <p:spPr>
          <a:xfrm>
            <a:off x="365760" y="1188720"/>
            <a:ext cx="438912" cy="1097280"/>
          </a:xfrm>
          <a:prstGeom prst="rect">
            <a:avLst/>
          </a:prstGeom>
          <a:solidFill>
            <a:srgbClr val="0D2137"/>
          </a:solidFill>
          <a:ln w="12700">
            <a:solidFill>
              <a:srgbClr val="0D2137"/>
            </a:solidFill>
            <a:prstDash val="solid"/>
          </a:ln>
        </p:spPr>
        <p:txBody>
          <a:bodyPr/>
          <a:p/>
        </p:txBody>
      </p:sp>
      <p:sp>
        <p:nvSpPr>
          <p:cNvPr id="8" name="Text 6"/>
          <p:cNvSpPr/>
          <p:nvPr/>
        </p:nvSpPr>
        <p:spPr>
          <a:xfrm>
            <a:off x="365760" y="118872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01</a:t>
            </a:r>
            <a:endParaRPr lang="en-US" sz="1300"/>
          </a:p>
        </p:txBody>
      </p:sp>
      <p:sp>
        <p:nvSpPr>
          <p:cNvPr id="9" name="Text 7"/>
          <p:cNvSpPr/>
          <p:nvPr/>
        </p:nvSpPr>
        <p:spPr>
          <a:xfrm>
            <a:off x="914400" y="128016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Initial Inspection</a:t>
            </a:r>
            <a:endParaRPr lang="en-US" sz="1200"/>
          </a:p>
        </p:txBody>
      </p:sp>
      <p:sp>
        <p:nvSpPr>
          <p:cNvPr id="10" name="Text 8"/>
          <p:cNvSpPr/>
          <p:nvPr/>
        </p:nvSpPr>
        <p:spPr>
          <a:xfrm>
            <a:off x="914400" y="159105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30,000 rows × 24 cols, all int64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0 missing values — 35 duplicate rows kept</a:t>
            </a:r>
            <a:endParaRPr lang="en-US" sz="1050"/>
          </a:p>
        </p:txBody>
      </p:sp>
      <p:sp>
        <p:nvSpPr>
          <p:cNvPr id="11" name="Shape 9"/>
          <p:cNvSpPr/>
          <p:nvPr/>
        </p:nvSpPr>
        <p:spPr>
          <a:xfrm>
            <a:off x="365760" y="242316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2" name="Shape 10"/>
          <p:cNvSpPr/>
          <p:nvPr/>
        </p:nvSpPr>
        <p:spPr>
          <a:xfrm>
            <a:off x="365760" y="2423160"/>
            <a:ext cx="438912" cy="1097280"/>
          </a:xfrm>
          <a:prstGeom prst="rect">
            <a:avLst/>
          </a:prstGeom>
          <a:solidFill>
            <a:srgbClr val="0D2137"/>
          </a:solidFill>
          <a:ln w="12700">
            <a:solidFill>
              <a:srgbClr val="0D2137"/>
            </a:solidFill>
            <a:prstDash val="solid"/>
          </a:ln>
        </p:spPr>
        <p:txBody>
          <a:bodyPr/>
          <a:p/>
        </p:txBody>
      </p:sp>
      <p:sp>
        <p:nvSpPr>
          <p:cNvPr id="13" name="Text 11"/>
          <p:cNvSpPr/>
          <p:nvPr/>
        </p:nvSpPr>
        <p:spPr>
          <a:xfrm>
            <a:off x="365760" y="242316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02</a:t>
            </a:r>
            <a:endParaRPr lang="en-US" sz="1300"/>
          </a:p>
        </p:txBody>
      </p:sp>
      <p:sp>
        <p:nvSpPr>
          <p:cNvPr id="14" name="Text 12"/>
          <p:cNvSpPr/>
          <p:nvPr/>
        </p:nvSpPr>
        <p:spPr>
          <a:xfrm>
            <a:off x="914400" y="251460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EDUCATION Cleaning</a:t>
            </a:r>
            <a:endParaRPr lang="en-US" sz="1200"/>
          </a:p>
        </p:txBody>
      </p:sp>
      <p:sp>
        <p:nvSpPr>
          <p:cNvPr id="15" name="Text 13"/>
          <p:cNvSpPr/>
          <p:nvPr/>
        </p:nvSpPr>
        <p:spPr>
          <a:xfrm>
            <a:off x="914400" y="282549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Values 0, 5, 6 undocumented → remapped to 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345 rows affected (1.15%)</a:t>
            </a:r>
            <a:endParaRPr lang="en-US" sz="1050"/>
          </a:p>
        </p:txBody>
      </p:sp>
      <p:sp>
        <p:nvSpPr>
          <p:cNvPr id="16" name="Shape 14"/>
          <p:cNvSpPr/>
          <p:nvPr/>
        </p:nvSpPr>
        <p:spPr>
          <a:xfrm>
            <a:off x="365760" y="365760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7" name="Shape 15"/>
          <p:cNvSpPr/>
          <p:nvPr/>
        </p:nvSpPr>
        <p:spPr>
          <a:xfrm>
            <a:off x="365760" y="3657600"/>
            <a:ext cx="438912" cy="1097280"/>
          </a:xfrm>
          <a:prstGeom prst="rect">
            <a:avLst/>
          </a:prstGeom>
          <a:solidFill>
            <a:srgbClr val="0D2137"/>
          </a:solidFill>
          <a:ln w="12700">
            <a:solidFill>
              <a:srgbClr val="0D2137"/>
            </a:solidFill>
            <a:prstDash val="solid"/>
          </a:ln>
        </p:spPr>
        <p:txBody>
          <a:bodyPr/>
          <a:p/>
        </p:txBody>
      </p:sp>
      <p:sp>
        <p:nvSpPr>
          <p:cNvPr id="18" name="Text 16"/>
          <p:cNvSpPr/>
          <p:nvPr/>
        </p:nvSpPr>
        <p:spPr>
          <a:xfrm>
            <a:off x="365760" y="365760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03</a:t>
            </a:r>
            <a:endParaRPr lang="en-US" sz="1300"/>
          </a:p>
        </p:txBody>
      </p:sp>
      <p:sp>
        <p:nvSpPr>
          <p:cNvPr id="19" name="Text 17"/>
          <p:cNvSpPr/>
          <p:nvPr/>
        </p:nvSpPr>
        <p:spPr>
          <a:xfrm>
            <a:off x="914400" y="374904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MARRIAGE Cleaning</a:t>
            </a:r>
            <a:endParaRPr lang="en-US" sz="1200"/>
          </a:p>
        </p:txBody>
      </p:sp>
      <p:sp>
        <p:nvSpPr>
          <p:cNvPr id="20" name="Text 18"/>
          <p:cNvSpPr/>
          <p:nvPr/>
        </p:nvSpPr>
        <p:spPr>
          <a:xfrm>
            <a:off x="914400" y="405993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 0 undocumented → remapped to 3</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54 rows affected. Total cleaned: 399 rows (1.3%)</a:t>
            </a:r>
            <a:endParaRPr lang="en-US" sz="1050"/>
          </a:p>
        </p:txBody>
      </p:sp>
      <p:sp>
        <p:nvSpPr>
          <p:cNvPr id="21" name="Shape 19"/>
          <p:cNvSpPr/>
          <p:nvPr/>
        </p:nvSpPr>
        <p:spPr>
          <a:xfrm>
            <a:off x="4663440" y="118872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22" name="Shape 20"/>
          <p:cNvSpPr/>
          <p:nvPr/>
        </p:nvSpPr>
        <p:spPr>
          <a:xfrm>
            <a:off x="4663440" y="1188720"/>
            <a:ext cx="438912" cy="1097280"/>
          </a:xfrm>
          <a:prstGeom prst="rect">
            <a:avLst/>
          </a:prstGeom>
          <a:solidFill>
            <a:srgbClr val="0D2137"/>
          </a:solidFill>
          <a:ln w="12700">
            <a:solidFill>
              <a:srgbClr val="0D2137"/>
            </a:solidFill>
            <a:prstDash val="solid"/>
          </a:ln>
        </p:spPr>
        <p:txBody>
          <a:bodyPr/>
          <a:p/>
        </p:txBody>
      </p:sp>
      <p:sp>
        <p:nvSpPr>
          <p:cNvPr id="23" name="Text 21"/>
          <p:cNvSpPr/>
          <p:nvPr/>
        </p:nvSpPr>
        <p:spPr>
          <a:xfrm>
            <a:off x="4663440" y="118872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04</a:t>
            </a:r>
            <a:endParaRPr lang="en-US" sz="1300"/>
          </a:p>
        </p:txBody>
      </p:sp>
      <p:sp>
        <p:nvSpPr>
          <p:cNvPr id="24" name="Text 22"/>
          <p:cNvSpPr/>
          <p:nvPr/>
        </p:nvSpPr>
        <p:spPr>
          <a:xfrm>
            <a:off x="5212080" y="128016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Stratified Train/Test Split</a:t>
            </a:r>
            <a:endParaRPr lang="en-US" sz="1200"/>
          </a:p>
        </p:txBody>
      </p:sp>
      <p:sp>
        <p:nvSpPr>
          <p:cNvPr id="25" name="Text 23"/>
          <p:cNvSpPr/>
          <p:nvPr/>
        </p:nvSpPr>
        <p:spPr>
          <a:xfrm>
            <a:off x="5212080" y="159105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80/20 split (random_state=42, stratify=y)</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Default rate 22.12% preserved in both sets</a:t>
            </a:r>
            <a:endParaRPr lang="en-US" sz="1050"/>
          </a:p>
        </p:txBody>
      </p:sp>
      <p:sp>
        <p:nvSpPr>
          <p:cNvPr id="26" name="Shape 24"/>
          <p:cNvSpPr/>
          <p:nvPr/>
        </p:nvSpPr>
        <p:spPr>
          <a:xfrm>
            <a:off x="4663440" y="242316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27" name="Shape 25"/>
          <p:cNvSpPr/>
          <p:nvPr/>
        </p:nvSpPr>
        <p:spPr>
          <a:xfrm>
            <a:off x="4663440" y="2423160"/>
            <a:ext cx="438912" cy="1097280"/>
          </a:xfrm>
          <a:prstGeom prst="rect">
            <a:avLst/>
          </a:prstGeom>
          <a:solidFill>
            <a:srgbClr val="0D2137"/>
          </a:solidFill>
          <a:ln w="12700">
            <a:solidFill>
              <a:srgbClr val="0D2137"/>
            </a:solidFill>
            <a:prstDash val="solid"/>
          </a:ln>
        </p:spPr>
        <p:txBody>
          <a:bodyPr/>
          <a:p/>
        </p:txBody>
      </p:sp>
      <p:sp>
        <p:nvSpPr>
          <p:cNvPr id="28" name="Text 26"/>
          <p:cNvSpPr/>
          <p:nvPr/>
        </p:nvSpPr>
        <p:spPr>
          <a:xfrm>
            <a:off x="4663440" y="242316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05</a:t>
            </a:r>
            <a:endParaRPr lang="en-US" sz="1300"/>
          </a:p>
        </p:txBody>
      </p:sp>
      <p:sp>
        <p:nvSpPr>
          <p:cNvPr id="29" name="Text 27"/>
          <p:cNvSpPr/>
          <p:nvPr/>
        </p:nvSpPr>
        <p:spPr>
          <a:xfrm>
            <a:off x="5212080" y="251460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StandardScaler Normalization</a:t>
            </a:r>
            <a:endParaRPr lang="en-US" sz="1200"/>
          </a:p>
        </p:txBody>
      </p:sp>
      <p:sp>
        <p:nvSpPr>
          <p:cNvPr id="30" name="Text 28"/>
          <p:cNvSpPr/>
          <p:nvPr/>
        </p:nvSpPr>
        <p:spPr>
          <a:xfrm>
            <a:off x="5212080" y="282549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Fitted on train only → applied to both sets</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Prevents data leakage from test set</a:t>
            </a:r>
            <a:endParaRPr lang="en-US" sz="1050"/>
          </a:p>
        </p:txBody>
      </p:sp>
      <p:sp>
        <p:nvSpPr>
          <p:cNvPr id="31" name="Shape 29"/>
          <p:cNvSpPr/>
          <p:nvPr/>
        </p:nvSpPr>
        <p:spPr>
          <a:xfrm>
            <a:off x="365760" y="4663440"/>
            <a:ext cx="8595360" cy="384048"/>
          </a:xfrm>
          <a:prstGeom prst="rect">
            <a:avLst/>
          </a:prstGeom>
          <a:solidFill>
            <a:srgbClr val="EBF5FB"/>
          </a:solidFill>
          <a:ln w="12700">
            <a:solidFill>
              <a:srgbClr val="BBDEFB"/>
            </a:solidFill>
            <a:prstDash val="solid"/>
          </a:ln>
        </p:spPr>
        <p:txBody>
          <a:bodyPr/>
          <a:p/>
        </p:txBody>
      </p:sp>
      <p:sp>
        <p:nvSpPr>
          <p:cNvPr id="32" name="Text 30"/>
          <p:cNvSpPr/>
          <p:nvPr/>
        </p:nvSpPr>
        <p:spPr>
          <a:xfrm>
            <a:off x="457200" y="4681728"/>
            <a:ext cx="8412480" cy="347472"/>
          </a:xfrm>
          <a:prstGeom prst="rect">
            <a:avLst/>
          </a:prstGeom>
          <a:noFill/>
          <a:ln/>
        </p:spPr>
        <p:txBody>
          <a:bodyPr wrap="square" rtlCol="0" anchor="ctr"/>
          <a:lstStyle/>
          <a:p>
            <a:pPr marL="0" indent="0" algn="ctr">
              <a:buNone/>
            </a:pPr>
            <a:r>
              <a:rPr lang="en-US" sz="1100">
                <a:solidFill>
                  <a:srgbClr val="0D2137"/>
                </a:solidFill>
                <a:latin typeface="Calibri" pitchFamily="34" charset="0"/>
                <a:ea typeface="Calibri" pitchFamily="34" charset="-122"/>
                <a:cs typeface="Calibri" pitchFamily="34" charset="-120"/>
              </a:rPr>
              <a:t>Result: 30,000 clean records  •  399 rows corrected (1.3%)  •  24,000 train / 6,000 test  •  No data leakage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Selection Rationale</a:t>
            </a:r>
            <a:endParaRPr lang="en-US" sz="2600"/>
          </a:p>
        </p:txBody>
      </p:sp>
      <p:sp>
        <p:nvSpPr>
          <p:cNvPr id="4" name="Shape 2"/>
          <p:cNvSpPr/>
          <p:nvPr/>
        </p:nvSpPr>
        <p:spPr>
          <a:xfrm>
            <a:off x="228600"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5" name="Shape 3"/>
          <p:cNvSpPr/>
          <p:nvPr/>
        </p:nvSpPr>
        <p:spPr>
          <a:xfrm>
            <a:off x="228600" y="914400"/>
            <a:ext cx="2743200" cy="365760"/>
          </a:xfrm>
          <a:prstGeom prst="rect">
            <a:avLst/>
          </a:prstGeom>
          <a:solidFill>
            <a:srgbClr val="1565C0"/>
          </a:solidFill>
          <a:ln w="12700">
            <a:solidFill>
              <a:srgbClr val="1565C0"/>
            </a:solidFill>
            <a:prstDash val="solid"/>
          </a:ln>
        </p:spPr>
      </p:sp>
      <p:sp>
        <p:nvSpPr>
          <p:cNvPr id="6" name="Text 4"/>
          <p:cNvSpPr/>
          <p:nvPr/>
        </p:nvSpPr>
        <p:spPr>
          <a:xfrm>
            <a:off x="228600"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BASELINE</a:t>
            </a:r>
            <a:endParaRPr lang="en-US" sz="1000"/>
          </a:p>
        </p:txBody>
      </p:sp>
      <p:sp>
        <p:nvSpPr>
          <p:cNvPr id="7" name="Text 5"/>
          <p:cNvSpPr/>
          <p:nvPr/>
        </p:nvSpPr>
        <p:spPr>
          <a:xfrm>
            <a:off x="338328"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Logistic Regression</a:t>
            </a:r>
            <a:endParaRPr lang="en-US" sz="1400"/>
          </a:p>
        </p:txBody>
      </p:sp>
      <p:sp>
        <p:nvSpPr>
          <p:cNvPr id="8" name="Text 6"/>
          <p:cNvSpPr/>
          <p:nvPr/>
        </p:nvSpPr>
        <p:spPr>
          <a:xfrm>
            <a:off x="338328" y="192024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WHY CHOSEN</a:t>
            </a:r>
            <a:endParaRPr lang="en-US" sz="900"/>
          </a:p>
        </p:txBody>
      </p:sp>
      <p:sp>
        <p:nvSpPr>
          <p:cNvPr id="9" name="Text 7"/>
          <p:cNvSpPr/>
          <p:nvPr/>
        </p:nvSpPr>
        <p:spPr>
          <a:xfrm>
            <a:off x="338328"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Industry-standard in finance; interpretable coefficients show feature impact on default probability</a:t>
            </a:r>
            <a:endParaRPr lang="en-US" sz="1050"/>
          </a:p>
        </p:txBody>
      </p:sp>
      <p:sp>
        <p:nvSpPr>
          <p:cNvPr id="10" name="Text 8"/>
          <p:cNvSpPr/>
          <p:nvPr/>
        </p:nvSpPr>
        <p:spPr>
          <a:xfrm>
            <a:off x="338328" y="288036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LIMITATION</a:t>
            </a:r>
            <a:endParaRPr lang="en-US" sz="900"/>
          </a:p>
        </p:txBody>
      </p:sp>
      <p:sp>
        <p:nvSpPr>
          <p:cNvPr id="11" name="Text 9"/>
          <p:cNvSpPr/>
          <p:nvPr/>
        </p:nvSpPr>
        <p:spPr>
          <a:xfrm>
            <a:off x="338328"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linear separability — violated here (PCA shows class overlap)</a:t>
            </a:r>
            <a:endParaRPr lang="en-US" sz="1050"/>
          </a:p>
        </p:txBody>
      </p:sp>
      <p:sp>
        <p:nvSpPr>
          <p:cNvPr id="12" name="Text 10"/>
          <p:cNvSpPr/>
          <p:nvPr/>
        </p:nvSpPr>
        <p:spPr>
          <a:xfrm>
            <a:off x="338328" y="384048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KEY FIX</a:t>
            </a:r>
            <a:endParaRPr lang="en-US" sz="900"/>
          </a:p>
        </p:txBody>
      </p:sp>
      <p:sp>
        <p:nvSpPr>
          <p:cNvPr id="13" name="Text 11"/>
          <p:cNvSpPr/>
          <p:nvPr/>
        </p:nvSpPr>
        <p:spPr>
          <a:xfrm>
            <a:off x="338328"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class_weight='balanced' to counter 3.5:1 imbalance</a:t>
            </a:r>
            <a:endParaRPr lang="en-US" sz="1050"/>
          </a:p>
        </p:txBody>
      </p:sp>
      <p:sp>
        <p:nvSpPr>
          <p:cNvPr id="14" name="Shape 12"/>
          <p:cNvSpPr/>
          <p:nvPr/>
        </p:nvSpPr>
        <p:spPr>
          <a:xfrm>
            <a:off x="3136392"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5" name="Shape 13"/>
          <p:cNvSpPr/>
          <p:nvPr/>
        </p:nvSpPr>
        <p:spPr>
          <a:xfrm>
            <a:off x="3136392" y="914400"/>
            <a:ext cx="2743200" cy="365760"/>
          </a:xfrm>
          <a:prstGeom prst="rect">
            <a:avLst/>
          </a:prstGeom>
          <a:solidFill>
            <a:srgbClr val="7B1FA2"/>
          </a:solidFill>
          <a:ln w="12700">
            <a:solidFill>
              <a:srgbClr val="7B1FA2"/>
            </a:solidFill>
            <a:prstDash val="solid"/>
          </a:ln>
        </p:spPr>
      </p:sp>
      <p:sp>
        <p:nvSpPr>
          <p:cNvPr id="16" name="Text 14"/>
          <p:cNvSpPr/>
          <p:nvPr/>
        </p:nvSpPr>
        <p:spPr>
          <a:xfrm>
            <a:off x="3136392"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PROBABILISTIC</a:t>
            </a:r>
            <a:endParaRPr lang="en-US" sz="1000"/>
          </a:p>
        </p:txBody>
      </p:sp>
      <p:sp>
        <p:nvSpPr>
          <p:cNvPr id="17" name="Text 15"/>
          <p:cNvSpPr/>
          <p:nvPr/>
        </p:nvSpPr>
        <p:spPr>
          <a:xfrm>
            <a:off x="3246120"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Gaussian Naive Bayes</a:t>
            </a:r>
            <a:endParaRPr lang="en-US" sz="1400"/>
          </a:p>
        </p:txBody>
      </p:sp>
      <p:sp>
        <p:nvSpPr>
          <p:cNvPr id="18" name="Text 16"/>
          <p:cNvSpPr/>
          <p:nvPr/>
        </p:nvSpPr>
        <p:spPr>
          <a:xfrm>
            <a:off x="3246120" y="192024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WHY CHOSEN</a:t>
            </a:r>
            <a:endParaRPr lang="en-US" sz="900"/>
          </a:p>
        </p:txBody>
      </p:sp>
      <p:sp>
        <p:nvSpPr>
          <p:cNvPr id="19" name="Text 17"/>
          <p:cNvSpPr/>
          <p:nvPr/>
        </p:nvSpPr>
        <p:spPr>
          <a:xfrm>
            <a:off x="3246120"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Probabilistic approach using Bayes theorem — good contrast to deterministic LR</a:t>
            </a:r>
            <a:endParaRPr lang="en-US" sz="1050"/>
          </a:p>
        </p:txBody>
      </p:sp>
      <p:sp>
        <p:nvSpPr>
          <p:cNvPr id="20" name="Text 18"/>
          <p:cNvSpPr/>
          <p:nvPr/>
        </p:nvSpPr>
        <p:spPr>
          <a:xfrm>
            <a:off x="3246120" y="288036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LIMITATION</a:t>
            </a:r>
            <a:endParaRPr lang="en-US" sz="900"/>
          </a:p>
        </p:txBody>
      </p:sp>
      <p:sp>
        <p:nvSpPr>
          <p:cNvPr id="21" name="Text 19"/>
          <p:cNvSpPr/>
          <p:nvPr/>
        </p:nvSpPr>
        <p:spPr>
          <a:xfrm>
            <a:off x="3246120"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feature independence — violated (PAY_AMT1–6 correlations &gt; 0.9)</a:t>
            </a:r>
            <a:endParaRPr lang="en-US" sz="1050"/>
          </a:p>
        </p:txBody>
      </p:sp>
      <p:sp>
        <p:nvSpPr>
          <p:cNvPr id="22" name="Text 20"/>
          <p:cNvSpPr/>
          <p:nvPr/>
        </p:nvSpPr>
        <p:spPr>
          <a:xfrm>
            <a:off x="3246120" y="384048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KEY FIX</a:t>
            </a:r>
            <a:endParaRPr lang="en-US" sz="900"/>
          </a:p>
        </p:txBody>
      </p:sp>
      <p:sp>
        <p:nvSpPr>
          <p:cNvPr id="23" name="Text 21"/>
          <p:cNvSpPr/>
          <p:nvPr/>
        </p:nvSpPr>
        <p:spPr>
          <a:xfrm>
            <a:off x="3246120"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No class_weight support; expected lower performance</a:t>
            </a:r>
            <a:endParaRPr lang="en-US" sz="1050"/>
          </a:p>
        </p:txBody>
      </p:sp>
      <p:sp>
        <p:nvSpPr>
          <p:cNvPr id="24" name="Shape 22"/>
          <p:cNvSpPr/>
          <p:nvPr/>
        </p:nvSpPr>
        <p:spPr>
          <a:xfrm>
            <a:off x="6044184"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5" name="Shape 23"/>
          <p:cNvSpPr/>
          <p:nvPr/>
        </p:nvSpPr>
        <p:spPr>
          <a:xfrm>
            <a:off x="6044184" y="914400"/>
            <a:ext cx="2743200" cy="365760"/>
          </a:xfrm>
          <a:prstGeom prst="rect">
            <a:avLst/>
          </a:prstGeom>
          <a:solidFill>
            <a:srgbClr val="00695C"/>
          </a:solidFill>
          <a:ln w="12700">
            <a:solidFill>
              <a:srgbClr val="00695C"/>
            </a:solidFill>
            <a:prstDash val="solid"/>
          </a:ln>
        </p:spPr>
      </p:sp>
      <p:sp>
        <p:nvSpPr>
          <p:cNvPr id="26" name="Text 24"/>
          <p:cNvSpPr/>
          <p:nvPr/>
        </p:nvSpPr>
        <p:spPr>
          <a:xfrm>
            <a:off x="6044184"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BEST MODEL</a:t>
            </a:r>
            <a:endParaRPr lang="en-US" sz="1000"/>
          </a:p>
        </p:txBody>
      </p:sp>
      <p:sp>
        <p:nvSpPr>
          <p:cNvPr id="27" name="Text 25"/>
          <p:cNvSpPr/>
          <p:nvPr/>
        </p:nvSpPr>
        <p:spPr>
          <a:xfrm>
            <a:off x="6153912"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Decision Tree</a:t>
            </a:r>
            <a:endParaRPr lang="en-US" sz="1400"/>
          </a:p>
        </p:txBody>
      </p:sp>
      <p:sp>
        <p:nvSpPr>
          <p:cNvPr id="28" name="Text 26"/>
          <p:cNvSpPr/>
          <p:nvPr/>
        </p:nvSpPr>
        <p:spPr>
          <a:xfrm>
            <a:off x="6153912" y="192024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WHY CHOSEN</a:t>
            </a:r>
            <a:endParaRPr lang="en-US" sz="900"/>
          </a:p>
        </p:txBody>
      </p:sp>
      <p:sp>
        <p:nvSpPr>
          <p:cNvPr id="29" name="Text 27"/>
          <p:cNvSpPr/>
          <p:nvPr/>
        </p:nvSpPr>
        <p:spPr>
          <a:xfrm>
            <a:off x="6153912"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Captures non-linear relationships without requiring feature scaling</a:t>
            </a:r>
            <a:endParaRPr lang="en-US" sz="1050"/>
          </a:p>
        </p:txBody>
      </p:sp>
      <p:sp>
        <p:nvSpPr>
          <p:cNvPr id="30" name="Text 28"/>
          <p:cNvSpPr/>
          <p:nvPr/>
        </p:nvSpPr>
        <p:spPr>
          <a:xfrm>
            <a:off x="6153912" y="288036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LIMITATION</a:t>
            </a:r>
            <a:endParaRPr lang="en-US" sz="900"/>
          </a:p>
        </p:txBody>
      </p:sp>
      <p:sp>
        <p:nvSpPr>
          <p:cNvPr id="31" name="Text 29"/>
          <p:cNvSpPr/>
          <p:nvPr/>
        </p:nvSpPr>
        <p:spPr>
          <a:xfrm>
            <a:off x="6153912"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Prone to overfitting — controlled with max_depth=5, min_samples_leaf=20</a:t>
            </a:r>
            <a:endParaRPr lang="en-US" sz="1050"/>
          </a:p>
        </p:txBody>
      </p:sp>
      <p:sp>
        <p:nvSpPr>
          <p:cNvPr id="32" name="Text 30"/>
          <p:cNvSpPr/>
          <p:nvPr/>
        </p:nvSpPr>
        <p:spPr>
          <a:xfrm>
            <a:off x="6153912" y="384048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KEY FIX</a:t>
            </a:r>
            <a:endParaRPr lang="en-US" sz="900"/>
          </a:p>
        </p:txBody>
      </p:sp>
      <p:sp>
        <p:nvSpPr>
          <p:cNvPr id="33" name="Text 31"/>
          <p:cNvSpPr/>
          <p:nvPr/>
        </p:nvSpPr>
        <p:spPr>
          <a:xfrm>
            <a:off x="6153912"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Gini impurity as criterion; class_weight='balanced' applied</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Evaluation Framework</a:t>
            </a:r>
            <a:endParaRPr lang="en-US" sz="3000"/>
          </a:p>
        </p:txBody>
      </p:sp>
      <p:sp>
        <p:nvSpPr>
          <p:cNvPr id="3" name="Shape 1"/>
          <p:cNvSpPr/>
          <p:nvPr/>
        </p:nvSpPr>
        <p:spPr>
          <a:xfrm>
            <a:off x="457200" y="822960"/>
            <a:ext cx="8229600" cy="27432"/>
          </a:xfrm>
          <a:prstGeom prst="rect">
            <a:avLst/>
          </a:prstGeom>
          <a:solidFill>
            <a:srgbClr val="00B8D4"/>
          </a:solidFill>
          <a:ln w="12700">
            <a:solidFill>
              <a:srgbClr val="00B8D4"/>
            </a:solidFill>
            <a:prstDash val="solid"/>
          </a:ln>
        </p:spPr>
      </p:sp>
      <p:sp>
        <p:nvSpPr>
          <p:cNvPr id="4" name="Text 2"/>
          <p:cNvSpPr/>
          <p:nvPr/>
        </p:nvSpPr>
        <p:spPr>
          <a:xfrm>
            <a:off x="457200" y="868680"/>
            <a:ext cx="8229600" cy="274320"/>
          </a:xfrm>
          <a:prstGeom prst="rect">
            <a:avLst/>
          </a:prstGeom>
          <a:noFill/>
          <a:ln/>
        </p:spPr>
        <p:txBody>
          <a:bodyPr wrap="square" rtlCol="0" anchor="ctr"/>
          <a:lstStyle/>
          <a:p>
            <a:pPr marL="0" indent="0">
              <a:buNone/>
            </a:pPr>
            <a:r>
              <a:rPr lang="en-US" sz="1200">
                <a:solidFill>
                  <a:srgbClr val="4FC3F7"/>
                </a:solidFill>
                <a:latin typeface="Calibri" pitchFamily="34" charset="0"/>
                <a:ea typeface="Calibri" pitchFamily="34" charset="-122"/>
                <a:cs typeface="Calibri" pitchFamily="34" charset="-120"/>
              </a:rPr>
              <a:t>Why we used multiple metrics — accuracy alone is misleading with 78/22 class split</a:t>
            </a:r>
            <a:endParaRPr lang="en-US" sz="1200"/>
          </a:p>
        </p:txBody>
      </p:sp>
      <p:sp>
        <p:nvSpPr>
          <p:cNvPr id="5" name="Shape 3"/>
          <p:cNvSpPr/>
          <p:nvPr/>
        </p:nvSpPr>
        <p:spPr>
          <a:xfrm>
            <a:off x="27432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6" name="Shape 4"/>
          <p:cNvSpPr/>
          <p:nvPr/>
        </p:nvSpPr>
        <p:spPr>
          <a:xfrm>
            <a:off x="274320" y="1234440"/>
            <a:ext cx="2651760" cy="54864"/>
          </a:xfrm>
          <a:prstGeom prst="rect">
            <a:avLst/>
          </a:prstGeom>
          <a:solidFill>
            <a:srgbClr val="F44336"/>
          </a:solidFill>
          <a:ln w="12700">
            <a:solidFill>
              <a:srgbClr val="F44336"/>
            </a:solidFill>
            <a:prstDash val="solid"/>
          </a:ln>
        </p:spPr>
      </p:sp>
      <p:sp>
        <p:nvSpPr>
          <p:cNvPr id="7" name="Text 5"/>
          <p:cNvSpPr/>
          <p:nvPr/>
        </p:nvSpPr>
        <p:spPr>
          <a:xfrm>
            <a:off x="384048" y="1325880"/>
            <a:ext cx="2432304" cy="201168"/>
          </a:xfrm>
          <a:prstGeom prst="rect">
            <a:avLst/>
          </a:prstGeom>
          <a:noFill/>
          <a:ln/>
        </p:spPr>
        <p:txBody>
          <a:bodyPr wrap="square" rtlCol="0" anchor="ctr"/>
          <a:lstStyle/>
          <a:p>
            <a:pPr marL="0" indent="0">
              <a:buNone/>
            </a:pPr>
            <a:r>
              <a:rPr lang="en-US" sz="850" b="1" kern="0" spc="100">
                <a:solidFill>
                  <a:srgbClr val="F44336"/>
                </a:solidFill>
                <a:latin typeface="Calibri" pitchFamily="34" charset="0"/>
                <a:ea typeface="Calibri" pitchFamily="34" charset="-122"/>
                <a:cs typeface="Calibri" pitchFamily="34" charset="-120"/>
              </a:rPr>
              <a:t>★ HIGHEST PRIORITY</a:t>
            </a:r>
            <a:endParaRPr lang="en-US" sz="850"/>
          </a:p>
        </p:txBody>
      </p:sp>
      <p:sp>
        <p:nvSpPr>
          <p:cNvPr id="8" name="Text 6"/>
          <p:cNvSpPr/>
          <p:nvPr/>
        </p:nvSpPr>
        <p:spPr>
          <a:xfrm>
            <a:off x="38404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Recall (Default class)</a:t>
            </a:r>
            <a:endParaRPr lang="en-US" sz="1300"/>
          </a:p>
        </p:txBody>
      </p:sp>
      <p:sp>
        <p:nvSpPr>
          <p:cNvPr id="9" name="Shape 7"/>
          <p:cNvSpPr/>
          <p:nvPr/>
        </p:nvSpPr>
        <p:spPr>
          <a:xfrm>
            <a:off x="384048" y="1892808"/>
            <a:ext cx="2286000" cy="18288"/>
          </a:xfrm>
          <a:prstGeom prst="rect">
            <a:avLst/>
          </a:prstGeom>
          <a:solidFill>
            <a:srgbClr val="1F4A7A"/>
          </a:solidFill>
          <a:ln w="12700">
            <a:solidFill>
              <a:srgbClr val="1F4A7A"/>
            </a:solidFill>
            <a:prstDash val="solid"/>
          </a:ln>
        </p:spPr>
      </p:sp>
      <p:sp>
        <p:nvSpPr>
          <p:cNvPr id="10" name="Text 8"/>
          <p:cNvSpPr/>
          <p:nvPr/>
        </p:nvSpPr>
        <p:spPr>
          <a:xfrm>
            <a:off x="38404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Missing a real defaulter is the most costly error for the bank — false negatives mean undetected risk</a:t>
            </a:r>
            <a:endParaRPr lang="en-US" sz="1050"/>
          </a:p>
        </p:txBody>
      </p:sp>
      <p:sp>
        <p:nvSpPr>
          <p:cNvPr id="11" name="Shape 9"/>
          <p:cNvSpPr/>
          <p:nvPr/>
        </p:nvSpPr>
        <p:spPr>
          <a:xfrm>
            <a:off x="315468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2" name="Shape 10"/>
          <p:cNvSpPr/>
          <p:nvPr/>
        </p:nvSpPr>
        <p:spPr>
          <a:xfrm>
            <a:off x="3154680" y="1234440"/>
            <a:ext cx="2651760" cy="54864"/>
          </a:xfrm>
          <a:prstGeom prst="rect">
            <a:avLst/>
          </a:prstGeom>
          <a:solidFill>
            <a:srgbClr val="FFB300"/>
          </a:solidFill>
          <a:ln w="12700">
            <a:solidFill>
              <a:srgbClr val="FFB300"/>
            </a:solidFill>
            <a:prstDash val="solid"/>
          </a:ln>
        </p:spPr>
      </p:sp>
      <p:sp>
        <p:nvSpPr>
          <p:cNvPr id="13" name="Text 11"/>
          <p:cNvSpPr/>
          <p:nvPr/>
        </p:nvSpPr>
        <p:spPr>
          <a:xfrm>
            <a:off x="3264408" y="1325880"/>
            <a:ext cx="2432304" cy="201168"/>
          </a:xfrm>
          <a:prstGeom prst="rect">
            <a:avLst/>
          </a:prstGeom>
          <a:noFill/>
          <a:ln/>
        </p:spPr>
        <p:txBody>
          <a:bodyPr wrap="square" rtlCol="0" anchor="ctr"/>
          <a:lstStyle/>
          <a:p>
            <a:pPr marL="0" indent="0">
              <a:buNone/>
            </a:pPr>
            <a:r>
              <a:rPr lang="en-US" sz="850" b="1" kern="0" spc="100">
                <a:solidFill>
                  <a:srgbClr val="FFB300"/>
                </a:solidFill>
                <a:latin typeface="Calibri" pitchFamily="34" charset="0"/>
                <a:ea typeface="Calibri" pitchFamily="34" charset="-122"/>
                <a:cs typeface="Calibri" pitchFamily="34" charset="-120"/>
              </a:rPr>
              <a:t>SECONDARY</a:t>
            </a:r>
            <a:endParaRPr lang="en-US" sz="850"/>
          </a:p>
        </p:txBody>
      </p:sp>
      <p:sp>
        <p:nvSpPr>
          <p:cNvPr id="14" name="Text 12"/>
          <p:cNvSpPr/>
          <p:nvPr/>
        </p:nvSpPr>
        <p:spPr>
          <a:xfrm>
            <a:off x="326440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Precision (Default class)</a:t>
            </a:r>
            <a:endParaRPr lang="en-US" sz="1300"/>
          </a:p>
        </p:txBody>
      </p:sp>
      <p:sp>
        <p:nvSpPr>
          <p:cNvPr id="15" name="Shape 13"/>
          <p:cNvSpPr/>
          <p:nvPr/>
        </p:nvSpPr>
        <p:spPr>
          <a:xfrm>
            <a:off x="3264408" y="1892808"/>
            <a:ext cx="2286000" cy="18288"/>
          </a:xfrm>
          <a:prstGeom prst="rect">
            <a:avLst/>
          </a:prstGeom>
          <a:solidFill>
            <a:srgbClr val="1F4A7A"/>
          </a:solidFill>
          <a:ln w="12700">
            <a:solidFill>
              <a:srgbClr val="1F4A7A"/>
            </a:solidFill>
            <a:prstDash val="solid"/>
          </a:ln>
        </p:spPr>
      </p:sp>
      <p:sp>
        <p:nvSpPr>
          <p:cNvPr id="16" name="Text 14"/>
          <p:cNvSpPr/>
          <p:nvPr/>
        </p:nvSpPr>
        <p:spPr>
          <a:xfrm>
            <a:off x="326440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Also important — too many false positives rejects creditworthy customers unnecessarily</a:t>
            </a:r>
            <a:endParaRPr lang="en-US" sz="1050"/>
          </a:p>
        </p:txBody>
      </p:sp>
      <p:sp>
        <p:nvSpPr>
          <p:cNvPr id="17" name="Shape 15"/>
          <p:cNvSpPr/>
          <p:nvPr/>
        </p:nvSpPr>
        <p:spPr>
          <a:xfrm>
            <a:off x="603504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8" name="Shape 16"/>
          <p:cNvSpPr/>
          <p:nvPr/>
        </p:nvSpPr>
        <p:spPr>
          <a:xfrm>
            <a:off x="6035040" y="1234440"/>
            <a:ext cx="2651760" cy="54864"/>
          </a:xfrm>
          <a:prstGeom prst="rect">
            <a:avLst/>
          </a:prstGeom>
          <a:solidFill>
            <a:srgbClr val="00B8D4"/>
          </a:solidFill>
          <a:ln w="12700">
            <a:solidFill>
              <a:srgbClr val="00B8D4"/>
            </a:solidFill>
            <a:prstDash val="solid"/>
          </a:ln>
        </p:spPr>
      </p:sp>
      <p:sp>
        <p:nvSpPr>
          <p:cNvPr id="19" name="Text 17"/>
          <p:cNvSpPr/>
          <p:nvPr/>
        </p:nvSpPr>
        <p:spPr>
          <a:xfrm>
            <a:off x="6144768" y="1325880"/>
            <a:ext cx="2432304" cy="201168"/>
          </a:xfrm>
          <a:prstGeom prst="rect">
            <a:avLst/>
          </a:prstGeom>
          <a:noFill/>
          <a:ln/>
        </p:spPr>
        <p:txBody>
          <a:bodyPr wrap="square" rtlCol="0" anchor="ctr"/>
          <a:lstStyle/>
          <a:p>
            <a:pPr marL="0" indent="0">
              <a:buNone/>
            </a:pPr>
            <a:r>
              <a:rPr lang="en-US" sz="850" b="1" kern="0" spc="100">
                <a:solidFill>
                  <a:srgbClr val="00B8D4"/>
                </a:solidFill>
                <a:latin typeface="Calibri" pitchFamily="34" charset="0"/>
                <a:ea typeface="Calibri" pitchFamily="34" charset="-122"/>
                <a:cs typeface="Calibri" pitchFamily="34" charset="-120"/>
              </a:rPr>
              <a:t>BALANCE METRIC</a:t>
            </a:r>
            <a:endParaRPr lang="en-US" sz="850"/>
          </a:p>
        </p:txBody>
      </p:sp>
      <p:sp>
        <p:nvSpPr>
          <p:cNvPr id="20" name="Text 18"/>
          <p:cNvSpPr/>
          <p:nvPr/>
        </p:nvSpPr>
        <p:spPr>
          <a:xfrm>
            <a:off x="614476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F1-Score</a:t>
            </a:r>
            <a:endParaRPr lang="en-US" sz="1300"/>
          </a:p>
        </p:txBody>
      </p:sp>
      <p:sp>
        <p:nvSpPr>
          <p:cNvPr id="21" name="Shape 19"/>
          <p:cNvSpPr/>
          <p:nvPr/>
        </p:nvSpPr>
        <p:spPr>
          <a:xfrm>
            <a:off x="6144768" y="1892808"/>
            <a:ext cx="2286000" cy="18288"/>
          </a:xfrm>
          <a:prstGeom prst="rect">
            <a:avLst/>
          </a:prstGeom>
          <a:solidFill>
            <a:srgbClr val="1F4A7A"/>
          </a:solidFill>
          <a:ln w="12700">
            <a:solidFill>
              <a:srgbClr val="1F4A7A"/>
            </a:solidFill>
            <a:prstDash val="solid"/>
          </a:ln>
        </p:spPr>
      </p:sp>
      <p:sp>
        <p:nvSpPr>
          <p:cNvPr id="22" name="Text 20"/>
          <p:cNvSpPr/>
          <p:nvPr/>
        </p:nvSpPr>
        <p:spPr>
          <a:xfrm>
            <a:off x="614476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Harmonic mean of precision &amp; recall — single score that penalises extreme imbalance between the two</a:t>
            </a:r>
            <a:endParaRPr lang="en-US" sz="1050"/>
          </a:p>
        </p:txBody>
      </p:sp>
      <p:sp>
        <p:nvSpPr>
          <p:cNvPr id="23" name="Shape 21"/>
          <p:cNvSpPr/>
          <p:nvPr/>
        </p:nvSpPr>
        <p:spPr>
          <a:xfrm>
            <a:off x="2743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24" name="Shape 22"/>
          <p:cNvSpPr/>
          <p:nvPr/>
        </p:nvSpPr>
        <p:spPr>
          <a:xfrm>
            <a:off x="274320" y="3200400"/>
            <a:ext cx="4114800" cy="54864"/>
          </a:xfrm>
          <a:prstGeom prst="rect">
            <a:avLst/>
          </a:prstGeom>
          <a:solidFill>
            <a:srgbClr val="00C853"/>
          </a:solidFill>
          <a:ln w="12700">
            <a:solidFill>
              <a:srgbClr val="00C853"/>
            </a:solidFill>
            <a:prstDash val="solid"/>
          </a:ln>
        </p:spPr>
      </p:sp>
      <p:sp>
        <p:nvSpPr>
          <p:cNvPr id="25" name="Text 23"/>
          <p:cNvSpPr/>
          <p:nvPr/>
        </p:nvSpPr>
        <p:spPr>
          <a:xfrm>
            <a:off x="411480" y="3291840"/>
            <a:ext cx="3840480" cy="201168"/>
          </a:xfrm>
          <a:prstGeom prst="rect">
            <a:avLst/>
          </a:prstGeom>
          <a:noFill/>
          <a:ln/>
        </p:spPr>
        <p:txBody>
          <a:bodyPr wrap="square" rtlCol="0" anchor="ctr"/>
          <a:lstStyle/>
          <a:p>
            <a:pPr marL="0" indent="0">
              <a:buNone/>
            </a:pPr>
            <a:r>
              <a:rPr lang="en-US" sz="850" b="1" kern="0" spc="100">
                <a:solidFill>
                  <a:srgbClr val="00C853"/>
                </a:solidFill>
                <a:latin typeface="Calibri" pitchFamily="34" charset="0"/>
                <a:ea typeface="Calibri" pitchFamily="34" charset="-122"/>
                <a:cs typeface="Calibri" pitchFamily="34" charset="-120"/>
              </a:rPr>
              <a:t>PRIMARY COMPARISON</a:t>
            </a:r>
            <a:endParaRPr lang="en-US" sz="850"/>
          </a:p>
        </p:txBody>
      </p:sp>
      <p:sp>
        <p:nvSpPr>
          <p:cNvPr id="26" name="Text 24"/>
          <p:cNvSpPr/>
          <p:nvPr/>
        </p:nvSpPr>
        <p:spPr>
          <a:xfrm>
            <a:off x="4114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ROC-AUC</a:t>
            </a:r>
            <a:endParaRPr lang="en-US" sz="1400"/>
          </a:p>
        </p:txBody>
      </p:sp>
      <p:sp>
        <p:nvSpPr>
          <p:cNvPr id="27" name="Shape 25"/>
          <p:cNvSpPr/>
          <p:nvPr/>
        </p:nvSpPr>
        <p:spPr>
          <a:xfrm>
            <a:off x="411480" y="3858768"/>
            <a:ext cx="3657600" cy="18288"/>
          </a:xfrm>
          <a:prstGeom prst="rect">
            <a:avLst/>
          </a:prstGeom>
          <a:solidFill>
            <a:srgbClr val="1F4A7A"/>
          </a:solidFill>
          <a:ln w="12700">
            <a:solidFill>
              <a:srgbClr val="1F4A7A"/>
            </a:solidFill>
            <a:prstDash val="solid"/>
          </a:ln>
        </p:spPr>
      </p:sp>
      <p:sp>
        <p:nvSpPr>
          <p:cNvPr id="28" name="Text 26"/>
          <p:cNvSpPr/>
          <p:nvPr/>
        </p:nvSpPr>
        <p:spPr>
          <a:xfrm>
            <a:off x="4114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Measures discrimination ability across ALL decision thresholds — robust to class imbalance, main ranking metric</a:t>
            </a:r>
            <a:endParaRPr lang="en-US" sz="1100"/>
          </a:p>
        </p:txBody>
      </p:sp>
      <p:sp>
        <p:nvSpPr>
          <p:cNvPr id="29" name="Shape 27"/>
          <p:cNvSpPr/>
          <p:nvPr/>
        </p:nvSpPr>
        <p:spPr>
          <a:xfrm>
            <a:off x="46177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30" name="Shape 28"/>
          <p:cNvSpPr/>
          <p:nvPr/>
        </p:nvSpPr>
        <p:spPr>
          <a:xfrm>
            <a:off x="4617720" y="3200400"/>
            <a:ext cx="4114800" cy="54864"/>
          </a:xfrm>
          <a:prstGeom prst="rect">
            <a:avLst/>
          </a:prstGeom>
          <a:solidFill>
            <a:srgbClr val="4FC3F7"/>
          </a:solidFill>
          <a:ln w="12700">
            <a:solidFill>
              <a:srgbClr val="4FC3F7"/>
            </a:solidFill>
            <a:prstDash val="solid"/>
          </a:ln>
        </p:spPr>
      </p:sp>
      <p:sp>
        <p:nvSpPr>
          <p:cNvPr id="31" name="Text 29"/>
          <p:cNvSpPr/>
          <p:nvPr/>
        </p:nvSpPr>
        <p:spPr>
          <a:xfrm>
            <a:off x="4754880" y="3291840"/>
            <a:ext cx="3840480" cy="201168"/>
          </a:xfrm>
          <a:prstGeom prst="rect">
            <a:avLst/>
          </a:prstGeom>
          <a:noFill/>
          <a:ln/>
        </p:spPr>
        <p:txBody>
          <a:bodyPr wrap="square" rtlCol="0" anchor="ctr"/>
          <a:lstStyle/>
          <a:p>
            <a:pPr marL="0" indent="0">
              <a:buNone/>
            </a:pPr>
            <a:r>
              <a:rPr lang="en-US" sz="850" b="1" kern="0" spc="100">
                <a:solidFill>
                  <a:srgbClr val="4FC3F7"/>
                </a:solidFill>
                <a:latin typeface="Calibri" pitchFamily="34" charset="0"/>
                <a:ea typeface="Calibri" pitchFamily="34" charset="-122"/>
                <a:cs typeface="Calibri" pitchFamily="34" charset="-120"/>
              </a:rPr>
              <a:t>RELIABILITY CHECK</a:t>
            </a:r>
            <a:endParaRPr lang="en-US" sz="850"/>
          </a:p>
        </p:txBody>
      </p:sp>
      <p:sp>
        <p:nvSpPr>
          <p:cNvPr id="32" name="Text 30"/>
          <p:cNvSpPr/>
          <p:nvPr/>
        </p:nvSpPr>
        <p:spPr>
          <a:xfrm>
            <a:off x="47548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5-Fold Stratified CV</a:t>
            </a:r>
            <a:endParaRPr lang="en-US" sz="1400"/>
          </a:p>
        </p:txBody>
      </p:sp>
      <p:sp>
        <p:nvSpPr>
          <p:cNvPr id="33" name="Shape 31"/>
          <p:cNvSpPr/>
          <p:nvPr/>
        </p:nvSpPr>
        <p:spPr>
          <a:xfrm>
            <a:off x="4754880" y="3858768"/>
            <a:ext cx="3657600" cy="18288"/>
          </a:xfrm>
          <a:prstGeom prst="rect">
            <a:avLst/>
          </a:prstGeom>
          <a:solidFill>
            <a:srgbClr val="1F4A7A"/>
          </a:solidFill>
          <a:ln w="12700">
            <a:solidFill>
              <a:srgbClr val="1F4A7A"/>
            </a:solidFill>
            <a:prstDash val="solid"/>
          </a:ln>
        </p:spPr>
      </p:sp>
      <p:sp>
        <p:nvSpPr>
          <p:cNvPr id="34" name="Text 32"/>
          <p:cNvSpPr/>
          <p:nvPr/>
        </p:nvSpPr>
        <p:spPr>
          <a:xfrm>
            <a:off x="47548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Each fold preserves the 22.12% default rate — guards against lucky/unlucky single splits and measures model stability</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Performance Results</a:t>
            </a:r>
            <a:endParaRPr lang="en-US" sz="2600"/>
          </a:p>
        </p:txBody>
      </p:sp>
      <p:sp>
        <p:nvSpPr>
          <p:cNvPr id="4" name="Text 2"/>
          <p:cNvSpPr/>
          <p:nvPr/>
        </p:nvSpPr>
        <p:spPr>
          <a:xfrm>
            <a:off x="457200" y="841248"/>
            <a:ext cx="8229600" cy="27432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6,000-sample stratified test set  |  * Metrics for Default (1) class</a:t>
            </a:r>
            <a:endParaRPr lang="en-US" sz="11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57200">
                <a:tc>
                  <a:txBody>
                    <a:bodyPr/>
                    <a:lstStyle/>
                    <a:p>
                      <a:pPr marL="0" indent="0" algn="ctr">
                        <a:buNone/>
                      </a:pPr>
                      <a:r>
                        <a:rPr lang="en-US" sz="1200" b="1">
                          <a:solidFill>
                            <a:srgbClr val="FFFFFF"/>
                          </a:solidFill>
                        </a:rPr>
                        <a:t>Model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Accuracy</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Precision*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Recall*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F1-Score*</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ROC-AUC</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CV AUC (5-fold)</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57200">
                <a:tc>
                  <a:txBody>
                    <a:bodyPr/>
                    <a:lstStyle/>
                    <a:p>
                      <a:pPr marL="0" indent="0" algn="l">
                        <a:buNone/>
                      </a:pPr>
                      <a:r>
                        <a:rPr lang="en-US" sz="1200">
                          <a:solidFill>
                            <a:srgbClr val="000000"/>
                          </a:solidFill>
                        </a:rPr>
                        <a:t>Logistic Regression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0.6795</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0.3671</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1565C0"/>
                          </a:solidFill>
                        </a:rPr>
                        <a:t>0.6202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0.4612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0.7084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0.7264 ± 0.011</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200">
                          <a:solidFill>
                            <a:srgbClr val="000000"/>
                          </a:solidFill>
                        </a:rPr>
                        <a:t>Gaussian Naive Bayes</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0.7518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0.4504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0.5539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0.4968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0.7248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0.7365 ± 0.010</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200" b="1">
                          <a:solidFill>
                            <a:srgbClr val="00695C"/>
                          </a:solidFill>
                        </a:rPr>
                        <a:t>Decision Tree ✓</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0.7723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0.4870</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0.5516</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0.5173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0.7589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b="1">
                          <a:solidFill>
                            <a:srgbClr val="00695C"/>
                          </a:solidFill>
                        </a:rPr>
                        <a:t>0.7577 ± 0.007</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365760"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7" name="Shape 4"/>
          <p:cNvSpPr/>
          <p:nvPr/>
        </p:nvSpPr>
        <p:spPr>
          <a:xfrm>
            <a:off x="365760" y="3611880"/>
            <a:ext cx="1920240" cy="45720"/>
          </a:xfrm>
          <a:prstGeom prst="rect">
            <a:avLst/>
          </a:prstGeom>
          <a:solidFill>
            <a:srgbClr val="00695C"/>
          </a:solidFill>
          <a:ln w="12700">
            <a:solidFill>
              <a:srgbClr val="00695C"/>
            </a:solidFill>
            <a:prstDash val="solid"/>
          </a:ln>
        </p:spPr>
        <p:txBody>
          <a:bodyPr/>
          <a:p/>
        </p:txBody>
      </p:sp>
      <p:sp>
        <p:nvSpPr>
          <p:cNvPr id="5" name="Text 5"/>
          <p:cNvSpPr/>
          <p:nvPr/>
        </p:nvSpPr>
        <p:spPr>
          <a:xfrm>
            <a:off x="365760" y="3675888"/>
            <a:ext cx="1920240" cy="228600"/>
          </a:xfrm>
          <a:prstGeom prst="rect">
            <a:avLst/>
          </a:prstGeom>
          <a:noFill/>
          <a:ln/>
        </p:spPr>
        <p:txBody>
          <a:bodyPr wrap="square" rtlCol="0" anchor="ctr"/>
          <a:lstStyle/>
          <a:p>
            <a:pPr marL="0" indent="0" algn="ctr">
              <a:buNone/>
            </a:pPr>
            <a:r>
              <a:rPr lang="en-US" sz="800" b="1" kern="0" spc="200">
                <a:solidFill>
                  <a:srgbClr val="00695C"/>
                </a:solidFill>
                <a:latin typeface="Calibri" pitchFamily="34" charset="0"/>
                <a:ea typeface="Calibri" pitchFamily="34" charset="-122"/>
                <a:cs typeface="Calibri" pitchFamily="34" charset="-120"/>
              </a:rPr>
              <a:t>BEST F1</a:t>
            </a:r>
            <a:endParaRPr lang="en-US" sz="800"/>
          </a:p>
        </p:txBody>
      </p:sp>
      <p:sp>
        <p:nvSpPr>
          <p:cNvPr id="9" name="Text 6"/>
          <p:cNvSpPr/>
          <p:nvPr/>
        </p:nvSpPr>
        <p:spPr>
          <a:xfrm>
            <a:off x="365760"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0.5173</a:t>
            </a:r>
            <a:endParaRPr lang="en-US" sz="2600"/>
          </a:p>
        </p:txBody>
      </p:sp>
      <p:sp>
        <p:nvSpPr>
          <p:cNvPr id="10" name="Text 7"/>
          <p:cNvSpPr/>
          <p:nvPr/>
        </p:nvSpPr>
        <p:spPr>
          <a:xfrm>
            <a:off x="365760"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1" name="Shape 8"/>
          <p:cNvSpPr/>
          <p:nvPr/>
        </p:nvSpPr>
        <p:spPr>
          <a:xfrm>
            <a:off x="2487168"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2" name="Shape 9"/>
          <p:cNvSpPr/>
          <p:nvPr/>
        </p:nvSpPr>
        <p:spPr>
          <a:xfrm>
            <a:off x="2487168" y="3611880"/>
            <a:ext cx="1920240" cy="45720"/>
          </a:xfrm>
          <a:prstGeom prst="rect">
            <a:avLst/>
          </a:prstGeom>
          <a:solidFill>
            <a:srgbClr val="00B8D4"/>
          </a:solidFill>
          <a:ln w="12700">
            <a:solidFill>
              <a:srgbClr val="00B8D4"/>
            </a:solidFill>
            <a:prstDash val="solid"/>
          </a:ln>
        </p:spPr>
        <p:txBody>
          <a:bodyPr/>
          <a:p/>
        </p:txBody>
      </p:sp>
      <p:sp>
        <p:nvSpPr>
          <p:cNvPr id="13" name="Text 10"/>
          <p:cNvSpPr/>
          <p:nvPr/>
        </p:nvSpPr>
        <p:spPr>
          <a:xfrm>
            <a:off x="2487168" y="3675888"/>
            <a:ext cx="1920240" cy="228600"/>
          </a:xfrm>
          <a:prstGeom prst="rect">
            <a:avLst/>
          </a:prstGeom>
          <a:noFill/>
          <a:ln/>
        </p:spPr>
        <p:txBody>
          <a:bodyPr wrap="square" rtlCol="0" anchor="ctr"/>
          <a:lstStyle/>
          <a:p>
            <a:pPr marL="0" indent="0" algn="ctr">
              <a:buNone/>
            </a:pPr>
            <a:r>
              <a:rPr lang="en-US" sz="800" b="1" kern="0" spc="200">
                <a:solidFill>
                  <a:srgbClr val="00B8D4"/>
                </a:solidFill>
                <a:latin typeface="Calibri" pitchFamily="34" charset="0"/>
                <a:ea typeface="Calibri" pitchFamily="34" charset="-122"/>
                <a:cs typeface="Calibri" pitchFamily="34" charset="-120"/>
              </a:rPr>
              <a:t>BEST AUC</a:t>
            </a:r>
            <a:endParaRPr lang="en-US" sz="800"/>
          </a:p>
        </p:txBody>
      </p:sp>
      <p:sp>
        <p:nvSpPr>
          <p:cNvPr id="14" name="Text 11"/>
          <p:cNvSpPr/>
          <p:nvPr/>
        </p:nvSpPr>
        <p:spPr>
          <a:xfrm>
            <a:off x="2487168"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0.7589</a:t>
            </a:r>
            <a:endParaRPr lang="en-US" sz="2600"/>
          </a:p>
        </p:txBody>
      </p:sp>
      <p:sp>
        <p:nvSpPr>
          <p:cNvPr id="15" name="Text 12"/>
          <p:cNvSpPr/>
          <p:nvPr/>
        </p:nvSpPr>
        <p:spPr>
          <a:xfrm>
            <a:off x="2487168"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6" name="Shape 13"/>
          <p:cNvSpPr/>
          <p:nvPr/>
        </p:nvSpPr>
        <p:spPr>
          <a:xfrm>
            <a:off x="4608576"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7" name="Shape 14"/>
          <p:cNvSpPr/>
          <p:nvPr/>
        </p:nvSpPr>
        <p:spPr>
          <a:xfrm>
            <a:off x="4608576" y="3611880"/>
            <a:ext cx="1920240" cy="45720"/>
          </a:xfrm>
          <a:prstGeom prst="rect">
            <a:avLst/>
          </a:prstGeom>
          <a:solidFill>
            <a:srgbClr val="1565C0"/>
          </a:solidFill>
          <a:ln w="12700">
            <a:solidFill>
              <a:srgbClr val="1565C0"/>
            </a:solidFill>
            <a:prstDash val="solid"/>
          </a:ln>
        </p:spPr>
        <p:txBody>
          <a:bodyPr/>
          <a:p/>
        </p:txBody>
      </p:sp>
      <p:sp>
        <p:nvSpPr>
          <p:cNvPr id="18" name="Text 15"/>
          <p:cNvSpPr/>
          <p:nvPr/>
        </p:nvSpPr>
        <p:spPr>
          <a:xfrm>
            <a:off x="4608576" y="3675888"/>
            <a:ext cx="1920240" cy="228600"/>
          </a:xfrm>
          <a:prstGeom prst="rect">
            <a:avLst/>
          </a:prstGeom>
          <a:noFill/>
          <a:ln/>
        </p:spPr>
        <p:txBody>
          <a:bodyPr wrap="square" rtlCol="0" anchor="ctr"/>
          <a:lstStyle/>
          <a:p>
            <a:pPr marL="0" indent="0" algn="ctr">
              <a:buNone/>
            </a:pPr>
            <a:r>
              <a:rPr lang="en-US" sz="800" b="1" kern="0" spc="200">
                <a:solidFill>
                  <a:srgbClr val="1565C0"/>
                </a:solidFill>
                <a:latin typeface="Calibri" pitchFamily="34" charset="0"/>
                <a:ea typeface="Calibri" pitchFamily="34" charset="-122"/>
                <a:cs typeface="Calibri" pitchFamily="34" charset="-120"/>
              </a:rPr>
              <a:t>BEST RECALL</a:t>
            </a:r>
            <a:endParaRPr lang="en-US" sz="800"/>
          </a:p>
        </p:txBody>
      </p:sp>
      <p:sp>
        <p:nvSpPr>
          <p:cNvPr id="19" name="Text 16"/>
          <p:cNvSpPr/>
          <p:nvPr/>
        </p:nvSpPr>
        <p:spPr>
          <a:xfrm>
            <a:off x="4608576"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0.6202</a:t>
            </a:r>
            <a:endParaRPr lang="en-US" sz="2600"/>
          </a:p>
        </p:txBody>
      </p:sp>
      <p:sp>
        <p:nvSpPr>
          <p:cNvPr id="20" name="Text 17"/>
          <p:cNvSpPr/>
          <p:nvPr/>
        </p:nvSpPr>
        <p:spPr>
          <a:xfrm>
            <a:off x="4608576"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Logistic Regression</a:t>
            </a:r>
            <a:endParaRPr lang="en-US" sz="900"/>
          </a:p>
        </p:txBody>
      </p:sp>
      <p:sp>
        <p:nvSpPr>
          <p:cNvPr id="21" name="Shape 18"/>
          <p:cNvSpPr/>
          <p:nvPr/>
        </p:nvSpPr>
        <p:spPr>
          <a:xfrm>
            <a:off x="6729984"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22" name="Shape 19"/>
          <p:cNvSpPr/>
          <p:nvPr/>
        </p:nvSpPr>
        <p:spPr>
          <a:xfrm>
            <a:off x="6729984" y="3611880"/>
            <a:ext cx="1920240" cy="45720"/>
          </a:xfrm>
          <a:prstGeom prst="rect">
            <a:avLst/>
          </a:prstGeom>
          <a:solidFill>
            <a:srgbClr val="FFB300"/>
          </a:solidFill>
          <a:ln w="12700">
            <a:solidFill>
              <a:srgbClr val="FFB300"/>
            </a:solidFill>
            <a:prstDash val="solid"/>
          </a:ln>
        </p:spPr>
        <p:txBody>
          <a:bodyPr/>
          <a:p/>
        </p:txBody>
      </p:sp>
      <p:sp>
        <p:nvSpPr>
          <p:cNvPr id="23" name="Text 20"/>
          <p:cNvSpPr/>
          <p:nvPr/>
        </p:nvSpPr>
        <p:spPr>
          <a:xfrm>
            <a:off x="6729984" y="3675888"/>
            <a:ext cx="1920240" cy="228600"/>
          </a:xfrm>
          <a:prstGeom prst="rect">
            <a:avLst/>
          </a:prstGeom>
          <a:noFill/>
          <a:ln/>
        </p:spPr>
        <p:txBody>
          <a:bodyPr wrap="square" rtlCol="0" anchor="ctr"/>
          <a:lstStyle/>
          <a:p>
            <a:pPr marL="0" indent="0" algn="ctr">
              <a:buNone/>
            </a:pPr>
            <a:r>
              <a:rPr lang="en-US" sz="800" b="1" kern="0" spc="200">
                <a:solidFill>
                  <a:srgbClr val="FFB300"/>
                </a:solidFill>
                <a:latin typeface="Calibri" pitchFamily="34" charset="0"/>
                <a:ea typeface="Calibri" pitchFamily="34" charset="-122"/>
                <a:cs typeface="Calibri" pitchFamily="34" charset="-120"/>
              </a:rPr>
              <a:t>LOWEST CV VARIANCE</a:t>
            </a:r>
            <a:endParaRPr lang="en-US" sz="800"/>
          </a:p>
        </p:txBody>
      </p:sp>
      <p:sp>
        <p:nvSpPr>
          <p:cNvPr id="24" name="Text 21"/>
          <p:cNvSpPr/>
          <p:nvPr/>
        </p:nvSpPr>
        <p:spPr>
          <a:xfrm>
            <a:off x="6729984"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±0.007</a:t>
            </a:r>
            <a:endParaRPr lang="en-US" sz="2600"/>
          </a:p>
        </p:txBody>
      </p:sp>
      <p:sp>
        <p:nvSpPr>
          <p:cNvPr id="25" name="Text 22"/>
          <p:cNvSpPr/>
          <p:nvPr/>
        </p:nvSpPr>
        <p:spPr>
          <a:xfrm>
            <a:off x="6729984"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 – most stable</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2137"/>
          </a:solidFill>
          <a:ln w="12700">
            <a:solidFill>
              <a:srgbClr val="0D2137"/>
            </a:solidFill>
            <a:prstDash val="solid"/>
          </a:ln>
        </p:spPr>
      </p:sp>
      <p:sp>
        <p:nvSpPr>
          <p:cNvPr id="3" name="Text 1"/>
          <p:cNvSpPr/>
          <p:nvPr/>
        </p:nvSpPr>
        <p:spPr>
          <a:xfrm>
            <a:off x="457200" y="45720"/>
            <a:ext cx="8229600" cy="64008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Visual Performance Comparison</a:t>
            </a:r>
            <a:endParaRPr lang="en-US" sz="2600"/>
          </a:p>
        </p:txBody>
      </p:sp>
      <p:graphicFrame>
        <p:nvGraphicFramePr>
          <p:cNvPr id="4" name="Chart 0"/>
          <p:cNvGraphicFramePr/>
          <p:nvPr/>
        </p:nvGraphicFramePr>
        <p:xfrm>
          <a:off x="365760" y="822960"/>
          <a:ext cx="8412480" cy="4023360"/>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4" descr="fig_08_model_comparison_roc.png"/>
          <p:cNvPicPr>
            <a:picLocks noChangeAspect="1"/>
          </p:cNvPicPr>
          <p:nvPr/>
        </p:nvPicPr>
        <p:blipFill>
          <a:blip r:embed="rId4"/>
          <a:stretch>
            <a:fillRect/>
          </a:stretch>
        </p:blipFill>
        <p:spPr>
          <a:xfrm>
            <a:off x="228600" y="1005840"/>
            <a:ext cx="8503920" cy="5120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The Dominant Predictor: PAY_0</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txBody>
          <a:bodyPr/>
          <a:p/>
        </p:txBody>
      </p:sp>
      <p:sp>
        <p:nvSpPr>
          <p:cNvPr id="4" name="Text 2"/>
          <p:cNvSpPr/>
          <p:nvPr/>
        </p:nvSpPr>
        <p:spPr>
          <a:xfrm>
            <a:off x="457200" y="850392"/>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Decision Tree — Gini Feature Importance  |  PAY_0 = most recent month repayment status</a:t>
            </a:r>
            <a:endParaRPr lang="en-US" sz="1100"/>
          </a:p>
        </p:txBody>
      </p:sp>
      <p:graphicFrame>
        <p:nvGraphicFramePr>
          <p:cNvPr id="5" name="Chart 0"/>
          <p:cNvGraphicFramePr/>
          <p:nvPr/>
        </p:nvGraphicFramePr>
        <p:xfrm>
          <a:off x="274320" y="118872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23444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7" name="Shape 4"/>
          <p:cNvSpPr/>
          <p:nvPr/>
        </p:nvSpPr>
        <p:spPr>
          <a:xfrm>
            <a:off x="5577840" y="1234440"/>
            <a:ext cx="54864" cy="896112"/>
          </a:xfrm>
          <a:prstGeom prst="rect">
            <a:avLst/>
          </a:prstGeom>
          <a:solidFill>
            <a:srgbClr val="00B8D4"/>
          </a:solidFill>
          <a:ln w="12700">
            <a:solidFill>
              <a:srgbClr val="00B8D4"/>
            </a:solidFill>
            <a:prstDash val="solid"/>
          </a:ln>
        </p:spPr>
        <p:txBody>
          <a:bodyPr/>
          <a:p/>
        </p:txBody>
      </p:sp>
      <p:sp>
        <p:nvSpPr>
          <p:cNvPr id="8" name="Text 5"/>
          <p:cNvSpPr/>
          <p:nvPr/>
        </p:nvSpPr>
        <p:spPr>
          <a:xfrm>
            <a:off x="5687568" y="128016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74.61%</a:t>
            </a:r>
            <a:endParaRPr lang="en-US" sz="2000"/>
          </a:p>
        </p:txBody>
      </p:sp>
      <p:sp>
        <p:nvSpPr>
          <p:cNvPr id="9" name="Text 6"/>
          <p:cNvSpPr/>
          <p:nvPr/>
        </p:nvSpPr>
        <p:spPr>
          <a:xfrm>
            <a:off x="5687568" y="162763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PAY_0 Gini Importance</a:t>
            </a:r>
            <a:endParaRPr lang="en-US" sz="1100"/>
          </a:p>
        </p:txBody>
      </p:sp>
      <p:sp>
        <p:nvSpPr>
          <p:cNvPr id="10" name="Text 7"/>
          <p:cNvSpPr/>
          <p:nvPr/>
        </p:nvSpPr>
        <p:spPr>
          <a:xfrm>
            <a:off x="5687568" y="182880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More than all other 22 features combined</a:t>
            </a:r>
            <a:endParaRPr lang="en-US" sz="1000"/>
          </a:p>
        </p:txBody>
      </p:sp>
      <p:sp>
        <p:nvSpPr>
          <p:cNvPr id="11" name="Shape 8"/>
          <p:cNvSpPr/>
          <p:nvPr/>
        </p:nvSpPr>
        <p:spPr>
          <a:xfrm>
            <a:off x="5577840" y="224028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2" name="Shape 9"/>
          <p:cNvSpPr/>
          <p:nvPr/>
        </p:nvSpPr>
        <p:spPr>
          <a:xfrm>
            <a:off x="5577840" y="2240280"/>
            <a:ext cx="54864" cy="896112"/>
          </a:xfrm>
          <a:prstGeom prst="rect">
            <a:avLst/>
          </a:prstGeom>
          <a:solidFill>
            <a:srgbClr val="00B8D4"/>
          </a:solidFill>
          <a:ln w="12700">
            <a:solidFill>
              <a:srgbClr val="00B8D4"/>
            </a:solidFill>
            <a:prstDash val="solid"/>
          </a:ln>
        </p:spPr>
        <p:txBody>
          <a:bodyPr/>
          <a:p/>
        </p:txBody>
      </p:sp>
      <p:sp>
        <p:nvSpPr>
          <p:cNvPr id="13" name="Text 10"/>
          <p:cNvSpPr/>
          <p:nvPr/>
        </p:nvSpPr>
        <p:spPr>
          <a:xfrm>
            <a:off x="5687568" y="228600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Top 3</a:t>
            </a:r>
            <a:endParaRPr lang="en-US" sz="2000"/>
          </a:p>
        </p:txBody>
      </p:sp>
      <p:sp>
        <p:nvSpPr>
          <p:cNvPr id="14" name="Text 11"/>
          <p:cNvSpPr/>
          <p:nvPr/>
        </p:nvSpPr>
        <p:spPr>
          <a:xfrm>
            <a:off x="5687568" y="263347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All payment history vars</a:t>
            </a:r>
            <a:endParaRPr lang="en-US" sz="1100"/>
          </a:p>
        </p:txBody>
      </p:sp>
      <p:sp>
        <p:nvSpPr>
          <p:cNvPr id="15" name="Text 12"/>
          <p:cNvSpPr/>
          <p:nvPr/>
        </p:nvSpPr>
        <p:spPr>
          <a:xfrm>
            <a:off x="5687568" y="283464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PAY_0, PAY_AMT2, PAY_4</a:t>
            </a:r>
            <a:endParaRPr lang="en-US" sz="1000"/>
          </a:p>
        </p:txBody>
      </p:sp>
      <p:sp>
        <p:nvSpPr>
          <p:cNvPr id="16" name="Shape 13"/>
          <p:cNvSpPr/>
          <p:nvPr/>
        </p:nvSpPr>
        <p:spPr>
          <a:xfrm>
            <a:off x="5577840" y="324612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7" name="Shape 14"/>
          <p:cNvSpPr/>
          <p:nvPr/>
        </p:nvSpPr>
        <p:spPr>
          <a:xfrm>
            <a:off x="5577840" y="3246120"/>
            <a:ext cx="54864" cy="896112"/>
          </a:xfrm>
          <a:prstGeom prst="rect">
            <a:avLst/>
          </a:prstGeom>
          <a:solidFill>
            <a:srgbClr val="00B8D4"/>
          </a:solidFill>
          <a:ln w="12700">
            <a:solidFill>
              <a:srgbClr val="00B8D4"/>
            </a:solidFill>
            <a:prstDash val="solid"/>
          </a:ln>
        </p:spPr>
        <p:txBody>
          <a:bodyPr/>
          <a:p/>
        </p:txBody>
      </p:sp>
      <p:sp>
        <p:nvSpPr>
          <p:cNvPr id="18" name="Text 15"/>
          <p:cNvSpPr/>
          <p:nvPr/>
        </p:nvSpPr>
        <p:spPr>
          <a:xfrm>
            <a:off x="5687568" y="329184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 Verified</a:t>
            </a:r>
            <a:endParaRPr lang="en-US" sz="2000"/>
          </a:p>
        </p:txBody>
      </p:sp>
      <p:sp>
        <p:nvSpPr>
          <p:cNvPr id="19" name="Text 16"/>
          <p:cNvSpPr/>
          <p:nvPr/>
        </p:nvSpPr>
        <p:spPr>
          <a:xfrm>
            <a:off x="5687568" y="363931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Yeh &amp; Lien (2009)</a:t>
            </a:r>
            <a:endParaRPr lang="en-US" sz="1100"/>
          </a:p>
        </p:txBody>
      </p:sp>
      <p:sp>
        <p:nvSpPr>
          <p:cNvPr id="20" name="Text 17"/>
          <p:cNvSpPr/>
          <p:nvPr/>
        </p:nvSpPr>
        <p:spPr>
          <a:xfrm>
            <a:off x="5687568" y="384048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Original paper confirmed same finding</a:t>
            </a:r>
            <a:endParaRPr lang="en-US" sz="1000"/>
          </a:p>
        </p:txBody>
      </p:sp>
      <p:sp>
        <p:nvSpPr>
          <p:cNvPr id="21" name="Shape 18"/>
          <p:cNvSpPr/>
          <p:nvPr/>
        </p:nvSpPr>
        <p:spPr>
          <a:xfrm>
            <a:off x="5577840" y="4297680"/>
            <a:ext cx="3291840" cy="594360"/>
          </a:xfrm>
          <a:prstGeom prst="rect">
            <a:avLst/>
          </a:prstGeom>
          <a:solidFill>
            <a:srgbClr val="1A2D1A"/>
          </a:solidFill>
          <a:ln w="12700">
            <a:solidFill>
              <a:srgbClr val="00C853"/>
            </a:solidFill>
            <a:prstDash val="solid"/>
          </a:ln>
        </p:spPr>
        <p:txBody>
          <a:bodyPr/>
          <a:p/>
        </p:txBody>
      </p:sp>
      <p:sp>
        <p:nvSpPr>
          <p:cNvPr id="22" name="Text 19"/>
          <p:cNvSpPr/>
          <p:nvPr/>
        </p:nvSpPr>
        <p:spPr>
          <a:xfrm>
            <a:off x="5669280" y="4325112"/>
            <a:ext cx="3108960" cy="530352"/>
          </a:xfrm>
          <a:prstGeom prst="rect">
            <a:avLst/>
          </a:prstGeom>
          <a:noFill/>
          <a:ln/>
        </p:spPr>
        <p:txBody>
          <a:bodyPr wrap="square" rtlCol="0" anchor="ctr"/>
          <a:lstStyle/>
          <a:p>
            <a:pPr marL="0" indent="0">
              <a:buNone/>
            </a:pPr>
            <a:r>
              <a:rPr lang="en-US" sz="1100" i="1">
                <a:solidFill>
                  <a:srgbClr val="FFB300"/>
                </a:solidFill>
                <a:latin typeface="Calibri" pitchFamily="34" charset="0"/>
                <a:ea typeface="Calibri" pitchFamily="34" charset="-122"/>
                <a:cs typeface="Calibri" pitchFamily="34" charset="-120"/>
              </a:rPr>
              <a:t>If you paid late last month → you're likely to default next month.</a:t>
            </a:r>
            <a:endParaRPr lang="en-US" sz="1100"/>
          </a:p>
        </p:txBody>
      </p:sp>
      <p:pic>
        <p:nvPicPr>
          <p:cNvPr id="23" name="Picture 22" descr="fig_09_feature_importance.png"/>
          <p:cNvPicPr>
            <a:picLocks noChangeAspect="1"/>
          </p:cNvPicPr>
          <p:nvPr/>
        </p:nvPicPr>
        <p:blipFill>
          <a:blip r:embed="rId4"/>
          <a:stretch>
            <a:fillRect/>
          </a:stretch>
        </p:blipFill>
        <p:spPr>
          <a:xfrm>
            <a:off x="4480560" y="1188720"/>
            <a:ext cx="4480560" cy="4937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PCA &amp; Dimensionality Insights</a:t>
            </a:r>
            <a:endParaRPr lang="en-US" sz="2600"/>
          </a:p>
        </p:txBody>
      </p:sp>
      <p:graphicFrame>
        <p:nvGraphicFramePr>
          <p:cNvPr id="4" name="Chart 0"/>
          <p:cNvGraphicFramePr/>
          <p:nvPr/>
        </p:nvGraphicFramePr>
        <p:xfrm>
          <a:off x="365760" y="914400"/>
          <a:ext cx="50292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577840" y="960120"/>
            <a:ext cx="3291840" cy="36576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Variance Thresholds</a:t>
            </a:r>
            <a:endParaRPr lang="en-US" sz="1400"/>
          </a:p>
        </p:txBody>
      </p:sp>
      <p:sp>
        <p:nvSpPr>
          <p:cNvPr id="6" name="Shape 3"/>
          <p:cNvSpPr/>
          <p:nvPr/>
        </p:nvSpPr>
        <p:spPr>
          <a:xfrm>
            <a:off x="5577840" y="14173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7" name="Shape 4"/>
          <p:cNvSpPr/>
          <p:nvPr/>
        </p:nvSpPr>
        <p:spPr>
          <a:xfrm>
            <a:off x="5577840" y="1417320"/>
            <a:ext cx="54864" cy="548640"/>
          </a:xfrm>
          <a:prstGeom prst="rect">
            <a:avLst/>
          </a:prstGeom>
          <a:solidFill>
            <a:srgbClr val="1565C0"/>
          </a:solidFill>
          <a:ln w="12700">
            <a:solidFill>
              <a:srgbClr val="1565C0"/>
            </a:solidFill>
            <a:prstDash val="solid"/>
          </a:ln>
        </p:spPr>
        <p:txBody>
          <a:bodyPr/>
          <a:p/>
        </p:txBody>
      </p:sp>
      <p:sp>
        <p:nvSpPr>
          <p:cNvPr id="8" name="Text 5"/>
          <p:cNvSpPr/>
          <p:nvPr/>
        </p:nvSpPr>
        <p:spPr>
          <a:xfrm>
            <a:off x="5687568" y="14447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90% variance</a:t>
            </a:r>
            <a:endParaRPr lang="en-US" sz="1300"/>
          </a:p>
        </p:txBody>
      </p:sp>
      <p:sp>
        <p:nvSpPr>
          <p:cNvPr id="9" name="Text 6"/>
          <p:cNvSpPr/>
          <p:nvPr/>
        </p:nvSpPr>
        <p:spPr>
          <a:xfrm>
            <a:off x="5687568" y="16824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13 components needed</a:t>
            </a:r>
            <a:endParaRPr lang="en-US" sz="1100"/>
          </a:p>
        </p:txBody>
      </p:sp>
      <p:sp>
        <p:nvSpPr>
          <p:cNvPr id="10" name="Shape 7"/>
          <p:cNvSpPr/>
          <p:nvPr/>
        </p:nvSpPr>
        <p:spPr>
          <a:xfrm>
            <a:off x="5577840" y="21031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1" name="Shape 8"/>
          <p:cNvSpPr/>
          <p:nvPr/>
        </p:nvSpPr>
        <p:spPr>
          <a:xfrm>
            <a:off x="5577840" y="2103120"/>
            <a:ext cx="54864" cy="548640"/>
          </a:xfrm>
          <a:prstGeom prst="rect">
            <a:avLst/>
          </a:prstGeom>
          <a:solidFill>
            <a:srgbClr val="00B8D4"/>
          </a:solidFill>
          <a:ln w="12700">
            <a:solidFill>
              <a:srgbClr val="00B8D4"/>
            </a:solidFill>
            <a:prstDash val="solid"/>
          </a:ln>
        </p:spPr>
        <p:txBody>
          <a:bodyPr/>
          <a:p/>
        </p:txBody>
      </p:sp>
      <p:sp>
        <p:nvSpPr>
          <p:cNvPr id="12" name="Text 9"/>
          <p:cNvSpPr/>
          <p:nvPr/>
        </p:nvSpPr>
        <p:spPr>
          <a:xfrm>
            <a:off x="5687568" y="21305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95% variance</a:t>
            </a:r>
            <a:endParaRPr lang="en-US" sz="1300"/>
          </a:p>
        </p:txBody>
      </p:sp>
      <p:sp>
        <p:nvSpPr>
          <p:cNvPr id="13" name="Text 10"/>
          <p:cNvSpPr/>
          <p:nvPr/>
        </p:nvSpPr>
        <p:spPr>
          <a:xfrm>
            <a:off x="5687568" y="23682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15 components needed</a:t>
            </a:r>
            <a:endParaRPr lang="en-US" sz="1100"/>
          </a:p>
        </p:txBody>
      </p:sp>
      <p:sp>
        <p:nvSpPr>
          <p:cNvPr id="14" name="Shape 11"/>
          <p:cNvSpPr/>
          <p:nvPr/>
        </p:nvSpPr>
        <p:spPr>
          <a:xfrm>
            <a:off x="5577840" y="27889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p/>
        </p:txBody>
      </p:sp>
      <p:sp>
        <p:nvSpPr>
          <p:cNvPr id="15" name="Shape 12"/>
          <p:cNvSpPr/>
          <p:nvPr/>
        </p:nvSpPr>
        <p:spPr>
          <a:xfrm>
            <a:off x="5577840" y="2788920"/>
            <a:ext cx="54864" cy="548640"/>
          </a:xfrm>
          <a:prstGeom prst="rect">
            <a:avLst/>
          </a:prstGeom>
          <a:solidFill>
            <a:srgbClr val="FFB300"/>
          </a:solidFill>
          <a:ln w="12700">
            <a:solidFill>
              <a:srgbClr val="FFB300"/>
            </a:solidFill>
            <a:prstDash val="solid"/>
          </a:ln>
        </p:spPr>
        <p:txBody>
          <a:bodyPr/>
          <a:p/>
        </p:txBody>
      </p:sp>
      <p:sp>
        <p:nvSpPr>
          <p:cNvPr id="16" name="Text 13"/>
          <p:cNvSpPr/>
          <p:nvPr/>
        </p:nvSpPr>
        <p:spPr>
          <a:xfrm>
            <a:off x="5687568" y="28163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99% variance</a:t>
            </a:r>
            <a:endParaRPr lang="en-US" sz="1300"/>
          </a:p>
        </p:txBody>
      </p:sp>
      <p:sp>
        <p:nvSpPr>
          <p:cNvPr id="17" name="Text 14"/>
          <p:cNvSpPr/>
          <p:nvPr/>
        </p:nvSpPr>
        <p:spPr>
          <a:xfrm>
            <a:off x="5687568" y="30540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19 components needed</a:t>
            </a:r>
            <a:endParaRPr lang="en-US" sz="1100"/>
          </a:p>
        </p:txBody>
      </p:sp>
      <p:sp>
        <p:nvSpPr>
          <p:cNvPr id="18" name="Text 15"/>
          <p:cNvSpPr/>
          <p:nvPr/>
        </p:nvSpPr>
        <p:spPr>
          <a:xfrm>
            <a:off x="5577840" y="3566160"/>
            <a:ext cx="3291840" cy="274320"/>
          </a:xfrm>
          <a:prstGeom prst="rect">
            <a:avLst/>
          </a:prstGeom>
          <a:noFill/>
          <a:ln/>
        </p:spPr>
        <p:txBody>
          <a:bodyPr wrap="square" rtlCol="0" anchor="ctr"/>
          <a:lstStyle/>
          <a:p>
            <a:pPr marL="0" indent="0">
              <a:buNone/>
            </a:pPr>
            <a:r>
              <a:rPr lang="en-US" sz="1200" b="1">
                <a:solidFill>
                  <a:srgbClr val="0D2137"/>
                </a:solidFill>
                <a:latin typeface="Calibri" pitchFamily="34" charset="0"/>
                <a:ea typeface="Calibri" pitchFamily="34" charset="-122"/>
                <a:cs typeface="Calibri" pitchFamily="34" charset="-120"/>
              </a:rPr>
              <a:t>What this tells us:</a:t>
            </a:r>
            <a:endParaRPr lang="en-US" sz="1200"/>
          </a:p>
        </p:txBody>
      </p:sp>
      <p:sp>
        <p:nvSpPr>
          <p:cNvPr id="19" name="Text 16"/>
          <p:cNvSpPr/>
          <p:nvPr/>
        </p:nvSpPr>
        <p:spPr>
          <a:xfrm>
            <a:off x="5577840" y="3886200"/>
            <a:ext cx="3291840" cy="91440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 Dataset has moderate correlations — not strongly reducible
• Classes overlap in 2D PCA space — confirms non-linear boundaries
• Explains why Decision Tree outperforms Logistic Regression</a:t>
            </a:r>
            <a:endParaRPr lang="en-US" sz="1050"/>
          </a:p>
        </p:txBody>
      </p:sp>
      <p:pic>
        <p:nvPicPr>
          <p:cNvPr id="20" name="Picture 19" descr="fig_06_pca_variance.png"/>
          <p:cNvPicPr>
            <a:picLocks noChangeAspect="1"/>
          </p:cNvPicPr>
          <p:nvPr/>
        </p:nvPicPr>
        <p:blipFill>
          <a:blip r:embed="rId4"/>
          <a:stretch>
            <a:fillRect/>
          </a:stretch>
        </p:blipFill>
        <p:spPr>
          <a:xfrm>
            <a:off x="4480560" y="1188720"/>
            <a:ext cx="4480560" cy="4754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Critical Analysis &amp; Lessons</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txBody>
          <a:bodyPr/>
          <a:p/>
        </p:txBody>
      </p:sp>
      <p:sp>
        <p:nvSpPr>
          <p:cNvPr id="4" name="Shape 2"/>
          <p:cNvSpPr/>
          <p:nvPr/>
        </p:nvSpPr>
        <p:spPr>
          <a:xfrm>
            <a:off x="27432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5" name="Shape 3"/>
          <p:cNvSpPr/>
          <p:nvPr/>
        </p:nvSpPr>
        <p:spPr>
          <a:xfrm>
            <a:off x="384048" y="1188720"/>
            <a:ext cx="502920" cy="502920"/>
          </a:xfrm>
          <a:prstGeom prst="ellipse">
            <a:avLst/>
          </a:prstGeom>
          <a:solidFill>
            <a:srgbClr val="1565C0"/>
          </a:solidFill>
          <a:ln w="12700">
            <a:solidFill>
              <a:srgbClr val="1565C0"/>
            </a:solidFill>
            <a:prstDash val="solid"/>
          </a:ln>
        </p:spPr>
        <p:txBody>
          <a:bodyPr/>
          <a:p/>
        </p:txBody>
      </p:sp>
      <p:sp>
        <p:nvSpPr>
          <p:cNvPr id="6" name="Text 4"/>
          <p:cNvSpPr/>
          <p:nvPr/>
        </p:nvSpPr>
        <p:spPr>
          <a:xfrm>
            <a:off x="38404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LR</a:t>
            </a:r>
            <a:endParaRPr lang="en-US" sz="1100"/>
          </a:p>
        </p:txBody>
      </p:sp>
      <p:sp>
        <p:nvSpPr>
          <p:cNvPr id="7" name="Text 5"/>
          <p:cNvSpPr/>
          <p:nvPr/>
        </p:nvSpPr>
        <p:spPr>
          <a:xfrm>
            <a:off x="987552" y="1188720"/>
            <a:ext cx="3291840" cy="320040"/>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Logistic Regression</a:t>
            </a:r>
            <a:endParaRPr lang="en-US" sz="1300"/>
          </a:p>
        </p:txBody>
      </p:sp>
      <p:sp>
        <p:nvSpPr>
          <p:cNvPr id="8" name="Text 6"/>
          <p:cNvSpPr/>
          <p:nvPr/>
        </p:nvSpPr>
        <p:spPr>
          <a:xfrm>
            <a:off x="41148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Highest recall (0.62) — finds most defaulters</a:t>
            </a:r>
            <a:endParaRPr lang="en-US" sz="1100"/>
          </a:p>
        </p:txBody>
      </p:sp>
      <p:sp>
        <p:nvSpPr>
          <p:cNvPr id="9" name="Text 7"/>
          <p:cNvSpPr/>
          <p:nvPr/>
        </p:nvSpPr>
        <p:spPr>
          <a:xfrm>
            <a:off x="41148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But very low precision (0.37) — flags too many non-defaulters. Class imbalance handling essential.</a:t>
            </a:r>
            <a:endParaRPr lang="en-US" sz="1050"/>
          </a:p>
        </p:txBody>
      </p:sp>
      <p:sp>
        <p:nvSpPr>
          <p:cNvPr id="10" name="Shape 8"/>
          <p:cNvSpPr/>
          <p:nvPr/>
        </p:nvSpPr>
        <p:spPr>
          <a:xfrm>
            <a:off x="470916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1" name="Shape 9"/>
          <p:cNvSpPr/>
          <p:nvPr/>
        </p:nvSpPr>
        <p:spPr>
          <a:xfrm>
            <a:off x="4818888" y="1188720"/>
            <a:ext cx="502920" cy="502920"/>
          </a:xfrm>
          <a:prstGeom prst="ellipse">
            <a:avLst/>
          </a:prstGeom>
          <a:solidFill>
            <a:srgbClr val="9C27B0"/>
          </a:solidFill>
          <a:ln w="12700">
            <a:solidFill>
              <a:srgbClr val="9C27B0"/>
            </a:solidFill>
            <a:prstDash val="solid"/>
          </a:ln>
        </p:spPr>
        <p:txBody>
          <a:bodyPr/>
          <a:p/>
        </p:txBody>
      </p:sp>
      <p:sp>
        <p:nvSpPr>
          <p:cNvPr id="12" name="Text 10"/>
          <p:cNvSpPr/>
          <p:nvPr/>
        </p:nvSpPr>
        <p:spPr>
          <a:xfrm>
            <a:off x="481888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NB</a:t>
            </a:r>
            <a:endParaRPr lang="en-US" sz="1100"/>
          </a:p>
        </p:txBody>
      </p:sp>
      <p:sp>
        <p:nvSpPr>
          <p:cNvPr id="13" name="Text 11"/>
          <p:cNvSpPr/>
          <p:nvPr/>
        </p:nvSpPr>
        <p:spPr>
          <a:xfrm>
            <a:off x="5422392" y="1188720"/>
            <a:ext cx="3291840" cy="320040"/>
          </a:xfrm>
          <a:prstGeom prst="rect">
            <a:avLst/>
          </a:prstGeom>
          <a:noFill/>
          <a:ln/>
        </p:spPr>
        <p:txBody>
          <a:bodyPr wrap="square" rtlCol="0" anchor="ctr"/>
          <a:lstStyle/>
          <a:p>
            <a:pPr marL="0" indent="0">
              <a:buNone/>
            </a:pPr>
            <a:r>
              <a:rPr lang="en-US" sz="1300" b="1">
                <a:solidFill>
                  <a:srgbClr val="9C27B0"/>
                </a:solidFill>
                <a:latin typeface="Calibri" pitchFamily="34" charset="0"/>
                <a:ea typeface="Calibri" pitchFamily="34" charset="-122"/>
                <a:cs typeface="Calibri" pitchFamily="34" charset="-120"/>
              </a:rPr>
              <a:t>Gaussian Naive Bayes</a:t>
            </a:r>
            <a:endParaRPr lang="en-US" sz="1300"/>
          </a:p>
        </p:txBody>
      </p:sp>
      <p:sp>
        <p:nvSpPr>
          <p:cNvPr id="14" name="Text 12"/>
          <p:cNvSpPr/>
          <p:nvPr/>
        </p:nvSpPr>
        <p:spPr>
          <a:xfrm>
            <a:off x="484632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Moderate all-round but worst accuracy (0.75)</a:t>
            </a:r>
            <a:endParaRPr lang="en-US" sz="1100"/>
          </a:p>
        </p:txBody>
      </p:sp>
      <p:sp>
        <p:nvSpPr>
          <p:cNvPr id="15" name="Text 13"/>
          <p:cNvSpPr/>
          <p:nvPr/>
        </p:nvSpPr>
        <p:spPr>
          <a:xfrm>
            <a:off x="484632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Feature independence assumption strongly violated — correlations in PAY_AMT columns hurt performance significantly.</a:t>
            </a:r>
            <a:endParaRPr lang="en-US" sz="1050"/>
          </a:p>
        </p:txBody>
      </p:sp>
      <p:sp>
        <p:nvSpPr>
          <p:cNvPr id="16" name="Shape 14"/>
          <p:cNvSpPr/>
          <p:nvPr/>
        </p:nvSpPr>
        <p:spPr>
          <a:xfrm>
            <a:off x="27432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17" name="Shape 15"/>
          <p:cNvSpPr/>
          <p:nvPr/>
        </p:nvSpPr>
        <p:spPr>
          <a:xfrm>
            <a:off x="384048" y="3154680"/>
            <a:ext cx="502920" cy="502920"/>
          </a:xfrm>
          <a:prstGeom prst="ellipse">
            <a:avLst/>
          </a:prstGeom>
          <a:solidFill>
            <a:srgbClr val="00C853"/>
          </a:solidFill>
          <a:ln w="12700">
            <a:solidFill>
              <a:srgbClr val="00C853"/>
            </a:solidFill>
            <a:prstDash val="solid"/>
          </a:ln>
        </p:spPr>
        <p:txBody>
          <a:bodyPr/>
          <a:p/>
        </p:txBody>
      </p:sp>
      <p:sp>
        <p:nvSpPr>
          <p:cNvPr id="18" name="Text 16"/>
          <p:cNvSpPr/>
          <p:nvPr/>
        </p:nvSpPr>
        <p:spPr>
          <a:xfrm>
            <a:off x="38404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DT</a:t>
            </a:r>
            <a:endParaRPr lang="en-US" sz="1100"/>
          </a:p>
        </p:txBody>
      </p:sp>
      <p:sp>
        <p:nvSpPr>
          <p:cNvPr id="19" name="Text 17"/>
          <p:cNvSpPr/>
          <p:nvPr/>
        </p:nvSpPr>
        <p:spPr>
          <a:xfrm>
            <a:off x="987552" y="3154680"/>
            <a:ext cx="3291840" cy="320040"/>
          </a:xfrm>
          <a:prstGeom prst="rect">
            <a:avLst/>
          </a:prstGeom>
          <a:noFill/>
          <a:ln/>
        </p:spPr>
        <p:txBody>
          <a:bodyPr wrap="square" rtlCol="0" anchor="ctr"/>
          <a:lstStyle/>
          <a:p>
            <a:pPr marL="0" indent="0">
              <a:buNone/>
            </a:pPr>
            <a:r>
              <a:rPr lang="en-US" sz="1300" b="1">
                <a:solidFill>
                  <a:srgbClr val="00C853"/>
                </a:solidFill>
                <a:latin typeface="Calibri" pitchFamily="34" charset="0"/>
                <a:ea typeface="Calibri" pitchFamily="34" charset="-122"/>
                <a:cs typeface="Calibri" pitchFamily="34" charset="-120"/>
              </a:rPr>
              <a:t>Decision Tree (Winner)</a:t>
            </a:r>
            <a:endParaRPr lang="en-US" sz="1300"/>
          </a:p>
        </p:txBody>
      </p:sp>
      <p:sp>
        <p:nvSpPr>
          <p:cNvPr id="20" name="Text 18"/>
          <p:cNvSpPr/>
          <p:nvPr/>
        </p:nvSpPr>
        <p:spPr>
          <a:xfrm>
            <a:off x="41148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Best F1 (0.5173), best AUC (0.7589), most stable CV</a:t>
            </a:r>
            <a:endParaRPr lang="en-US" sz="1100"/>
          </a:p>
        </p:txBody>
      </p:sp>
      <p:sp>
        <p:nvSpPr>
          <p:cNvPr id="21" name="Text 19"/>
          <p:cNvSpPr/>
          <p:nvPr/>
        </p:nvSpPr>
        <p:spPr>
          <a:xfrm>
            <a:off x="41148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Non-linearity captured well. Gini impurity reveals PAY_0 dominance. Controlled depth prevents overfitting.</a:t>
            </a:r>
            <a:endParaRPr lang="en-US" sz="1050"/>
          </a:p>
        </p:txBody>
      </p:sp>
      <p:sp>
        <p:nvSpPr>
          <p:cNvPr id="22" name="Shape 20"/>
          <p:cNvSpPr/>
          <p:nvPr/>
        </p:nvSpPr>
        <p:spPr>
          <a:xfrm>
            <a:off x="470916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p/>
        </p:txBody>
      </p:sp>
      <p:sp>
        <p:nvSpPr>
          <p:cNvPr id="23" name="Shape 21"/>
          <p:cNvSpPr/>
          <p:nvPr/>
        </p:nvSpPr>
        <p:spPr>
          <a:xfrm>
            <a:off x="4818888" y="3154680"/>
            <a:ext cx="502920" cy="502920"/>
          </a:xfrm>
          <a:prstGeom prst="ellipse">
            <a:avLst/>
          </a:prstGeom>
          <a:solidFill>
            <a:srgbClr val="FFB300"/>
          </a:solidFill>
          <a:ln w="12700">
            <a:solidFill>
              <a:srgbClr val="FFB300"/>
            </a:solidFill>
            <a:prstDash val="solid"/>
          </a:ln>
        </p:spPr>
        <p:txBody>
          <a:bodyPr/>
          <a:p/>
        </p:txBody>
      </p:sp>
      <p:sp>
        <p:nvSpPr>
          <p:cNvPr id="24" name="Text 22"/>
          <p:cNvSpPr/>
          <p:nvPr/>
        </p:nvSpPr>
        <p:spPr>
          <a:xfrm>
            <a:off x="481888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25" name="Text 23"/>
          <p:cNvSpPr/>
          <p:nvPr/>
        </p:nvSpPr>
        <p:spPr>
          <a:xfrm>
            <a:off x="5422392" y="3154680"/>
            <a:ext cx="3291840" cy="320040"/>
          </a:xfrm>
          <a:prstGeom prst="rect">
            <a:avLst/>
          </a:prstGeom>
          <a:noFill/>
          <a:ln/>
        </p:spPr>
        <p:txBody>
          <a:bodyPr wrap="square" rtlCol="0" anchor="ctr"/>
          <a:lstStyle/>
          <a:p>
            <a:pPr marL="0" indent="0">
              <a:buNone/>
            </a:pPr>
            <a:r>
              <a:rPr lang="en-US" sz="1300" b="1">
                <a:solidFill>
                  <a:srgbClr val="FFB300"/>
                </a:solidFill>
                <a:latin typeface="Calibri" pitchFamily="34" charset="0"/>
                <a:ea typeface="Calibri" pitchFamily="34" charset="-122"/>
                <a:cs typeface="Calibri" pitchFamily="34" charset="-120"/>
              </a:rPr>
              <a:t>Overall Project Lesson</a:t>
            </a:r>
            <a:endParaRPr lang="en-US" sz="1300"/>
          </a:p>
        </p:txBody>
      </p:sp>
      <p:sp>
        <p:nvSpPr>
          <p:cNvPr id="26" name="Text 24"/>
          <p:cNvSpPr/>
          <p:nvPr/>
        </p:nvSpPr>
        <p:spPr>
          <a:xfrm>
            <a:off x="484632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Recent behavior &gt; demographics &gt; historical averages</a:t>
            </a:r>
            <a:endParaRPr lang="en-US" sz="1100"/>
          </a:p>
        </p:txBody>
      </p:sp>
      <p:sp>
        <p:nvSpPr>
          <p:cNvPr id="27" name="Text 25"/>
          <p:cNvSpPr/>
          <p:nvPr/>
        </p:nvSpPr>
        <p:spPr>
          <a:xfrm>
            <a:off x="484632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PAY_0 alone contributes 74.6% of split importance. Banks should weight current-month payment status highest.</a:t>
            </a:r>
            <a:endParaRPr lang="en-US"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How We Improved the Models</a:t>
            </a:r>
            <a:endParaRPr lang="en-US" sz="2600"/>
          </a:p>
        </p:txBody>
      </p:sp>
      <p:sp>
        <p:nvSpPr>
          <p:cNvPr id="4" name="Shape 2"/>
          <p:cNvSpPr/>
          <p:nvPr/>
        </p:nvSpPr>
        <p:spPr>
          <a:xfrm>
            <a:off x="274320" y="96012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5" name="Shape 3"/>
          <p:cNvSpPr/>
          <p:nvPr/>
        </p:nvSpPr>
        <p:spPr>
          <a:xfrm>
            <a:off x="274320" y="960120"/>
            <a:ext cx="1005840" cy="804672"/>
          </a:xfrm>
          <a:prstGeom prst="rect">
            <a:avLst/>
          </a:prstGeom>
          <a:solidFill>
            <a:srgbClr val="0D2137"/>
          </a:solidFill>
          <a:ln w="12700">
            <a:solidFill>
              <a:srgbClr val="0D2137"/>
            </a:solidFill>
            <a:prstDash val="solid"/>
          </a:ln>
        </p:spPr>
      </p:sp>
      <p:sp>
        <p:nvSpPr>
          <p:cNvPr id="6" name="Text 4"/>
          <p:cNvSpPr/>
          <p:nvPr/>
        </p:nvSpPr>
        <p:spPr>
          <a:xfrm>
            <a:off x="274320" y="96012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24</a:t>
            </a:r>
            <a:endParaRPr lang="en-US" sz="1100"/>
          </a:p>
        </p:txBody>
      </p:sp>
      <p:sp>
        <p:nvSpPr>
          <p:cNvPr id="7" name="Shape 5"/>
          <p:cNvSpPr/>
          <p:nvPr/>
        </p:nvSpPr>
        <p:spPr>
          <a:xfrm>
            <a:off x="8046720" y="1143000"/>
            <a:ext cx="777240" cy="438912"/>
          </a:xfrm>
          <a:prstGeom prst="rect">
            <a:avLst/>
          </a:prstGeom>
          <a:solidFill>
            <a:srgbClr val="00C853"/>
          </a:solidFill>
          <a:ln w="12700">
            <a:solidFill>
              <a:srgbClr val="00C853"/>
            </a:solidFill>
            <a:prstDash val="solid"/>
          </a:ln>
        </p:spPr>
      </p:sp>
      <p:sp>
        <p:nvSpPr>
          <p:cNvPr id="8" name="Text 6"/>
          <p:cNvSpPr/>
          <p:nvPr/>
        </p:nvSpPr>
        <p:spPr>
          <a:xfrm>
            <a:off x="8046720" y="114300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9" name="Text 7"/>
          <p:cNvSpPr/>
          <p:nvPr/>
        </p:nvSpPr>
        <p:spPr>
          <a:xfrm>
            <a:off x="1417320" y="105156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Hyperparameter Tuning</a:t>
            </a:r>
            <a:endParaRPr lang="en-US" sz="1300"/>
          </a:p>
        </p:txBody>
      </p:sp>
      <p:sp>
        <p:nvSpPr>
          <p:cNvPr id="10" name="Text 8"/>
          <p:cNvSpPr/>
          <p:nvPr/>
        </p:nvSpPr>
        <p:spPr>
          <a:xfrm>
            <a:off x="1417320" y="136245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GridSearchCV — varying C for LR, max_depth &amp; min_samples_leaf for DT</a:t>
            </a:r>
            <a:endParaRPr lang="en-US" sz="1050"/>
          </a:p>
        </p:txBody>
      </p:sp>
      <p:sp>
        <p:nvSpPr>
          <p:cNvPr id="11" name="Shape 9"/>
          <p:cNvSpPr/>
          <p:nvPr/>
        </p:nvSpPr>
        <p:spPr>
          <a:xfrm>
            <a:off x="274320" y="192024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2" name="Shape 10"/>
          <p:cNvSpPr/>
          <p:nvPr/>
        </p:nvSpPr>
        <p:spPr>
          <a:xfrm>
            <a:off x="274320" y="1920240"/>
            <a:ext cx="1005840" cy="804672"/>
          </a:xfrm>
          <a:prstGeom prst="rect">
            <a:avLst/>
          </a:prstGeom>
          <a:solidFill>
            <a:srgbClr val="0D2137"/>
          </a:solidFill>
          <a:ln w="12700">
            <a:solidFill>
              <a:srgbClr val="0D2137"/>
            </a:solidFill>
            <a:prstDash val="solid"/>
          </a:ln>
        </p:spPr>
      </p:sp>
      <p:sp>
        <p:nvSpPr>
          <p:cNvPr id="13" name="Text 11"/>
          <p:cNvSpPr/>
          <p:nvPr/>
        </p:nvSpPr>
        <p:spPr>
          <a:xfrm>
            <a:off x="274320" y="192024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31</a:t>
            </a:r>
            <a:endParaRPr lang="en-US" sz="1100"/>
          </a:p>
        </p:txBody>
      </p:sp>
      <p:sp>
        <p:nvSpPr>
          <p:cNvPr id="14" name="Shape 12"/>
          <p:cNvSpPr/>
          <p:nvPr/>
        </p:nvSpPr>
        <p:spPr>
          <a:xfrm>
            <a:off x="8046720" y="2103120"/>
            <a:ext cx="777240" cy="438912"/>
          </a:xfrm>
          <a:prstGeom prst="rect">
            <a:avLst/>
          </a:prstGeom>
          <a:solidFill>
            <a:srgbClr val="00C853"/>
          </a:solidFill>
          <a:ln w="12700">
            <a:solidFill>
              <a:srgbClr val="00C853"/>
            </a:solidFill>
            <a:prstDash val="solid"/>
          </a:ln>
        </p:spPr>
      </p:sp>
      <p:sp>
        <p:nvSpPr>
          <p:cNvPr id="15" name="Text 13"/>
          <p:cNvSpPr/>
          <p:nvPr/>
        </p:nvSpPr>
        <p:spPr>
          <a:xfrm>
            <a:off x="8046720" y="210312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16" name="Text 14"/>
          <p:cNvSpPr/>
          <p:nvPr/>
        </p:nvSpPr>
        <p:spPr>
          <a:xfrm>
            <a:off x="1417320" y="201168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SMOTE Resampling</a:t>
            </a:r>
            <a:endParaRPr lang="en-US" sz="1300"/>
          </a:p>
        </p:txBody>
      </p:sp>
      <p:sp>
        <p:nvSpPr>
          <p:cNvPr id="17" name="Text 15"/>
          <p:cNvSpPr/>
          <p:nvPr/>
        </p:nvSpPr>
        <p:spPr>
          <a:xfrm>
            <a:off x="1417320" y="232257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imblearn SMOTE to synthesize minority class samples &amp; address 3.5:1 imbalance</a:t>
            </a:r>
            <a:endParaRPr lang="en-US" sz="1050"/>
          </a:p>
        </p:txBody>
      </p:sp>
      <p:sp>
        <p:nvSpPr>
          <p:cNvPr id="18" name="Shape 16"/>
          <p:cNvSpPr/>
          <p:nvPr/>
        </p:nvSpPr>
        <p:spPr>
          <a:xfrm>
            <a:off x="274320" y="288036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9" name="Shape 17"/>
          <p:cNvSpPr/>
          <p:nvPr/>
        </p:nvSpPr>
        <p:spPr>
          <a:xfrm>
            <a:off x="274320" y="2880360"/>
            <a:ext cx="1005840" cy="804672"/>
          </a:xfrm>
          <a:prstGeom prst="rect">
            <a:avLst/>
          </a:prstGeom>
          <a:solidFill>
            <a:srgbClr val="0D2137"/>
          </a:solidFill>
          <a:ln w="12700">
            <a:solidFill>
              <a:srgbClr val="0D2137"/>
            </a:solidFill>
            <a:prstDash val="solid"/>
          </a:ln>
        </p:spPr>
      </p:sp>
      <p:sp>
        <p:nvSpPr>
          <p:cNvPr id="20" name="Text 18"/>
          <p:cNvSpPr/>
          <p:nvPr/>
        </p:nvSpPr>
        <p:spPr>
          <a:xfrm>
            <a:off x="274320" y="288036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7</a:t>
            </a:r>
            <a:endParaRPr lang="en-US" sz="1100"/>
          </a:p>
        </p:txBody>
      </p:sp>
      <p:sp>
        <p:nvSpPr>
          <p:cNvPr id="21" name="Shape 19"/>
          <p:cNvSpPr/>
          <p:nvPr/>
        </p:nvSpPr>
        <p:spPr>
          <a:xfrm>
            <a:off x="8046720" y="3063240"/>
            <a:ext cx="777240" cy="438912"/>
          </a:xfrm>
          <a:prstGeom prst="rect">
            <a:avLst/>
          </a:prstGeom>
          <a:solidFill>
            <a:srgbClr val="00C853"/>
          </a:solidFill>
          <a:ln w="12700">
            <a:solidFill>
              <a:srgbClr val="00C853"/>
            </a:solidFill>
            <a:prstDash val="solid"/>
          </a:ln>
        </p:spPr>
      </p:sp>
      <p:sp>
        <p:nvSpPr>
          <p:cNvPr id="22" name="Text 20"/>
          <p:cNvSpPr/>
          <p:nvPr/>
        </p:nvSpPr>
        <p:spPr>
          <a:xfrm>
            <a:off x="8046720" y="306324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23" name="Text 21"/>
          <p:cNvSpPr/>
          <p:nvPr/>
        </p:nvSpPr>
        <p:spPr>
          <a:xfrm>
            <a:off x="1417320" y="297180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Feature Engineering</a:t>
            </a:r>
            <a:endParaRPr lang="en-US" sz="1300"/>
          </a:p>
        </p:txBody>
      </p:sp>
      <p:sp>
        <p:nvSpPr>
          <p:cNvPr id="24" name="Text 22"/>
          <p:cNvSpPr/>
          <p:nvPr/>
        </p:nvSpPr>
        <p:spPr>
          <a:xfrm>
            <a:off x="1417320" y="328269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Payment utilization ratios (PAY_AMT / BILL_AMT) as new features + Random Forest tested</a:t>
            </a:r>
            <a:endParaRPr lang="en-US" sz="1050"/>
          </a:p>
        </p:txBody>
      </p:sp>
      <p:sp>
        <p:nvSpPr>
          <p:cNvPr id="25" name="Shape 23"/>
          <p:cNvSpPr/>
          <p:nvPr/>
        </p:nvSpPr>
        <p:spPr>
          <a:xfrm>
            <a:off x="274320" y="384048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6" name="Shape 24"/>
          <p:cNvSpPr/>
          <p:nvPr/>
        </p:nvSpPr>
        <p:spPr>
          <a:xfrm>
            <a:off x="274320" y="3840480"/>
            <a:ext cx="1005840" cy="804672"/>
          </a:xfrm>
          <a:prstGeom prst="rect">
            <a:avLst/>
          </a:prstGeom>
          <a:solidFill>
            <a:srgbClr val="0D2137"/>
          </a:solidFill>
          <a:ln w="12700">
            <a:solidFill>
              <a:srgbClr val="0D2137"/>
            </a:solidFill>
            <a:prstDash val="solid"/>
          </a:ln>
        </p:spPr>
      </p:sp>
      <p:sp>
        <p:nvSpPr>
          <p:cNvPr id="27" name="Text 25"/>
          <p:cNvSpPr/>
          <p:nvPr/>
        </p:nvSpPr>
        <p:spPr>
          <a:xfrm>
            <a:off x="274320" y="384048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14</a:t>
            </a:r>
            <a:endParaRPr lang="en-US" sz="1100"/>
          </a:p>
        </p:txBody>
      </p:sp>
      <p:sp>
        <p:nvSpPr>
          <p:cNvPr id="28" name="Shape 26"/>
          <p:cNvSpPr/>
          <p:nvPr/>
        </p:nvSpPr>
        <p:spPr>
          <a:xfrm>
            <a:off x="8046720" y="4023360"/>
            <a:ext cx="777240" cy="438912"/>
          </a:xfrm>
          <a:prstGeom prst="rect">
            <a:avLst/>
          </a:prstGeom>
          <a:solidFill>
            <a:srgbClr val="00B8D4"/>
          </a:solidFill>
          <a:ln w="12700">
            <a:solidFill>
              <a:srgbClr val="00B8D4"/>
            </a:solidFill>
            <a:prstDash val="solid"/>
          </a:ln>
        </p:spPr>
      </p:sp>
      <p:sp>
        <p:nvSpPr>
          <p:cNvPr id="29" name="Text 27"/>
          <p:cNvSpPr/>
          <p:nvPr/>
        </p:nvSpPr>
        <p:spPr>
          <a:xfrm>
            <a:off x="8046720" y="402336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FINAL</a:t>
            </a:r>
            <a:endParaRPr lang="en-US" sz="900"/>
          </a:p>
        </p:txBody>
      </p:sp>
      <p:sp>
        <p:nvSpPr>
          <p:cNvPr id="30" name="Text 28"/>
          <p:cNvSpPr/>
          <p:nvPr/>
        </p:nvSpPr>
        <p:spPr>
          <a:xfrm>
            <a:off x="1417320" y="393192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Final Model Selection</a:t>
            </a:r>
            <a:endParaRPr lang="en-US" sz="1300"/>
          </a:p>
        </p:txBody>
      </p:sp>
      <p:sp>
        <p:nvSpPr>
          <p:cNvPr id="31" name="Text 29"/>
          <p:cNvSpPr/>
          <p:nvPr/>
        </p:nvSpPr>
        <p:spPr>
          <a:xfrm>
            <a:off x="1417320" y="424281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Complete pipeline comparison, final report, and this presentation</a:t>
            </a:r>
            <a:endParaRPr lang="en-US" sz="10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txBody>
          <a:bodyPr/>
          <a:p/>
        </p:txBody>
      </p:sp>
      <p:sp>
        <p:nvSpPr>
          <p:cNvPr id="3" name="Text 1"/>
          <p:cNvSpPr/>
          <p:nvPr/>
        </p:nvSpPr>
        <p:spPr>
          <a:xfrm>
            <a:off x="457200" y="320040"/>
            <a:ext cx="8229600" cy="365760"/>
          </a:xfrm>
          <a:prstGeom prst="rect">
            <a:avLst/>
          </a:prstGeom>
          <a:noFill/>
          <a:ln/>
        </p:spPr>
        <p:txBody>
          <a:bodyPr wrap="square" rtlCol="0" anchor="ctr"/>
          <a:lstStyle/>
          <a:p>
            <a:pPr marL="0" indent="0">
              <a:buNone/>
            </a:pPr>
            <a:r>
              <a:rPr lang="en-US" sz="1200" b="1" kern="0" spc="600">
                <a:solidFill>
                  <a:srgbClr val="00B8D4"/>
                </a:solidFill>
                <a:latin typeface="Calibri" pitchFamily="34" charset="0"/>
                <a:ea typeface="Calibri" pitchFamily="34" charset="-122"/>
                <a:cs typeface="Calibri" pitchFamily="34" charset="-120"/>
              </a:rPr>
              <a:t>CONCLUSIONS</a:t>
            </a:r>
            <a:endParaRPr lang="en-US" sz="1200"/>
          </a:p>
        </p:txBody>
      </p:sp>
      <p:sp>
        <p:nvSpPr>
          <p:cNvPr id="4" name="Text 2"/>
          <p:cNvSpPr/>
          <p:nvPr/>
        </p:nvSpPr>
        <p:spPr>
          <a:xfrm>
            <a:off x="457200" y="640080"/>
            <a:ext cx="8229600" cy="685800"/>
          </a:xfrm>
          <a:prstGeom prst="rect">
            <a:avLst/>
          </a:prstGeom>
          <a:noFill/>
          <a:ln/>
        </p:spPr>
        <p:txBody>
          <a:bodyPr wrap="square" rtlCol="0" anchor="ctr"/>
          <a:lstStyle/>
          <a:p>
            <a:pPr marL="0" indent="0">
              <a:buNone/>
            </a:pPr>
            <a:r>
              <a:rPr lang="en-US" sz="3600" b="1">
                <a:solidFill>
                  <a:srgbClr val="FFFFFF"/>
                </a:solidFill>
                <a:latin typeface="Calibri" pitchFamily="34" charset="0"/>
                <a:ea typeface="Calibri" pitchFamily="34" charset="-122"/>
                <a:cs typeface="Calibri" pitchFamily="34" charset="-120"/>
              </a:rPr>
              <a:t>Key Takeaways</a:t>
            </a:r>
            <a:endParaRPr lang="en-US" sz="3600"/>
          </a:p>
        </p:txBody>
      </p:sp>
      <p:sp>
        <p:nvSpPr>
          <p:cNvPr id="5" name="Shape 3"/>
          <p:cNvSpPr/>
          <p:nvPr/>
        </p:nvSpPr>
        <p:spPr>
          <a:xfrm>
            <a:off x="365760" y="1490472"/>
            <a:ext cx="438912" cy="438912"/>
          </a:xfrm>
          <a:prstGeom prst="ellipse">
            <a:avLst/>
          </a:prstGeom>
          <a:solidFill>
            <a:srgbClr val="00B8D4"/>
          </a:solidFill>
          <a:ln w="12700">
            <a:solidFill>
              <a:srgbClr val="00B8D4"/>
            </a:solidFill>
            <a:prstDash val="solid"/>
          </a:ln>
        </p:spPr>
        <p:txBody>
          <a:bodyPr/>
          <a:p/>
        </p:txBody>
      </p:sp>
      <p:sp>
        <p:nvSpPr>
          <p:cNvPr id="6" name="Text 4"/>
          <p:cNvSpPr/>
          <p:nvPr/>
        </p:nvSpPr>
        <p:spPr>
          <a:xfrm>
            <a:off x="365760" y="1490472"/>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01</a:t>
            </a:r>
            <a:endParaRPr lang="en-US" sz="1200"/>
          </a:p>
        </p:txBody>
      </p:sp>
      <p:sp>
        <p:nvSpPr>
          <p:cNvPr id="7" name="Text 5"/>
          <p:cNvSpPr/>
          <p:nvPr/>
        </p:nvSpPr>
        <p:spPr>
          <a:xfrm>
            <a:off x="960120" y="1472184"/>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Decision Tree is the best model — highest F1 (0.5173), ROC-AUC (0.7589), and lowest CV variance (±0.007)</a:t>
            </a:r>
            <a:endParaRPr lang="en-US" sz="1250"/>
          </a:p>
        </p:txBody>
      </p:sp>
      <p:sp>
        <p:nvSpPr>
          <p:cNvPr id="8" name="Shape 6"/>
          <p:cNvSpPr/>
          <p:nvPr/>
        </p:nvSpPr>
        <p:spPr>
          <a:xfrm>
            <a:off x="365760" y="2203704"/>
            <a:ext cx="438912" cy="438912"/>
          </a:xfrm>
          <a:prstGeom prst="ellipse">
            <a:avLst/>
          </a:prstGeom>
          <a:solidFill>
            <a:srgbClr val="00B8D4"/>
          </a:solidFill>
          <a:ln w="12700">
            <a:solidFill>
              <a:srgbClr val="00B8D4"/>
            </a:solidFill>
            <a:prstDash val="solid"/>
          </a:ln>
        </p:spPr>
        <p:txBody>
          <a:bodyPr/>
          <a:p/>
        </p:txBody>
      </p:sp>
      <p:sp>
        <p:nvSpPr>
          <p:cNvPr id="9" name="Text 7"/>
          <p:cNvSpPr/>
          <p:nvPr/>
        </p:nvSpPr>
        <p:spPr>
          <a:xfrm>
            <a:off x="365760" y="2203704"/>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02</a:t>
            </a:r>
            <a:endParaRPr lang="en-US" sz="1200"/>
          </a:p>
        </p:txBody>
      </p:sp>
      <p:sp>
        <p:nvSpPr>
          <p:cNvPr id="10" name="Text 8"/>
          <p:cNvSpPr/>
          <p:nvPr/>
        </p:nvSpPr>
        <p:spPr>
          <a:xfrm>
            <a:off x="960120" y="2185416"/>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PAY_0 is overwhelmingly dominant at 74.6% Gini importance — recent payment behavior is the best predictor</a:t>
            </a:r>
            <a:endParaRPr lang="en-US" sz="1250"/>
          </a:p>
        </p:txBody>
      </p:sp>
      <p:sp>
        <p:nvSpPr>
          <p:cNvPr id="11" name="Shape 9"/>
          <p:cNvSpPr/>
          <p:nvPr/>
        </p:nvSpPr>
        <p:spPr>
          <a:xfrm>
            <a:off x="365760" y="2916936"/>
            <a:ext cx="438912" cy="438912"/>
          </a:xfrm>
          <a:prstGeom prst="ellipse">
            <a:avLst/>
          </a:prstGeom>
          <a:solidFill>
            <a:srgbClr val="00B8D4"/>
          </a:solidFill>
          <a:ln w="12700">
            <a:solidFill>
              <a:srgbClr val="00B8D4"/>
            </a:solidFill>
            <a:prstDash val="solid"/>
          </a:ln>
        </p:spPr>
        <p:txBody>
          <a:bodyPr/>
          <a:p/>
        </p:txBody>
      </p:sp>
      <p:sp>
        <p:nvSpPr>
          <p:cNvPr id="12" name="Text 10"/>
          <p:cNvSpPr/>
          <p:nvPr/>
        </p:nvSpPr>
        <p:spPr>
          <a:xfrm>
            <a:off x="365760" y="2916936"/>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03</a:t>
            </a:r>
            <a:endParaRPr lang="en-US" sz="1200"/>
          </a:p>
        </p:txBody>
      </p:sp>
      <p:sp>
        <p:nvSpPr>
          <p:cNvPr id="13" name="Text 11"/>
          <p:cNvSpPr/>
          <p:nvPr/>
        </p:nvSpPr>
        <p:spPr>
          <a:xfrm>
            <a:off x="960120" y="2898648"/>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Linear models fail when classes aren't separable — PCA &amp; DT results both confirm non-linear boundaries</a:t>
            </a:r>
            <a:endParaRPr lang="en-US" sz="1250"/>
          </a:p>
        </p:txBody>
      </p:sp>
      <p:sp>
        <p:nvSpPr>
          <p:cNvPr id="14" name="Shape 12"/>
          <p:cNvSpPr/>
          <p:nvPr/>
        </p:nvSpPr>
        <p:spPr>
          <a:xfrm>
            <a:off x="365760" y="3630168"/>
            <a:ext cx="438912" cy="438912"/>
          </a:xfrm>
          <a:prstGeom prst="ellipse">
            <a:avLst/>
          </a:prstGeom>
          <a:solidFill>
            <a:srgbClr val="00B8D4"/>
          </a:solidFill>
          <a:ln w="12700">
            <a:solidFill>
              <a:srgbClr val="00B8D4"/>
            </a:solidFill>
            <a:prstDash val="solid"/>
          </a:ln>
        </p:spPr>
        <p:txBody>
          <a:bodyPr/>
          <a:p/>
        </p:txBody>
      </p:sp>
      <p:sp>
        <p:nvSpPr>
          <p:cNvPr id="15" name="Text 13"/>
          <p:cNvSpPr/>
          <p:nvPr/>
        </p:nvSpPr>
        <p:spPr>
          <a:xfrm>
            <a:off x="365760" y="3630168"/>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04</a:t>
            </a:r>
            <a:endParaRPr lang="en-US" sz="1200"/>
          </a:p>
        </p:txBody>
      </p:sp>
      <p:sp>
        <p:nvSpPr>
          <p:cNvPr id="16" name="Text 14"/>
          <p:cNvSpPr/>
          <p:nvPr/>
        </p:nvSpPr>
        <p:spPr>
          <a:xfrm>
            <a:off x="960120" y="3611880"/>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Class imbalance must be handled — balanced weighting was critical; SMOTE tested in final stage</a:t>
            </a:r>
            <a:endParaRPr lang="en-US" sz="1250"/>
          </a:p>
        </p:txBody>
      </p:sp>
      <p:sp>
        <p:nvSpPr>
          <p:cNvPr id="17" name="Shape 15"/>
          <p:cNvSpPr/>
          <p:nvPr/>
        </p:nvSpPr>
        <p:spPr>
          <a:xfrm>
            <a:off x="365760" y="4343400"/>
            <a:ext cx="438912" cy="438912"/>
          </a:xfrm>
          <a:prstGeom prst="ellipse">
            <a:avLst/>
          </a:prstGeom>
          <a:solidFill>
            <a:srgbClr val="00B8D4"/>
          </a:solidFill>
          <a:ln w="12700">
            <a:solidFill>
              <a:srgbClr val="00B8D4"/>
            </a:solidFill>
            <a:prstDash val="solid"/>
          </a:ln>
        </p:spPr>
        <p:txBody>
          <a:bodyPr/>
          <a:p/>
        </p:txBody>
      </p:sp>
      <p:sp>
        <p:nvSpPr>
          <p:cNvPr id="18" name="Text 16"/>
          <p:cNvSpPr/>
          <p:nvPr/>
        </p:nvSpPr>
        <p:spPr>
          <a:xfrm>
            <a:off x="365760" y="4343400"/>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05</a:t>
            </a:r>
            <a:endParaRPr lang="en-US" sz="1200"/>
          </a:p>
        </p:txBody>
      </p:sp>
      <p:sp>
        <p:nvSpPr>
          <p:cNvPr id="19" name="Text 17"/>
          <p:cNvSpPr/>
          <p:nvPr/>
        </p:nvSpPr>
        <p:spPr>
          <a:xfrm>
            <a:off x="960120" y="4325112"/>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Recall vs. Precision trade-off is domain-specific — for banks, missing a defaulter is riskier than a false flag</a:t>
            </a:r>
            <a:endParaRPr lang="en-US" sz="1250"/>
          </a:p>
        </p:txBody>
      </p:sp>
      <p:sp>
        <p:nvSpPr>
          <p:cNvPr id="20" name="Shape 18"/>
          <p:cNvSpPr/>
          <p:nvPr/>
        </p:nvSpPr>
        <p:spPr>
          <a:xfrm>
            <a:off x="0" y="4983480"/>
            <a:ext cx="9144000" cy="54864"/>
          </a:xfrm>
          <a:prstGeom prst="rect">
            <a:avLst/>
          </a:prstGeom>
          <a:solidFill>
            <a:srgbClr val="00B8D4"/>
          </a:solidFill>
          <a:ln w="12700">
            <a:solidFill>
              <a:srgbClr val="00B8D4"/>
            </a:solidFill>
            <a:prstDash val="solid"/>
          </a:ln>
        </p:spPr>
        <p:txBody>
          <a:body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2743200" y="548640"/>
            <a:ext cx="3657600" cy="3657600"/>
          </a:xfrm>
          <a:prstGeom prst="ellipse">
            <a:avLst/>
          </a:prstGeom>
          <a:solidFill>
            <a:srgbClr val="132840"/>
          </a:solidFill>
          <a:ln w="12700">
            <a:solidFill>
              <a:srgbClr val="1F4A7A"/>
            </a:solidFill>
            <a:prstDash val="solid"/>
          </a:ln>
        </p:spPr>
      </p:sp>
      <p:sp>
        <p:nvSpPr>
          <p:cNvPr id="3" name="Text 1"/>
          <p:cNvSpPr/>
          <p:nvPr/>
        </p:nvSpPr>
        <p:spPr>
          <a:xfrm>
            <a:off x="457200" y="1188720"/>
            <a:ext cx="8229600" cy="914400"/>
          </a:xfrm>
          <a:prstGeom prst="rect">
            <a:avLst/>
          </a:prstGeom>
          <a:noFill/>
          <a:ln/>
        </p:spPr>
        <p:txBody>
          <a:bodyPr wrap="square" rtlCol="0" anchor="ctr"/>
          <a:lstStyle/>
          <a:p>
            <a:pPr marL="0" indent="0" algn="ctr">
              <a:buNone/>
            </a:pPr>
            <a:r>
              <a:rPr lang="en-US" sz="4800" b="1">
                <a:solidFill>
                  <a:srgbClr val="FFFFFF"/>
                </a:solidFill>
                <a:latin typeface="Calibri" pitchFamily="34" charset="0"/>
                <a:ea typeface="Calibri" pitchFamily="34" charset="-122"/>
                <a:cs typeface="Calibri" pitchFamily="34" charset="-120"/>
              </a:rPr>
              <a:t>Thank You</a:t>
            </a:r>
            <a:endParaRPr lang="en-US" sz="4800"/>
          </a:p>
        </p:txBody>
      </p:sp>
      <p:sp>
        <p:nvSpPr>
          <p:cNvPr id="4" name="Text 2"/>
          <p:cNvSpPr/>
          <p:nvPr/>
        </p:nvSpPr>
        <p:spPr>
          <a:xfrm>
            <a:off x="457200" y="2103120"/>
            <a:ext cx="8229600" cy="502920"/>
          </a:xfrm>
          <a:prstGeom prst="rect">
            <a:avLst/>
          </a:prstGeom>
          <a:noFill/>
          <a:ln/>
        </p:spPr>
        <p:txBody>
          <a:bodyPr wrap="square" rtlCol="0" anchor="ctr"/>
          <a:lstStyle/>
          <a:p>
            <a:pPr marL="0" indent="0" algn="ctr">
              <a:buNone/>
            </a:pPr>
            <a:r>
              <a:rPr lang="en-US" sz="2000">
                <a:solidFill>
                  <a:srgbClr val="00B8D4"/>
                </a:solidFill>
                <a:latin typeface="Calibri" pitchFamily="34" charset="0"/>
                <a:ea typeface="Calibri" pitchFamily="34" charset="-122"/>
                <a:cs typeface="Calibri" pitchFamily="34" charset="-120"/>
              </a:rPr>
              <a:t>Questions &amp; Discussion</a:t>
            </a:r>
            <a:endParaRPr lang="en-US" sz="2000"/>
          </a:p>
        </p:txBody>
      </p:sp>
      <p:sp>
        <p:nvSpPr>
          <p:cNvPr id="5" name="Shape 3"/>
          <p:cNvSpPr/>
          <p:nvPr/>
        </p:nvSpPr>
        <p:spPr>
          <a:xfrm>
            <a:off x="3200400" y="2743200"/>
            <a:ext cx="2743200" cy="36576"/>
          </a:xfrm>
          <a:prstGeom prst="rect">
            <a:avLst/>
          </a:prstGeom>
          <a:solidFill>
            <a:srgbClr val="00B8D4"/>
          </a:solidFill>
          <a:ln w="12700">
            <a:solidFill>
              <a:srgbClr val="00B8D4"/>
            </a:solidFill>
            <a:prstDash val="solid"/>
          </a:ln>
        </p:spPr>
      </p:sp>
      <p:sp>
        <p:nvSpPr>
          <p:cNvPr id="6" name="Text 4"/>
          <p:cNvSpPr/>
          <p:nvPr/>
        </p:nvSpPr>
        <p:spPr>
          <a:xfrm>
            <a:off x="457200" y="2926080"/>
            <a:ext cx="8229600" cy="320040"/>
          </a:xfrm>
          <a:prstGeom prst="rect">
            <a:avLst/>
          </a:prstGeom>
          <a:noFill/>
          <a:ln/>
        </p:spPr>
        <p:txBody>
          <a:bodyPr wrap="square" rtlCol="0" anchor="ctr"/>
          <a:lstStyle/>
          <a:p>
            <a:pPr marL="0" indent="0" algn="ctr">
              <a:buNone/>
            </a:pPr>
            <a:r>
              <a:rPr lang="en-US" sz="1200">
                <a:solidFill>
                  <a:srgbClr val="546E7A"/>
                </a:solidFill>
                <a:latin typeface="Calibri" pitchFamily="34" charset="0"/>
                <a:ea typeface="Calibri" pitchFamily="34" charset="-122"/>
                <a:cs typeface="Calibri" pitchFamily="34" charset="-120"/>
              </a:rPr>
              <a:t>Group 3  |  BFOR 516  |  Spring 2026</a:t>
            </a:r>
            <a:endParaRPr lang="en-US" sz="1200"/>
          </a:p>
        </p:txBody>
      </p:sp>
      <p:sp>
        <p:nvSpPr>
          <p:cNvPr id="7" name="Text 5"/>
          <p:cNvSpPr/>
          <p:nvPr/>
        </p:nvSpPr>
        <p:spPr>
          <a:xfrm>
            <a:off x="457200" y="4480560"/>
            <a:ext cx="8229600" cy="256032"/>
          </a:xfrm>
          <a:prstGeom prst="rect">
            <a:avLst/>
          </a:prstGeom>
          <a:noFill/>
          <a:ln/>
        </p:spPr>
        <p:txBody>
          <a:bodyPr wrap="square" rtlCol="0" anchor="ctr"/>
          <a:lstStyle/>
          <a:p>
            <a:pPr marL="0" indent="0" algn="ctr">
              <a:buNone/>
            </a:pPr>
            <a:r>
              <a:rPr lang="en-US" sz="1000">
                <a:solidFill>
                  <a:srgbClr val="2A4A6A"/>
                </a:solidFill>
                <a:latin typeface="Calibri" pitchFamily="34" charset="0"/>
                <a:ea typeface="Calibri" pitchFamily="34" charset="-122"/>
                <a:cs typeface="Calibri" pitchFamily="34" charset="-120"/>
              </a:rPr>
              <a:t>Dataset: UCI Default of Credit Card Clients  |  Yeh &amp; Lien (2009)</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Credit Card Defaults - Group 3 Milestone 3</dc:title>
  <dc:subject>PptxGenJS Presentation</dc:subject>
  <dc:creator>PptxGenJS</dc:creator>
  <cp:revision>1</cp:revision>
  <dcterms:created xsi:type="dcterms:W3CDTF">2026-04-21T02:57:56Z</dcterms:created>
  <dcterms:modified xsi:type="dcterms:W3CDTF">2026-04-21T03:22:10Z</dcterms:modified>
</cp:coreProperties>
</file>