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9B67E4-5983-0066-EDB6-5BD4D10F0685}" v="12" dt="2026-04-21T03:21:32.0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har, Muhammad H" userId="S::mbahar@albany.edu::84031f88-3164-421f-897b-6250739e55f4" providerId="AD" clId="Web-{EB9B67E4-5983-0066-EDB6-5BD4D10F0685}"/>
    <pc:docChg chg="modSld">
      <pc:chgData name="Bahar, Muhammad H" userId="S::mbahar@albany.edu::84031f88-3164-421f-897b-6250739e55f4" providerId="AD" clId="Web-{EB9B67E4-5983-0066-EDB6-5BD4D10F0685}" dt="2026-04-21T03:21:32.054" v="11" actId="14100"/>
      <pc:docMkLst>
        <pc:docMk/>
      </pc:docMkLst>
      <pc:sldChg chg="modSp">
        <pc:chgData name="Bahar, Muhammad H" userId="S::mbahar@albany.edu::84031f88-3164-421f-897b-6250739e55f4" providerId="AD" clId="Web-{EB9B67E4-5983-0066-EDB6-5BD4D10F0685}" dt="2026-04-21T03:21:32.054" v="11" actId="14100"/>
        <pc:sldMkLst>
          <pc:docMk/>
          <pc:sldMk cId="0" sldId="256"/>
        </pc:sldMkLst>
        <pc:spChg chg="mod">
          <ac:chgData name="Bahar, Muhammad H" userId="S::mbahar@albany.edu::84031f88-3164-421f-897b-6250739e55f4" providerId="AD" clId="Web-{EB9B67E4-5983-0066-EDB6-5BD4D10F0685}" dt="2026-04-21T03:21:32.054" v="11" actId="14100"/>
          <ac:spMkLst>
            <pc:docMk/>
            <pc:sldMk cId="0" sldId="256"/>
            <ac:spMk id="3" creationId="{00000000-0000-0000-0000-000000000000}"/>
          </ac:spMkLst>
        </pc:spChg>
        <pc:spChg chg="mod">
          <ac:chgData name="Bahar, Muhammad H" userId="S::mbahar@albany.edu::84031f88-3164-421f-897b-6250739e55f4" providerId="AD" clId="Web-{EB9B67E4-5983-0066-EDB6-5BD4D10F0685}" dt="2026-04-21T03:21:31.867" v="10" actId="14100"/>
          <ac:spMkLst>
            <pc:docMk/>
            <pc:sldMk cId="0" sldId="256"/>
            <ac:spMk id="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7_0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8_0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9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Logistic Regression</c:v>
                </c:pt>
              </c:strCache>
            </c:strRef>
          </c:tx>
          <c:spPr>
            <a:solidFill>
              <a:srgbClr val="1565C0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Accuracy</c:v>
                </c:pt>
                <c:pt idx="1">
                  <c:v>Precision*</c:v>
                </c:pt>
                <c:pt idx="2">
                  <c:v>Recall*</c:v>
                </c:pt>
                <c:pt idx="3">
                  <c:v>F1-Score*</c:v>
                </c:pt>
                <c:pt idx="4">
                  <c:v>ROC-AUC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0.67949999999999999</c:v>
                </c:pt>
                <c:pt idx="1">
                  <c:v>0.36709999999999998</c:v>
                </c:pt>
                <c:pt idx="2">
                  <c:v>0.62019999999999997</c:v>
                </c:pt>
                <c:pt idx="3">
                  <c:v>0.4612</c:v>
                </c:pt>
                <c:pt idx="4">
                  <c:v>0.70840000000000003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E1A-44ED-9873-5996C4CF7C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Gaussian Naive Bayes</c:v>
                </c:pt>
              </c:strCache>
            </c:strRef>
          </c:tx>
          <c:spPr>
            <a:solidFill>
              <a:srgbClr val="7B1FA2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Accuracy</c:v>
                </c:pt>
                <c:pt idx="1">
                  <c:v>Precision*</c:v>
                </c:pt>
                <c:pt idx="2">
                  <c:v>Recall*</c:v>
                </c:pt>
                <c:pt idx="3">
                  <c:v>F1-Score*</c:v>
                </c:pt>
                <c:pt idx="4">
                  <c:v>ROC-AUC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0.75180000000000002</c:v>
                </c:pt>
                <c:pt idx="1">
                  <c:v>0.45040000000000002</c:v>
                </c:pt>
                <c:pt idx="2">
                  <c:v>0.55389999999999995</c:v>
                </c:pt>
                <c:pt idx="3">
                  <c:v>0.49680000000000002</c:v>
                </c:pt>
                <c:pt idx="4">
                  <c:v>0.7248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E1A-44ED-9873-5996C4CF7C8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Decision Tree</c:v>
                </c:pt>
              </c:strCache>
            </c:strRef>
          </c:tx>
          <c:spPr>
            <a:solidFill>
              <a:srgbClr val="00695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Accuracy</c:v>
                </c:pt>
                <c:pt idx="1">
                  <c:v>Precision*</c:v>
                </c:pt>
                <c:pt idx="2">
                  <c:v>Recall*</c:v>
                </c:pt>
                <c:pt idx="3">
                  <c:v>F1-Score*</c:v>
                </c:pt>
                <c:pt idx="4">
                  <c:v>ROC-AUC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0.77229999999999999</c:v>
                </c:pt>
                <c:pt idx="1">
                  <c:v>0.48699999999999999</c:v>
                </c:pt>
                <c:pt idx="2">
                  <c:v>0.55159999999999998</c:v>
                </c:pt>
                <c:pt idx="3">
                  <c:v>0.51729999999999998</c:v>
                </c:pt>
                <c:pt idx="4">
                  <c:v>0.75890000000000002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E1A-44ED-9873-5996C4CF7C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BBDEF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0F6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Gini Importance (%)</c:v>
                </c:pt>
              </c:strCache>
            </c:strRef>
          </c:tx>
          <c:spPr>
            <a:solidFill>
              <a:srgbClr val="00B8D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697-450C-A5A2-D055D2C17CAB}"/>
              </c:ext>
            </c:extLst>
          </c:dPt>
          <c:dPt>
            <c:idx val="1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697-450C-A5A2-D055D2C17CAB}"/>
              </c:ext>
            </c:extLst>
          </c:dPt>
          <c:dPt>
            <c:idx val="2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697-450C-A5A2-D055D2C17CAB}"/>
              </c:ext>
            </c:extLst>
          </c:dPt>
          <c:dPt>
            <c:idx val="3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697-450C-A5A2-D055D2C17CAB}"/>
              </c:ext>
            </c:extLst>
          </c:dPt>
          <c:dPt>
            <c:idx val="4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697-450C-A5A2-D055D2C17CAB}"/>
              </c:ext>
            </c:extLst>
          </c:dPt>
          <c:dPt>
            <c:idx val="5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697-450C-A5A2-D055D2C17CAB}"/>
              </c:ext>
            </c:extLst>
          </c:dPt>
          <c:dPt>
            <c:idx val="6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697-450C-A5A2-D055D2C17CAB}"/>
              </c:ext>
            </c:extLst>
          </c:dPt>
          <c:dPt>
            <c:idx val="7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1697-450C-A5A2-D055D2C17CAB}"/>
              </c:ext>
            </c:extLst>
          </c:dPt>
          <c:dPt>
            <c:idx val="8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1697-450C-A5A2-D055D2C17CAB}"/>
              </c:ext>
            </c:extLst>
          </c:dPt>
          <c:dPt>
            <c:idx val="9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1697-450C-A5A2-D055D2C17CA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PAY_0</c:v>
                </c:pt>
                <c:pt idx="1">
                  <c:v>PAY_AMT2</c:v>
                </c:pt>
                <c:pt idx="2">
                  <c:v>PAY_4</c:v>
                </c:pt>
                <c:pt idx="3">
                  <c:v>LIMIT_BAL</c:v>
                </c:pt>
                <c:pt idx="4">
                  <c:v>PAY_3</c:v>
                </c:pt>
                <c:pt idx="5">
                  <c:v>PAY_2</c:v>
                </c:pt>
                <c:pt idx="6">
                  <c:v>PAY_AMT4</c:v>
                </c:pt>
                <c:pt idx="7">
                  <c:v>PAY_AMT3</c:v>
                </c:pt>
                <c:pt idx="8">
                  <c:v>PAY_AMT1</c:v>
                </c:pt>
                <c:pt idx="9">
                  <c:v>BILL_AMT2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74.61</c:v>
                </c:pt>
                <c:pt idx="1">
                  <c:v>7.37</c:v>
                </c:pt>
                <c:pt idx="2">
                  <c:v>3.72</c:v>
                </c:pt>
                <c:pt idx="3">
                  <c:v>2.76</c:v>
                </c:pt>
                <c:pt idx="4">
                  <c:v>2.25</c:v>
                </c:pt>
                <c:pt idx="5">
                  <c:v>2</c:v>
                </c:pt>
                <c:pt idx="6">
                  <c:v>1.5</c:v>
                </c:pt>
                <c:pt idx="7">
                  <c:v>1.48</c:v>
                </c:pt>
                <c:pt idx="8">
                  <c:v>1.05</c:v>
                </c:pt>
                <c:pt idx="9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1697-450C-A5A2-D055D2C17CA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0CAF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</c:scaling>
        <c:delete val="0"/>
        <c:axPos val="b"/>
        <c:majorGridlines>
          <c:spPr>
            <a:ln w="6350" cap="flat">
              <a:solidFill>
                <a:srgbClr val="1F4A7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0CAF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2137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Cumulative Explained Variance by PCA Components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Variance Explained</c:v>
                </c:pt>
              </c:strCache>
            </c:strRef>
          </c:tx>
          <c:spPr>
            <a:ln w="38100" cap="flat">
              <a:solidFill>
                <a:srgbClr val="1565C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strRef>
              <c:f>Sheet1!$A$2:$A$20</c:f>
              <c:strCache>
                <c:ptCount val="19"/>
                <c:pt idx="0">
                  <c:v>PC1</c:v>
                </c:pt>
                <c:pt idx="1">
                  <c:v>PC2</c:v>
                </c:pt>
                <c:pt idx="2">
                  <c:v>PC3</c:v>
                </c:pt>
                <c:pt idx="3">
                  <c:v>PC4</c:v>
                </c:pt>
                <c:pt idx="4">
                  <c:v>PC5</c:v>
                </c:pt>
                <c:pt idx="5">
                  <c:v>PC6</c:v>
                </c:pt>
                <c:pt idx="6">
                  <c:v>PC7</c:v>
                </c:pt>
                <c:pt idx="7">
                  <c:v>PC8</c:v>
                </c:pt>
                <c:pt idx="8">
                  <c:v>PC9</c:v>
                </c:pt>
                <c:pt idx="9">
                  <c:v>PC10</c:v>
                </c:pt>
                <c:pt idx="10">
                  <c:v>PC11</c:v>
                </c:pt>
                <c:pt idx="11">
                  <c:v>PC12</c:v>
                </c:pt>
                <c:pt idx="12">
                  <c:v>PC13</c:v>
                </c:pt>
                <c:pt idx="13">
                  <c:v>PC14</c:v>
                </c:pt>
                <c:pt idx="14">
                  <c:v>PC15</c:v>
                </c:pt>
                <c:pt idx="15">
                  <c:v>PC16</c:v>
                </c:pt>
                <c:pt idx="16">
                  <c:v>PC17</c:v>
                </c:pt>
                <c:pt idx="17">
                  <c:v>PC18</c:v>
                </c:pt>
                <c:pt idx="18">
                  <c:v>PC19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28.5</c:v>
                </c:pt>
                <c:pt idx="1">
                  <c:v>46.4</c:v>
                </c:pt>
                <c:pt idx="2">
                  <c:v>56</c:v>
                </c:pt>
                <c:pt idx="3">
                  <c:v>62</c:v>
                </c:pt>
                <c:pt idx="4">
                  <c:v>64.2</c:v>
                </c:pt>
                <c:pt idx="5">
                  <c:v>67.5</c:v>
                </c:pt>
                <c:pt idx="6">
                  <c:v>70.5</c:v>
                </c:pt>
                <c:pt idx="7">
                  <c:v>73</c:v>
                </c:pt>
                <c:pt idx="8">
                  <c:v>75.5</c:v>
                </c:pt>
                <c:pt idx="9">
                  <c:v>83.1</c:v>
                </c:pt>
                <c:pt idx="10">
                  <c:v>84.5</c:v>
                </c:pt>
                <c:pt idx="11">
                  <c:v>86</c:v>
                </c:pt>
                <c:pt idx="12">
                  <c:v>87.5</c:v>
                </c:pt>
                <c:pt idx="13">
                  <c:v>89</c:v>
                </c:pt>
                <c:pt idx="14">
                  <c:v>91.5</c:v>
                </c:pt>
                <c:pt idx="15">
                  <c:v>93</c:v>
                </c:pt>
                <c:pt idx="16">
                  <c:v>95</c:v>
                </c:pt>
                <c:pt idx="17">
                  <c:v>97</c:v>
                </c:pt>
                <c:pt idx="18">
                  <c:v>99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E234-4B0A-A1C4-707A300154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CF48-CA5B-4806-9798-296E93EE5D0C}" type="datetimeFigureOut"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9A18B9-4859-4842-9184-AFFED091AC3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8265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274320"/>
            <a:ext cx="3657600" cy="365760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F4A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822960"/>
            <a:ext cx="2377440" cy="2377440"/>
          </a:xfrm>
          <a:prstGeom prst="ellipse">
            <a:avLst/>
          </a:prstGeom>
          <a:solidFill>
            <a:srgbClr val="234870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4864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600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Defaults</a:t>
            </a:r>
            <a:endParaRPr lang="en-US" sz="400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 Techniques</a:t>
            </a:r>
            <a:endParaRPr lang="en-US" sz="180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2286000" cy="36576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0632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BFOR 516 – Advanced Data Analytics for Cybersecurity  |  Spring 2026</a:t>
            </a:r>
            <a:endParaRPr lang="en-US" sz="1100"/>
          </a:p>
        </p:txBody>
      </p:sp>
      <p:sp>
        <p:nvSpPr>
          <p:cNvPr id="10" name="Shape 8"/>
          <p:cNvSpPr/>
          <p:nvPr/>
        </p:nvSpPr>
        <p:spPr>
          <a:xfrm>
            <a:off x="457200" y="3520440"/>
            <a:ext cx="45720" cy="2560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520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Kone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457200" y="3867912"/>
            <a:ext cx="45720" cy="2560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867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H. Bahar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457200" y="4215384"/>
            <a:ext cx="45720" cy="2560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21538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Kunapureddy Leela Pavan Kumar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457200" y="4562856"/>
            <a:ext cx="45720" cy="2560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456285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Maddirala Shalem Raju</a:t>
            </a:r>
            <a:endParaRPr lang="en-US" sz="1200"/>
          </a:p>
        </p:txBody>
      </p:sp>
      <p:sp>
        <p:nvSpPr>
          <p:cNvPr id="18" name="Text 16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Faculty: Dr. Srishti Gupta  |  Group 3</a:t>
            </a:r>
            <a:endParaRPr lang="en-US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&amp; Stakes</a:t>
            </a:r>
            <a:endParaRPr lang="en-US" sz="280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73152" cy="16459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3385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defaults cost banks billions annually — predicting them early prevents major losses</a:t>
            </a:r>
            <a:endParaRPr lang="en-US" sz="120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73152" cy="16459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13385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4937760" y="1481328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22% of clients default, making prediction harder — the model must detect the minority</a:t>
            </a:r>
            <a:endParaRPr lang="en-US" sz="1200"/>
          </a:p>
        </p:txBody>
      </p:sp>
      <p:sp>
        <p:nvSpPr>
          <p:cNvPr id="13" name="Shape 11"/>
          <p:cNvSpPr/>
          <p:nvPr/>
        </p:nvSpPr>
        <p:spPr>
          <a:xfrm>
            <a:off x="365760" y="2880360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880360"/>
            <a:ext cx="73152" cy="16459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0083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Dataset</a:t>
            </a:r>
            <a:endParaRPr lang="en-US" sz="1400"/>
          </a:p>
        </p:txBody>
      </p:sp>
      <p:sp>
        <p:nvSpPr>
          <p:cNvPr id="16" name="Text 14"/>
          <p:cNvSpPr/>
          <p:nvPr/>
        </p:nvSpPr>
        <p:spPr>
          <a:xfrm>
            <a:off x="548640" y="3355848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 Taiwan credit card clients from UCI ML Repository — real behavior, real stakes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4754880" y="2880360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880360"/>
            <a:ext cx="73152" cy="16459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30083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Metrics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4937760" y="3355848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alone is misleading — recall matters most since missing a defaulter is costlier</a:t>
            </a:r>
            <a:endParaRPr lang="en-US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300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of Credit Card Clients  |  UCI Machine Learning Repository  |  Yeh &amp; Lien (2009)</a:t>
            </a:r>
            <a:endParaRPr lang="en-US" sz="110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74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1325880"/>
            <a:ext cx="2560320" cy="15087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20040" y="1325880"/>
            <a:ext cx="2560320" cy="457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20040" y="150876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</a:t>
            </a:r>
            <a:endParaRPr lang="en-US" sz="3400"/>
          </a:p>
        </p:txBody>
      </p:sp>
      <p:sp>
        <p:nvSpPr>
          <p:cNvPr id="8" name="Text 6"/>
          <p:cNvSpPr/>
          <p:nvPr/>
        </p:nvSpPr>
        <p:spPr>
          <a:xfrm>
            <a:off x="320040" y="2240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Records</a:t>
            </a:r>
            <a:endParaRPr lang="en-US" sz="1200"/>
          </a:p>
        </p:txBody>
      </p:sp>
      <p:sp>
        <p:nvSpPr>
          <p:cNvPr id="9" name="Shape 7"/>
          <p:cNvSpPr/>
          <p:nvPr/>
        </p:nvSpPr>
        <p:spPr>
          <a:xfrm>
            <a:off x="3154680" y="1325880"/>
            <a:ext cx="2560320" cy="15087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154680" y="1325880"/>
            <a:ext cx="2560320" cy="457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154680" y="150876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3400"/>
          </a:p>
        </p:txBody>
      </p:sp>
      <p:sp>
        <p:nvSpPr>
          <p:cNvPr id="12" name="Text 10"/>
          <p:cNvSpPr/>
          <p:nvPr/>
        </p:nvSpPr>
        <p:spPr>
          <a:xfrm>
            <a:off x="3154680" y="2240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/>
          </a:p>
        </p:txBody>
      </p:sp>
      <p:sp>
        <p:nvSpPr>
          <p:cNvPr id="13" name="Shape 11"/>
          <p:cNvSpPr/>
          <p:nvPr/>
        </p:nvSpPr>
        <p:spPr>
          <a:xfrm>
            <a:off x="5989320" y="1325880"/>
            <a:ext cx="2560320" cy="15087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989320" y="1325880"/>
            <a:ext cx="2560320" cy="457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89320" y="150876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22.12%</a:t>
            </a:r>
            <a:endParaRPr lang="en-US" sz="3400"/>
          </a:p>
        </p:txBody>
      </p:sp>
      <p:sp>
        <p:nvSpPr>
          <p:cNvPr id="16" name="Text 14"/>
          <p:cNvSpPr/>
          <p:nvPr/>
        </p:nvSpPr>
        <p:spPr>
          <a:xfrm>
            <a:off x="5989320" y="2240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Rate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320040" y="3063240"/>
            <a:ext cx="2560320" cy="15087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20040" y="3063240"/>
            <a:ext cx="2560320" cy="457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20040" y="324612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3.5:1</a:t>
            </a:r>
            <a:endParaRPr lang="en-US" sz="3400"/>
          </a:p>
        </p:txBody>
      </p:sp>
      <p:sp>
        <p:nvSpPr>
          <p:cNvPr id="20" name="Text 18"/>
          <p:cNvSpPr/>
          <p:nvPr/>
        </p:nvSpPr>
        <p:spPr>
          <a:xfrm>
            <a:off x="32004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3154680" y="3063240"/>
            <a:ext cx="2560320" cy="15087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154680" y="3063240"/>
            <a:ext cx="2560320" cy="457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54680" y="324612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NT$167K</a:t>
            </a:r>
            <a:endParaRPr lang="en-US" sz="3400"/>
          </a:p>
        </p:txBody>
      </p:sp>
      <p:sp>
        <p:nvSpPr>
          <p:cNvPr id="24" name="Text 22"/>
          <p:cNvSpPr/>
          <p:nvPr/>
        </p:nvSpPr>
        <p:spPr>
          <a:xfrm>
            <a:off x="315468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Credit Limit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5989320" y="3063240"/>
            <a:ext cx="2560320" cy="15087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989320" y="3063240"/>
            <a:ext cx="2560320" cy="457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989320" y="324612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yrs</a:t>
            </a:r>
            <a:endParaRPr lang="en-US" sz="3400"/>
          </a:p>
        </p:txBody>
      </p:sp>
      <p:sp>
        <p:nvSpPr>
          <p:cNvPr id="28" name="Text 26"/>
          <p:cNvSpPr/>
          <p:nvPr/>
        </p:nvSpPr>
        <p:spPr>
          <a:xfrm>
            <a:off x="598932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Age</a:t>
            </a:r>
            <a:endParaRPr lang="en-US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 &amp; Cleaning</a:t>
            </a:r>
            <a:endParaRPr lang="en-US" sz="260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900"/>
          </a:p>
        </p:txBody>
      </p:sp>
      <p:sp>
        <p:nvSpPr>
          <p:cNvPr id="5" name="Text 3"/>
          <p:cNvSpPr/>
          <p:nvPr/>
        </p:nvSpPr>
        <p:spPr>
          <a:xfrm>
            <a:off x="4663440" y="91440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</a:t>
            </a:r>
            <a:endParaRPr lang="en-US" sz="90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438912" cy="10972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188720"/>
            <a:ext cx="438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91440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Inspection</a:t>
            </a:r>
            <a:endParaRPr lang="en-US" sz="1200"/>
          </a:p>
        </p:txBody>
      </p:sp>
      <p:sp>
        <p:nvSpPr>
          <p:cNvPr id="10" name="Text 8"/>
          <p:cNvSpPr/>
          <p:nvPr/>
        </p:nvSpPr>
        <p:spPr>
          <a:xfrm>
            <a:off x="914400" y="159105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 rows × 24 cols, all int64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missing values — 35 duplicate rows kept</a:t>
            </a:r>
            <a:endParaRPr lang="en-US" sz="1050"/>
          </a:p>
        </p:txBody>
      </p:sp>
      <p:sp>
        <p:nvSpPr>
          <p:cNvPr id="11" name="Shape 9"/>
          <p:cNvSpPr/>
          <p:nvPr/>
        </p:nvSpPr>
        <p:spPr>
          <a:xfrm>
            <a:off x="365760" y="242316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423160"/>
            <a:ext cx="438912" cy="10972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423160"/>
            <a:ext cx="438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914400" y="2514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Cleaning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914400" y="282549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0, 5, 6 undocumented → remapped to 4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345 rows affected (1.15%)</a:t>
            </a:r>
            <a:endParaRPr lang="en-US" sz="1050"/>
          </a:p>
        </p:txBody>
      </p:sp>
      <p:sp>
        <p:nvSpPr>
          <p:cNvPr id="16" name="Shape 14"/>
          <p:cNvSpPr/>
          <p:nvPr/>
        </p:nvSpPr>
        <p:spPr>
          <a:xfrm>
            <a:off x="365760" y="365760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657600"/>
            <a:ext cx="438912" cy="10972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657600"/>
            <a:ext cx="438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91440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Cleaning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914400" y="405993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0 undocumented → remapped to 3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rows affected. Total cleaned: 399 rows (1.3%)</a:t>
            </a:r>
            <a:endParaRPr lang="en-US" sz="1050"/>
          </a:p>
        </p:txBody>
      </p:sp>
      <p:sp>
        <p:nvSpPr>
          <p:cNvPr id="21" name="Shape 19"/>
          <p:cNvSpPr/>
          <p:nvPr/>
        </p:nvSpPr>
        <p:spPr>
          <a:xfrm>
            <a:off x="4663440" y="1188720"/>
            <a:ext cx="4297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1188720"/>
            <a:ext cx="438912" cy="10972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188720"/>
            <a:ext cx="438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/>
          </a:p>
        </p:txBody>
      </p:sp>
      <p:sp>
        <p:nvSpPr>
          <p:cNvPr id="24" name="Text 22"/>
          <p:cNvSpPr/>
          <p:nvPr/>
        </p:nvSpPr>
        <p:spPr>
          <a:xfrm>
            <a:off x="521208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Train/Test Split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5212080" y="1591056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split (random_state=42, stratify=y)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rate 22.12% preserved in both sets</a:t>
            </a:r>
            <a:endParaRPr lang="en-US" sz="1050"/>
          </a:p>
        </p:txBody>
      </p:sp>
      <p:sp>
        <p:nvSpPr>
          <p:cNvPr id="26" name="Shape 24"/>
          <p:cNvSpPr/>
          <p:nvPr/>
        </p:nvSpPr>
        <p:spPr>
          <a:xfrm>
            <a:off x="4663440" y="2423160"/>
            <a:ext cx="4297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2423160"/>
            <a:ext cx="438912" cy="10972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2423160"/>
            <a:ext cx="438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52120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Normalization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5212080" y="2825496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on train only → applied to both sets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data leakage from test set</a:t>
            </a:r>
            <a:endParaRPr lang="en-US" sz="1050"/>
          </a:p>
        </p:txBody>
      </p:sp>
      <p:sp>
        <p:nvSpPr>
          <p:cNvPr id="31" name="Shape 29"/>
          <p:cNvSpPr/>
          <p:nvPr/>
        </p:nvSpPr>
        <p:spPr>
          <a:xfrm>
            <a:off x="365760" y="4663440"/>
            <a:ext cx="8595360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BBDEF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68172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30,000 clean records  •  399 rows corrected (1.3%)  •  24,000 train / 6,000 test  •  No data leakage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 Rationale</a:t>
            </a:r>
            <a:endParaRPr lang="en-US" sz="2600"/>
          </a:p>
        </p:txBody>
      </p:sp>
      <p:sp>
        <p:nvSpPr>
          <p:cNvPr id="4" name="Shape 2"/>
          <p:cNvSpPr/>
          <p:nvPr/>
        </p:nvSpPr>
        <p:spPr>
          <a:xfrm>
            <a:off x="228600" y="91440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914400"/>
            <a:ext cx="2743200" cy="3657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914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338328" y="1325880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338328" y="192024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CHOSEN</a:t>
            </a:r>
            <a:endParaRPr lang="en-US" sz="900"/>
          </a:p>
        </p:txBody>
      </p:sp>
      <p:sp>
        <p:nvSpPr>
          <p:cNvPr id="9" name="Text 7"/>
          <p:cNvSpPr/>
          <p:nvPr/>
        </p:nvSpPr>
        <p:spPr>
          <a:xfrm>
            <a:off x="338328" y="214884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in finance; interpretable coefficients show feature impact on default probability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338328" y="288036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900"/>
          </a:p>
        </p:txBody>
      </p:sp>
      <p:sp>
        <p:nvSpPr>
          <p:cNvPr id="11" name="Text 9"/>
          <p:cNvSpPr/>
          <p:nvPr/>
        </p:nvSpPr>
        <p:spPr>
          <a:xfrm>
            <a:off x="338328" y="310896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linear separability — violated here (PCA shows class overlap)</a:t>
            </a:r>
            <a:endParaRPr lang="en-US" sz="1050"/>
          </a:p>
        </p:txBody>
      </p:sp>
      <p:sp>
        <p:nvSpPr>
          <p:cNvPr id="12" name="Text 10"/>
          <p:cNvSpPr/>
          <p:nvPr/>
        </p:nvSpPr>
        <p:spPr>
          <a:xfrm>
            <a:off x="338328" y="384048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FIX</a:t>
            </a: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338328" y="406908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class_weight='balanced' to counter 3.5:1 imbalance</a:t>
            </a:r>
            <a:endParaRPr lang="en-US" sz="1050"/>
          </a:p>
        </p:txBody>
      </p:sp>
      <p:sp>
        <p:nvSpPr>
          <p:cNvPr id="14" name="Shape 12"/>
          <p:cNvSpPr/>
          <p:nvPr/>
        </p:nvSpPr>
        <p:spPr>
          <a:xfrm>
            <a:off x="3136392" y="91440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36392" y="914400"/>
            <a:ext cx="2743200" cy="365760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36392" y="914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</a:t>
            </a:r>
            <a:endParaRPr lang="en-US" sz="1000"/>
          </a:p>
        </p:txBody>
      </p:sp>
      <p:sp>
        <p:nvSpPr>
          <p:cNvPr id="17" name="Text 15"/>
          <p:cNvSpPr/>
          <p:nvPr/>
        </p:nvSpPr>
        <p:spPr>
          <a:xfrm>
            <a:off x="3246120" y="1325880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Naive Bayes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3246120" y="192024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CHOSEN</a:t>
            </a:r>
            <a:endParaRPr lang="en-US" sz="900"/>
          </a:p>
        </p:txBody>
      </p:sp>
      <p:sp>
        <p:nvSpPr>
          <p:cNvPr id="19" name="Text 17"/>
          <p:cNvSpPr/>
          <p:nvPr/>
        </p:nvSpPr>
        <p:spPr>
          <a:xfrm>
            <a:off x="3246120" y="214884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approach using Bayes theorem — good contrast to deterministic LR</a:t>
            </a:r>
            <a:endParaRPr lang="en-US" sz="1050"/>
          </a:p>
        </p:txBody>
      </p:sp>
      <p:sp>
        <p:nvSpPr>
          <p:cNvPr id="20" name="Text 18"/>
          <p:cNvSpPr/>
          <p:nvPr/>
        </p:nvSpPr>
        <p:spPr>
          <a:xfrm>
            <a:off x="3246120" y="288036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900"/>
          </a:p>
        </p:txBody>
      </p:sp>
      <p:sp>
        <p:nvSpPr>
          <p:cNvPr id="21" name="Text 19"/>
          <p:cNvSpPr/>
          <p:nvPr/>
        </p:nvSpPr>
        <p:spPr>
          <a:xfrm>
            <a:off x="3246120" y="310896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feature independence — violated (PAY_AMT1–6 correlations &gt; 0.9)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3246120" y="384048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FIX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3246120" y="406908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class_weight support; expected lower performance</a:t>
            </a:r>
            <a:endParaRPr lang="en-US" sz="1050"/>
          </a:p>
        </p:txBody>
      </p:sp>
      <p:sp>
        <p:nvSpPr>
          <p:cNvPr id="24" name="Shape 22"/>
          <p:cNvSpPr/>
          <p:nvPr/>
        </p:nvSpPr>
        <p:spPr>
          <a:xfrm>
            <a:off x="6044184" y="91440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44184" y="914400"/>
            <a:ext cx="2743200" cy="3657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44184" y="914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000"/>
          </a:p>
        </p:txBody>
      </p:sp>
      <p:sp>
        <p:nvSpPr>
          <p:cNvPr id="27" name="Text 25"/>
          <p:cNvSpPr/>
          <p:nvPr/>
        </p:nvSpPr>
        <p:spPr>
          <a:xfrm>
            <a:off x="6153912" y="1325880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6153912" y="192024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CHOSEN</a:t>
            </a:r>
            <a:endParaRPr lang="en-US" sz="900"/>
          </a:p>
        </p:txBody>
      </p:sp>
      <p:sp>
        <p:nvSpPr>
          <p:cNvPr id="29" name="Text 27"/>
          <p:cNvSpPr/>
          <p:nvPr/>
        </p:nvSpPr>
        <p:spPr>
          <a:xfrm>
            <a:off x="6153912" y="214884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non-linear relationships without requiring feature scaling</a:t>
            </a:r>
            <a:endParaRPr lang="en-US" sz="1050"/>
          </a:p>
        </p:txBody>
      </p:sp>
      <p:sp>
        <p:nvSpPr>
          <p:cNvPr id="30" name="Text 28"/>
          <p:cNvSpPr/>
          <p:nvPr/>
        </p:nvSpPr>
        <p:spPr>
          <a:xfrm>
            <a:off x="6153912" y="288036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6153912" y="310896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Prone to overfitting — controlled with max_depth=5, min_samples_leaf=20</a:t>
            </a:r>
            <a:endParaRPr lang="en-US" sz="1050"/>
          </a:p>
        </p:txBody>
      </p:sp>
      <p:sp>
        <p:nvSpPr>
          <p:cNvPr id="32" name="Text 30"/>
          <p:cNvSpPr/>
          <p:nvPr/>
        </p:nvSpPr>
        <p:spPr>
          <a:xfrm>
            <a:off x="6153912" y="384048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FIX</a:t>
            </a:r>
            <a:endParaRPr lang="en-US" sz="900"/>
          </a:p>
        </p:txBody>
      </p:sp>
      <p:sp>
        <p:nvSpPr>
          <p:cNvPr id="33" name="Text 31"/>
          <p:cNvSpPr/>
          <p:nvPr/>
        </p:nvSpPr>
        <p:spPr>
          <a:xfrm>
            <a:off x="6153912" y="406908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impurity as criterion; class_weight='balanced' applied</a:t>
            </a:r>
            <a:endParaRPr lang="en-US" sz="10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Framework</a:t>
            </a:r>
            <a:endParaRPr lang="en-US" sz="300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74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used multiple metrics — accuracy alone is misleading with 78/22 class split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2651760" cy="182880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234440"/>
            <a:ext cx="2651760" cy="54864"/>
          </a:xfrm>
          <a:prstGeom prst="rect">
            <a:avLst/>
          </a:prstGeom>
          <a:solidFill>
            <a:srgbClr val="F44336"/>
          </a:solidFill>
          <a:ln w="12700">
            <a:solidFill>
              <a:srgbClr val="F443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325880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>
                <a:solidFill>
                  <a:srgbClr val="F44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HIGHEST PRIORITY</a:t>
            </a:r>
            <a:endParaRPr lang="en-US" sz="850"/>
          </a:p>
        </p:txBody>
      </p:sp>
      <p:sp>
        <p:nvSpPr>
          <p:cNvPr id="8" name="Text 6"/>
          <p:cNvSpPr/>
          <p:nvPr/>
        </p:nvSpPr>
        <p:spPr>
          <a:xfrm>
            <a:off x="384048" y="1527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(Default class)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384048" y="1892808"/>
            <a:ext cx="2286000" cy="18288"/>
          </a:xfrm>
          <a:prstGeom prst="rect">
            <a:avLst/>
          </a:prstGeom>
          <a:solidFill>
            <a:srgbClr val="1F4A7A"/>
          </a:solidFill>
          <a:ln w="12700">
            <a:solidFill>
              <a:srgbClr val="1F4A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965960"/>
            <a:ext cx="2432304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a real defaulter is the most costly error for the bank — false negatives mean undetected risk</a:t>
            </a:r>
            <a:endParaRPr lang="en-US" sz="1050"/>
          </a:p>
        </p:txBody>
      </p:sp>
      <p:sp>
        <p:nvSpPr>
          <p:cNvPr id="11" name="Shape 9"/>
          <p:cNvSpPr/>
          <p:nvPr/>
        </p:nvSpPr>
        <p:spPr>
          <a:xfrm>
            <a:off x="3154680" y="1234440"/>
            <a:ext cx="2651760" cy="182880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234440"/>
            <a:ext cx="2651760" cy="54864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4408" y="1325880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850"/>
          </a:p>
        </p:txBody>
      </p:sp>
      <p:sp>
        <p:nvSpPr>
          <p:cNvPr id="14" name="Text 12"/>
          <p:cNvSpPr/>
          <p:nvPr/>
        </p:nvSpPr>
        <p:spPr>
          <a:xfrm>
            <a:off x="3264408" y="1527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(Default class)</a:t>
            </a:r>
            <a:endParaRPr lang="en-US" sz="1300"/>
          </a:p>
        </p:txBody>
      </p:sp>
      <p:sp>
        <p:nvSpPr>
          <p:cNvPr id="15" name="Shape 13"/>
          <p:cNvSpPr/>
          <p:nvPr/>
        </p:nvSpPr>
        <p:spPr>
          <a:xfrm>
            <a:off x="3264408" y="1892808"/>
            <a:ext cx="2286000" cy="18288"/>
          </a:xfrm>
          <a:prstGeom prst="rect">
            <a:avLst/>
          </a:prstGeom>
          <a:solidFill>
            <a:srgbClr val="1F4A7A"/>
          </a:solidFill>
          <a:ln w="12700">
            <a:solidFill>
              <a:srgbClr val="1F4A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4408" y="1965960"/>
            <a:ext cx="2432304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important — too many false positives rejects creditworthy customers unnecessarily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035040" y="1234440"/>
            <a:ext cx="2651760" cy="182880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1234440"/>
            <a:ext cx="2651760" cy="54864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44768" y="1325880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METRIC</a:t>
            </a:r>
            <a:endParaRPr lang="en-US" sz="850"/>
          </a:p>
        </p:txBody>
      </p:sp>
      <p:sp>
        <p:nvSpPr>
          <p:cNvPr id="20" name="Text 18"/>
          <p:cNvSpPr/>
          <p:nvPr/>
        </p:nvSpPr>
        <p:spPr>
          <a:xfrm>
            <a:off x="6144768" y="1527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300"/>
          </a:p>
        </p:txBody>
      </p:sp>
      <p:sp>
        <p:nvSpPr>
          <p:cNvPr id="21" name="Shape 19"/>
          <p:cNvSpPr/>
          <p:nvPr/>
        </p:nvSpPr>
        <p:spPr>
          <a:xfrm>
            <a:off x="6144768" y="1892808"/>
            <a:ext cx="2286000" cy="18288"/>
          </a:xfrm>
          <a:prstGeom prst="rect">
            <a:avLst/>
          </a:prstGeom>
          <a:solidFill>
            <a:srgbClr val="1F4A7A"/>
          </a:solidFill>
          <a:ln w="12700">
            <a:solidFill>
              <a:srgbClr val="1F4A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44768" y="1965960"/>
            <a:ext cx="2432304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Harmonic mean of precision &amp; recall — single score that penalises extreme imbalance between the two</a:t>
            </a:r>
            <a:endParaRPr lang="en-US" sz="1050"/>
          </a:p>
        </p:txBody>
      </p:sp>
      <p:sp>
        <p:nvSpPr>
          <p:cNvPr id="23" name="Shape 21"/>
          <p:cNvSpPr/>
          <p:nvPr/>
        </p:nvSpPr>
        <p:spPr>
          <a:xfrm>
            <a:off x="274320" y="3200400"/>
            <a:ext cx="4114800" cy="169164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3200400"/>
            <a:ext cx="4114800" cy="54864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29184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COMPARISON</a:t>
            </a:r>
            <a:endParaRPr lang="en-US" sz="850"/>
          </a:p>
        </p:txBody>
      </p:sp>
      <p:sp>
        <p:nvSpPr>
          <p:cNvPr id="26" name="Text 24"/>
          <p:cNvSpPr/>
          <p:nvPr/>
        </p:nvSpPr>
        <p:spPr>
          <a:xfrm>
            <a:off x="411480" y="349300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400"/>
          </a:p>
        </p:txBody>
      </p:sp>
      <p:sp>
        <p:nvSpPr>
          <p:cNvPr id="27" name="Shape 25"/>
          <p:cNvSpPr/>
          <p:nvPr/>
        </p:nvSpPr>
        <p:spPr>
          <a:xfrm>
            <a:off x="411480" y="3858768"/>
            <a:ext cx="3657600" cy="18288"/>
          </a:xfrm>
          <a:prstGeom prst="rect">
            <a:avLst/>
          </a:prstGeom>
          <a:solidFill>
            <a:srgbClr val="1F4A7A"/>
          </a:solidFill>
          <a:ln w="12700">
            <a:solidFill>
              <a:srgbClr val="1F4A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discrimination ability across ALL decision thresholds — robust to class imbalance, main ranking metric</a:t>
            </a:r>
            <a:endParaRPr lang="en-US" sz="1100"/>
          </a:p>
        </p:txBody>
      </p:sp>
      <p:sp>
        <p:nvSpPr>
          <p:cNvPr id="29" name="Shape 27"/>
          <p:cNvSpPr/>
          <p:nvPr/>
        </p:nvSpPr>
        <p:spPr>
          <a:xfrm>
            <a:off x="4617720" y="3200400"/>
            <a:ext cx="4114800" cy="169164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17720" y="3200400"/>
            <a:ext cx="41148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329184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CHECK</a:t>
            </a:r>
            <a:endParaRPr lang="en-US" sz="850"/>
          </a:p>
        </p:txBody>
      </p:sp>
      <p:sp>
        <p:nvSpPr>
          <p:cNvPr id="32" name="Text 30"/>
          <p:cNvSpPr/>
          <p:nvPr/>
        </p:nvSpPr>
        <p:spPr>
          <a:xfrm>
            <a:off x="4754880" y="349300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Stratified CV</a:t>
            </a:r>
            <a:endParaRPr lang="en-US" sz="1400"/>
          </a:p>
        </p:txBody>
      </p:sp>
      <p:sp>
        <p:nvSpPr>
          <p:cNvPr id="33" name="Shape 31"/>
          <p:cNvSpPr/>
          <p:nvPr/>
        </p:nvSpPr>
        <p:spPr>
          <a:xfrm>
            <a:off x="4754880" y="3858768"/>
            <a:ext cx="3657600" cy="18288"/>
          </a:xfrm>
          <a:prstGeom prst="rect">
            <a:avLst/>
          </a:prstGeom>
          <a:solidFill>
            <a:srgbClr val="1F4A7A"/>
          </a:solidFill>
          <a:ln w="12700">
            <a:solidFill>
              <a:srgbClr val="1F4A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fold preserves the 22.12% default rate — guards against lucky/unlucky single splits and measures model stability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Results</a:t>
            </a:r>
            <a:endParaRPr lang="en-US" sz="260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6,000-sample stratified test set  |  * Metrics for Default (1) class</a:t>
            </a:r>
            <a:endParaRPr lang="en-US" sz="110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43000"/>
          <a:ext cx="8412480" cy="22860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Accuracy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Precision*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Recall*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F1-Score*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ROC-AUC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CV AUC (5-fold)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Logistic Regression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0.6795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0.3671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1565C0"/>
                          </a:solidFill>
                        </a:rPr>
                        <a:t>0.6202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0.4612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0.7084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0.7264 ± 0.011</a:t>
                      </a:r>
                      <a:endParaRPr lang="en-US" sz="11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Gaussian Naive Bayes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0.7518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0.4504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0.5539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0.4968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0.7248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0.7365 ± 0.010</a:t>
                      </a:r>
                      <a:endParaRPr lang="en-US" sz="11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00695C"/>
                          </a:solidFill>
                        </a:rPr>
                        <a:t>Decision Tree ✓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00695C"/>
                          </a:solidFill>
                        </a:rPr>
                        <a:t>0.7723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00695C"/>
                          </a:solidFill>
                        </a:rPr>
                        <a:t>0.4870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00695C"/>
                          </a:solidFill>
                        </a:rPr>
                        <a:t>0.5516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00695C"/>
                          </a:solidFill>
                        </a:rPr>
                        <a:t>0.5173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00695C"/>
                          </a:solidFill>
                        </a:rPr>
                        <a:t>0.7589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00695C"/>
                          </a:solidFill>
                        </a:rPr>
                        <a:t>0.7577 ± 0.007</a:t>
                      </a:r>
                      <a:endParaRPr lang="en-US" sz="11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61188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365760" y="3611880"/>
            <a:ext cx="1920240" cy="457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p/>
        </p:txBody>
      </p:sp>
      <p:sp>
        <p:nvSpPr>
          <p:cNvPr id="5" name="Text 5"/>
          <p:cNvSpPr/>
          <p:nvPr/>
        </p:nvSpPr>
        <p:spPr>
          <a:xfrm>
            <a:off x="365760" y="367588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F1</a:t>
            </a:r>
            <a:endParaRPr lang="en-US" sz="800"/>
          </a:p>
        </p:txBody>
      </p:sp>
      <p:sp>
        <p:nvSpPr>
          <p:cNvPr id="9" name="Text 6"/>
          <p:cNvSpPr/>
          <p:nvPr/>
        </p:nvSpPr>
        <p:spPr>
          <a:xfrm>
            <a:off x="365760" y="3904488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0.5173</a:t>
            </a:r>
            <a:endParaRPr lang="en-US" sz="2600"/>
          </a:p>
        </p:txBody>
      </p:sp>
      <p:sp>
        <p:nvSpPr>
          <p:cNvPr id="10" name="Text 7"/>
          <p:cNvSpPr/>
          <p:nvPr/>
        </p:nvSpPr>
        <p:spPr>
          <a:xfrm>
            <a:off x="365760" y="440740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900"/>
          </a:p>
        </p:txBody>
      </p:sp>
      <p:sp>
        <p:nvSpPr>
          <p:cNvPr id="11" name="Shape 8"/>
          <p:cNvSpPr/>
          <p:nvPr/>
        </p:nvSpPr>
        <p:spPr>
          <a:xfrm>
            <a:off x="2487168" y="361188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487168" y="3611880"/>
            <a:ext cx="1920240" cy="457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487168" y="367588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</a:t>
            </a:r>
            <a:endParaRPr lang="en-US" sz="800"/>
          </a:p>
        </p:txBody>
      </p:sp>
      <p:sp>
        <p:nvSpPr>
          <p:cNvPr id="14" name="Text 11"/>
          <p:cNvSpPr/>
          <p:nvPr/>
        </p:nvSpPr>
        <p:spPr>
          <a:xfrm>
            <a:off x="2487168" y="3904488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0.7589</a:t>
            </a:r>
            <a:endParaRPr lang="en-US" sz="2600"/>
          </a:p>
        </p:txBody>
      </p:sp>
      <p:sp>
        <p:nvSpPr>
          <p:cNvPr id="15" name="Text 12"/>
          <p:cNvSpPr/>
          <p:nvPr/>
        </p:nvSpPr>
        <p:spPr>
          <a:xfrm>
            <a:off x="2487168" y="440740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900"/>
          </a:p>
        </p:txBody>
      </p:sp>
      <p:sp>
        <p:nvSpPr>
          <p:cNvPr id="16" name="Shape 13"/>
          <p:cNvSpPr/>
          <p:nvPr/>
        </p:nvSpPr>
        <p:spPr>
          <a:xfrm>
            <a:off x="4608576" y="361188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4608576" y="3611880"/>
            <a:ext cx="1920240" cy="457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4608576" y="367588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RECALL</a:t>
            </a:r>
            <a:endParaRPr lang="en-US" sz="800"/>
          </a:p>
        </p:txBody>
      </p:sp>
      <p:sp>
        <p:nvSpPr>
          <p:cNvPr id="19" name="Text 16"/>
          <p:cNvSpPr/>
          <p:nvPr/>
        </p:nvSpPr>
        <p:spPr>
          <a:xfrm>
            <a:off x="4608576" y="3904488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0.6202</a:t>
            </a:r>
            <a:endParaRPr lang="en-US" sz="2600"/>
          </a:p>
        </p:txBody>
      </p:sp>
      <p:sp>
        <p:nvSpPr>
          <p:cNvPr id="20" name="Text 17"/>
          <p:cNvSpPr/>
          <p:nvPr/>
        </p:nvSpPr>
        <p:spPr>
          <a:xfrm>
            <a:off x="4608576" y="440740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900"/>
          </a:p>
        </p:txBody>
      </p:sp>
      <p:sp>
        <p:nvSpPr>
          <p:cNvPr id="21" name="Shape 18"/>
          <p:cNvSpPr/>
          <p:nvPr/>
        </p:nvSpPr>
        <p:spPr>
          <a:xfrm>
            <a:off x="6729984" y="361188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6729984" y="3611880"/>
            <a:ext cx="1920240" cy="4572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6729984" y="367588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CV VARIANCE</a:t>
            </a:r>
            <a:endParaRPr lang="en-US" sz="800"/>
          </a:p>
        </p:txBody>
      </p:sp>
      <p:sp>
        <p:nvSpPr>
          <p:cNvPr id="24" name="Text 21"/>
          <p:cNvSpPr/>
          <p:nvPr/>
        </p:nvSpPr>
        <p:spPr>
          <a:xfrm>
            <a:off x="6729984" y="3904488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±0.007</a:t>
            </a:r>
            <a:endParaRPr lang="en-US" sz="2600"/>
          </a:p>
        </p:txBody>
      </p:sp>
      <p:sp>
        <p:nvSpPr>
          <p:cNvPr id="25" name="Text 22"/>
          <p:cNvSpPr/>
          <p:nvPr/>
        </p:nvSpPr>
        <p:spPr>
          <a:xfrm>
            <a:off x="6729984" y="440740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– most stable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Performance Comparison</a:t>
            </a:r>
            <a:endParaRPr lang="en-US" sz="260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822960"/>
          <a:ext cx="841248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Picture 4" descr="fig_08_model_comparison_r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1005840"/>
            <a:ext cx="85039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Predictor: PAY_0</a:t>
            </a:r>
            <a:endParaRPr lang="en-US" sz="300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50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— Gini Feature Importance  |  PAY_0 = most recent month repayment status</a:t>
            </a:r>
            <a:endParaRPr lang="en-US" sz="110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1188720"/>
          <a:ext cx="512064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234440"/>
            <a:ext cx="3291840" cy="896112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0" y="1234440"/>
            <a:ext cx="54864" cy="89611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687568" y="128016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74.61%</a:t>
            </a:r>
            <a:endParaRPr lang="en-US" sz="2000"/>
          </a:p>
        </p:txBody>
      </p:sp>
      <p:sp>
        <p:nvSpPr>
          <p:cNvPr id="9" name="Text 6"/>
          <p:cNvSpPr/>
          <p:nvPr/>
        </p:nvSpPr>
        <p:spPr>
          <a:xfrm>
            <a:off x="5687568" y="1627632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PAY_0 Gini Importance</a:t>
            </a:r>
            <a:endParaRPr lang="en-US" sz="1100"/>
          </a:p>
        </p:txBody>
      </p:sp>
      <p:sp>
        <p:nvSpPr>
          <p:cNvPr id="10" name="Text 7"/>
          <p:cNvSpPr/>
          <p:nvPr/>
        </p:nvSpPr>
        <p:spPr>
          <a:xfrm>
            <a:off x="5687568" y="182880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all other 22 features combined</a:t>
            </a:r>
            <a:endParaRPr lang="en-US" sz="1000"/>
          </a:p>
        </p:txBody>
      </p:sp>
      <p:sp>
        <p:nvSpPr>
          <p:cNvPr id="11" name="Shape 8"/>
          <p:cNvSpPr/>
          <p:nvPr/>
        </p:nvSpPr>
        <p:spPr>
          <a:xfrm>
            <a:off x="5577840" y="2240280"/>
            <a:ext cx="3291840" cy="896112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5577840" y="2240280"/>
            <a:ext cx="54864" cy="89611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687568" y="228600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</a:t>
            </a:r>
            <a:endParaRPr lang="en-US" sz="2000"/>
          </a:p>
        </p:txBody>
      </p:sp>
      <p:sp>
        <p:nvSpPr>
          <p:cNvPr id="14" name="Text 11"/>
          <p:cNvSpPr/>
          <p:nvPr/>
        </p:nvSpPr>
        <p:spPr>
          <a:xfrm>
            <a:off x="5687568" y="2633472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payment history vars</a:t>
            </a:r>
            <a:endParaRPr lang="en-US" sz="1100"/>
          </a:p>
        </p:txBody>
      </p:sp>
      <p:sp>
        <p:nvSpPr>
          <p:cNvPr id="15" name="Text 12"/>
          <p:cNvSpPr/>
          <p:nvPr/>
        </p:nvSpPr>
        <p:spPr>
          <a:xfrm>
            <a:off x="5687568" y="283464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PAY_0, PAY_AMT2, PAY_4</a:t>
            </a:r>
            <a:endParaRPr lang="en-US" sz="1000"/>
          </a:p>
        </p:txBody>
      </p:sp>
      <p:sp>
        <p:nvSpPr>
          <p:cNvPr id="16" name="Shape 13"/>
          <p:cNvSpPr/>
          <p:nvPr/>
        </p:nvSpPr>
        <p:spPr>
          <a:xfrm>
            <a:off x="5577840" y="3246120"/>
            <a:ext cx="3291840" cy="896112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5577840" y="3246120"/>
            <a:ext cx="54864" cy="89611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687568" y="329184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Verified</a:t>
            </a:r>
            <a:endParaRPr lang="en-US" sz="2000"/>
          </a:p>
        </p:txBody>
      </p:sp>
      <p:sp>
        <p:nvSpPr>
          <p:cNvPr id="19" name="Text 16"/>
          <p:cNvSpPr/>
          <p:nvPr/>
        </p:nvSpPr>
        <p:spPr>
          <a:xfrm>
            <a:off x="5687568" y="3639312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Yeh &amp; Lien (2009)</a:t>
            </a:r>
            <a:endParaRPr lang="en-US" sz="1100"/>
          </a:p>
        </p:txBody>
      </p:sp>
      <p:sp>
        <p:nvSpPr>
          <p:cNvPr id="20" name="Text 17"/>
          <p:cNvSpPr/>
          <p:nvPr/>
        </p:nvSpPr>
        <p:spPr>
          <a:xfrm>
            <a:off x="5687568" y="38404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paper confirmed same finding</a:t>
            </a:r>
            <a:endParaRPr lang="en-US" sz="1000"/>
          </a:p>
        </p:txBody>
      </p:sp>
      <p:sp>
        <p:nvSpPr>
          <p:cNvPr id="21" name="Shape 18"/>
          <p:cNvSpPr/>
          <p:nvPr/>
        </p:nvSpPr>
        <p:spPr>
          <a:xfrm>
            <a:off x="5577840" y="4297680"/>
            <a:ext cx="3291840" cy="594360"/>
          </a:xfrm>
          <a:prstGeom prst="rect">
            <a:avLst/>
          </a:prstGeom>
          <a:solidFill>
            <a:srgbClr val="1A2D1A"/>
          </a:solidFill>
          <a:ln w="12700">
            <a:solidFill>
              <a:srgbClr val="00C853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669280" y="4325112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paid late last month → you're likely to default next month.</a:t>
            </a:r>
            <a:endParaRPr lang="en-US" sz="1100"/>
          </a:p>
        </p:txBody>
      </p:sp>
      <p:pic>
        <p:nvPicPr>
          <p:cNvPr id="23" name="Picture 22" descr="fig_09_feature_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188720"/>
            <a:ext cx="438912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&amp; Dimensionality Insights</a:t>
            </a:r>
            <a:endParaRPr lang="en-US" sz="260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914400"/>
          <a:ext cx="502920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577840" y="960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Thresholds</a:t>
            </a:r>
            <a:endParaRPr lang="en-US" sz="1400"/>
          </a:p>
        </p:txBody>
      </p:sp>
      <p:sp>
        <p:nvSpPr>
          <p:cNvPr id="6" name="Shape 3"/>
          <p:cNvSpPr/>
          <p:nvPr/>
        </p:nvSpPr>
        <p:spPr>
          <a:xfrm>
            <a:off x="5577840" y="141732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0" y="1417320"/>
            <a:ext cx="54864" cy="5486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687568" y="1444752"/>
            <a:ext cx="3017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variance</a:t>
            </a:r>
            <a:endParaRPr lang="en-US" sz="1300"/>
          </a:p>
        </p:txBody>
      </p:sp>
      <p:sp>
        <p:nvSpPr>
          <p:cNvPr id="9" name="Text 6"/>
          <p:cNvSpPr/>
          <p:nvPr/>
        </p:nvSpPr>
        <p:spPr>
          <a:xfrm>
            <a:off x="5687568" y="1682496"/>
            <a:ext cx="3017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13 components needed</a:t>
            </a:r>
            <a:endParaRPr lang="en-US" sz="1100"/>
          </a:p>
        </p:txBody>
      </p:sp>
      <p:sp>
        <p:nvSpPr>
          <p:cNvPr id="10" name="Shape 7"/>
          <p:cNvSpPr/>
          <p:nvPr/>
        </p:nvSpPr>
        <p:spPr>
          <a:xfrm>
            <a:off x="5577840" y="210312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577840" y="2103120"/>
            <a:ext cx="54864" cy="54864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687568" y="2130552"/>
            <a:ext cx="3017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variance</a:t>
            </a:r>
            <a:endParaRPr lang="en-US" sz="1300"/>
          </a:p>
        </p:txBody>
      </p:sp>
      <p:sp>
        <p:nvSpPr>
          <p:cNvPr id="13" name="Text 10"/>
          <p:cNvSpPr/>
          <p:nvPr/>
        </p:nvSpPr>
        <p:spPr>
          <a:xfrm>
            <a:off x="5687568" y="2368296"/>
            <a:ext cx="3017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15 components needed</a:t>
            </a:r>
            <a:endParaRPr lang="en-US" sz="1100"/>
          </a:p>
        </p:txBody>
      </p:sp>
      <p:sp>
        <p:nvSpPr>
          <p:cNvPr id="14" name="Shape 11"/>
          <p:cNvSpPr/>
          <p:nvPr/>
        </p:nvSpPr>
        <p:spPr>
          <a:xfrm>
            <a:off x="5577840" y="278892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5577840" y="2788920"/>
            <a:ext cx="54864" cy="54864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687568" y="2816352"/>
            <a:ext cx="3017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variance</a:t>
            </a:r>
            <a:endParaRPr lang="en-US" sz="1300"/>
          </a:p>
        </p:txBody>
      </p:sp>
      <p:sp>
        <p:nvSpPr>
          <p:cNvPr id="17" name="Text 14"/>
          <p:cNvSpPr/>
          <p:nvPr/>
        </p:nvSpPr>
        <p:spPr>
          <a:xfrm>
            <a:off x="5687568" y="3054096"/>
            <a:ext cx="3017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19 components needed</a:t>
            </a:r>
            <a:endParaRPr lang="en-US" sz="1100"/>
          </a:p>
        </p:txBody>
      </p:sp>
      <p:sp>
        <p:nvSpPr>
          <p:cNvPr id="18" name="Text 15"/>
          <p:cNvSpPr/>
          <p:nvPr/>
        </p:nvSpPr>
        <p:spPr>
          <a:xfrm>
            <a:off x="5577840" y="3566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tells us:</a:t>
            </a:r>
            <a:endParaRPr lang="en-US" sz="1200"/>
          </a:p>
        </p:txBody>
      </p:sp>
      <p:sp>
        <p:nvSpPr>
          <p:cNvPr id="19" name="Text 16"/>
          <p:cNvSpPr/>
          <p:nvPr/>
        </p:nvSpPr>
        <p:spPr>
          <a:xfrm>
            <a:off x="5577840" y="3886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Dataset has moderate correlations — not strongly reducible
• Classes overlap in 2D PCA space — confirms non-linear boundaries
• Explains why Decision Tree outperforms Logistic Regression</a:t>
            </a:r>
            <a:endParaRPr lang="en-US" sz="1050"/>
          </a:p>
        </p:txBody>
      </p:sp>
      <p:pic>
        <p:nvPicPr>
          <p:cNvPr id="20" name="Picture 19" descr="fig_06_pca_vari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188720"/>
            <a:ext cx="43891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&amp; Lessons</a:t>
            </a:r>
            <a:endParaRPr lang="en-US" sz="300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17373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84048" y="1188720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84048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</a:t>
            </a:r>
            <a:endParaRPr lang="en-US" sz="1100"/>
          </a:p>
        </p:txBody>
      </p:sp>
      <p:sp>
        <p:nvSpPr>
          <p:cNvPr id="7" name="Text 5"/>
          <p:cNvSpPr/>
          <p:nvPr/>
        </p:nvSpPr>
        <p:spPr>
          <a:xfrm>
            <a:off x="987552" y="1188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300"/>
          </a:p>
        </p:txBody>
      </p:sp>
      <p:sp>
        <p:nvSpPr>
          <p:cNvPr id="8" name="Text 6"/>
          <p:cNvSpPr/>
          <p:nvPr/>
        </p:nvSpPr>
        <p:spPr>
          <a:xfrm>
            <a:off x="411480" y="16002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recall (0.62) — finds most defaulters</a:t>
            </a:r>
            <a:endParaRPr lang="en-US" sz="1100"/>
          </a:p>
        </p:txBody>
      </p:sp>
      <p:sp>
        <p:nvSpPr>
          <p:cNvPr id="9" name="Text 7"/>
          <p:cNvSpPr/>
          <p:nvPr/>
        </p:nvSpPr>
        <p:spPr>
          <a:xfrm>
            <a:off x="411480" y="187452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very low precision (0.37) — flags too many non-defaulters. Class imbalance handling essential.</a:t>
            </a:r>
            <a:endParaRPr lang="en-US" sz="105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4114800" cy="17373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818888" y="1188720"/>
            <a:ext cx="502920" cy="502920"/>
          </a:xfrm>
          <a:prstGeom prst="ellipse">
            <a:avLst/>
          </a:prstGeom>
          <a:solidFill>
            <a:srgbClr val="9C27B0"/>
          </a:solidFill>
          <a:ln w="12700">
            <a:solidFill>
              <a:srgbClr val="9C27B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18888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</a:t>
            </a:r>
            <a:endParaRPr lang="en-US" sz="1100"/>
          </a:p>
        </p:txBody>
      </p:sp>
      <p:sp>
        <p:nvSpPr>
          <p:cNvPr id="13" name="Text 11"/>
          <p:cNvSpPr/>
          <p:nvPr/>
        </p:nvSpPr>
        <p:spPr>
          <a:xfrm>
            <a:off x="5422392" y="1188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Naive Bayes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4846320" y="16002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all-round but worst accuracy (0.75)</a:t>
            </a:r>
            <a:endParaRPr lang="en-US" sz="1100"/>
          </a:p>
        </p:txBody>
      </p:sp>
      <p:sp>
        <p:nvSpPr>
          <p:cNvPr id="15" name="Text 13"/>
          <p:cNvSpPr/>
          <p:nvPr/>
        </p:nvSpPr>
        <p:spPr>
          <a:xfrm>
            <a:off x="4846320" y="187452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independence assumption strongly violated — correlations in PAY_AMT columns hurt performance significantly.</a:t>
            </a:r>
            <a:endParaRPr lang="en-US" sz="1050"/>
          </a:p>
        </p:txBody>
      </p:sp>
      <p:sp>
        <p:nvSpPr>
          <p:cNvPr id="16" name="Shape 14"/>
          <p:cNvSpPr/>
          <p:nvPr/>
        </p:nvSpPr>
        <p:spPr>
          <a:xfrm>
            <a:off x="274320" y="2971800"/>
            <a:ext cx="4114800" cy="17373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84048" y="3154680"/>
            <a:ext cx="502920" cy="502920"/>
          </a:xfrm>
          <a:prstGeom prst="ellipse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84048" y="3154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</a:t>
            </a:r>
            <a:endParaRPr lang="en-US" sz="1100"/>
          </a:p>
        </p:txBody>
      </p:sp>
      <p:sp>
        <p:nvSpPr>
          <p:cNvPr id="19" name="Text 17"/>
          <p:cNvSpPr/>
          <p:nvPr/>
        </p:nvSpPr>
        <p:spPr>
          <a:xfrm>
            <a:off x="987552" y="31546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(Winner)</a:t>
            </a:r>
            <a:endParaRPr lang="en-US" sz="1300"/>
          </a:p>
        </p:txBody>
      </p:sp>
      <p:sp>
        <p:nvSpPr>
          <p:cNvPr id="20" name="Text 18"/>
          <p:cNvSpPr/>
          <p:nvPr/>
        </p:nvSpPr>
        <p:spPr>
          <a:xfrm>
            <a:off x="411480" y="3566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F1 (0.52), best AUC (0.76), most stable CV</a:t>
            </a:r>
            <a:endParaRPr lang="en-US" sz="1100"/>
          </a:p>
        </p:txBody>
      </p:sp>
      <p:sp>
        <p:nvSpPr>
          <p:cNvPr id="21" name="Text 19"/>
          <p:cNvSpPr/>
          <p:nvPr/>
        </p:nvSpPr>
        <p:spPr>
          <a:xfrm>
            <a:off x="411480" y="384048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Non-linearity captured well. Gini impurity reveals PAY_0 dominance. Controlled depth prevents overfitting.</a:t>
            </a:r>
            <a:endParaRPr lang="en-US" sz="1050"/>
          </a:p>
        </p:txBody>
      </p:sp>
      <p:sp>
        <p:nvSpPr>
          <p:cNvPr id="22" name="Shape 20"/>
          <p:cNvSpPr/>
          <p:nvPr/>
        </p:nvSpPr>
        <p:spPr>
          <a:xfrm>
            <a:off x="4709160" y="2971800"/>
            <a:ext cx="4114800" cy="17373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818888" y="3154680"/>
            <a:ext cx="502920" cy="50292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818888" y="3154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00"/>
          </a:p>
        </p:txBody>
      </p:sp>
      <p:sp>
        <p:nvSpPr>
          <p:cNvPr id="25" name="Text 23"/>
          <p:cNvSpPr/>
          <p:nvPr/>
        </p:nvSpPr>
        <p:spPr>
          <a:xfrm>
            <a:off x="5422392" y="31546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Project Lesson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4846320" y="3566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behavior &gt; demographics &gt; historical averages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4846320" y="384048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PAY_0 alone contributes 74.6% of split importance. Banks should weight current-month payment status highest.</a:t>
            </a:r>
            <a:endParaRPr lang="en-US" sz="10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Improved the Models</a:t>
            </a:r>
            <a:endParaRPr lang="en-US" sz="260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8595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1005840" cy="80467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60120"/>
            <a:ext cx="1005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24</a:t>
            </a:r>
            <a:endParaRPr lang="en-US" sz="1100"/>
          </a:p>
        </p:txBody>
      </p:sp>
      <p:sp>
        <p:nvSpPr>
          <p:cNvPr id="7" name="Shape 5"/>
          <p:cNvSpPr/>
          <p:nvPr/>
        </p:nvSpPr>
        <p:spPr>
          <a:xfrm>
            <a:off x="8046720" y="1143000"/>
            <a:ext cx="777240" cy="43891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0" y="1143000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/>
          </a:p>
        </p:txBody>
      </p:sp>
      <p:sp>
        <p:nvSpPr>
          <p:cNvPr id="9" name="Text 7"/>
          <p:cNvSpPr/>
          <p:nvPr/>
        </p:nvSpPr>
        <p:spPr>
          <a:xfrm>
            <a:off x="1417320" y="1051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1417320" y="1362456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— varying C for LR, max_depth &amp; min_samples_leaf for DT</a:t>
            </a:r>
            <a:endParaRPr lang="en-US" sz="1050"/>
          </a:p>
        </p:txBody>
      </p:sp>
      <p:sp>
        <p:nvSpPr>
          <p:cNvPr id="11" name="Shape 9"/>
          <p:cNvSpPr/>
          <p:nvPr/>
        </p:nvSpPr>
        <p:spPr>
          <a:xfrm>
            <a:off x="274320" y="1920240"/>
            <a:ext cx="8595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920240"/>
            <a:ext cx="1005840" cy="80467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920240"/>
            <a:ext cx="1005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31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>
          <a:xfrm>
            <a:off x="8046720" y="2103120"/>
            <a:ext cx="777240" cy="43891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0" y="2103120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/>
          </a:p>
        </p:txBody>
      </p:sp>
      <p:sp>
        <p:nvSpPr>
          <p:cNvPr id="16" name="Text 14"/>
          <p:cNvSpPr/>
          <p:nvPr/>
        </p:nvSpPr>
        <p:spPr>
          <a:xfrm>
            <a:off x="1417320" y="2011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Resampling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1417320" y="2322576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imblearn SMOTE to synthesize minority class samples &amp; address 3.5:1 imbalance</a:t>
            </a:r>
            <a:endParaRPr lang="en-US" sz="1050"/>
          </a:p>
        </p:txBody>
      </p:sp>
      <p:sp>
        <p:nvSpPr>
          <p:cNvPr id="18" name="Shape 16"/>
          <p:cNvSpPr/>
          <p:nvPr/>
        </p:nvSpPr>
        <p:spPr>
          <a:xfrm>
            <a:off x="274320" y="2880360"/>
            <a:ext cx="8595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880360"/>
            <a:ext cx="1005840" cy="80467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880360"/>
            <a:ext cx="1005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7</a:t>
            </a:r>
            <a:endParaRPr lang="en-US" sz="1100"/>
          </a:p>
        </p:txBody>
      </p:sp>
      <p:sp>
        <p:nvSpPr>
          <p:cNvPr id="21" name="Shape 19"/>
          <p:cNvSpPr/>
          <p:nvPr/>
        </p:nvSpPr>
        <p:spPr>
          <a:xfrm>
            <a:off x="8046720" y="3063240"/>
            <a:ext cx="777240" cy="43891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0" y="3063240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1417320" y="2971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300"/>
          </a:p>
        </p:txBody>
      </p:sp>
      <p:sp>
        <p:nvSpPr>
          <p:cNvPr id="24" name="Text 22"/>
          <p:cNvSpPr/>
          <p:nvPr/>
        </p:nvSpPr>
        <p:spPr>
          <a:xfrm>
            <a:off x="1417320" y="3282696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utilization ratios (PAY_AMT / BILL_AMT) as new features + Random Forest tested</a:t>
            </a:r>
            <a:endParaRPr lang="en-US" sz="1050"/>
          </a:p>
        </p:txBody>
      </p:sp>
      <p:sp>
        <p:nvSpPr>
          <p:cNvPr id="25" name="Shape 23"/>
          <p:cNvSpPr/>
          <p:nvPr/>
        </p:nvSpPr>
        <p:spPr>
          <a:xfrm>
            <a:off x="274320" y="3840480"/>
            <a:ext cx="8595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74320" y="3840480"/>
            <a:ext cx="1005840" cy="80467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3840480"/>
            <a:ext cx="1005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14</a:t>
            </a:r>
            <a:endParaRPr lang="en-US" sz="1100"/>
          </a:p>
        </p:txBody>
      </p:sp>
      <p:sp>
        <p:nvSpPr>
          <p:cNvPr id="28" name="Shape 26"/>
          <p:cNvSpPr/>
          <p:nvPr/>
        </p:nvSpPr>
        <p:spPr>
          <a:xfrm>
            <a:off x="8046720" y="4023360"/>
            <a:ext cx="777240" cy="43891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46720" y="4023360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141732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 Selection</a:t>
            </a:r>
            <a:endParaRPr lang="en-US" sz="1300"/>
          </a:p>
        </p:txBody>
      </p:sp>
      <p:sp>
        <p:nvSpPr>
          <p:cNvPr id="31" name="Text 29"/>
          <p:cNvSpPr/>
          <p:nvPr/>
        </p:nvSpPr>
        <p:spPr>
          <a:xfrm>
            <a:off x="1417320" y="4242816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pipeline comparison, final report, and this presentation</a:t>
            </a:r>
            <a:endParaRPr lang="en-US" sz="10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600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20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600"/>
          </a:p>
        </p:txBody>
      </p:sp>
      <p:sp>
        <p:nvSpPr>
          <p:cNvPr id="5" name="Shape 3"/>
          <p:cNvSpPr/>
          <p:nvPr/>
        </p:nvSpPr>
        <p:spPr>
          <a:xfrm>
            <a:off x="365760" y="1490472"/>
            <a:ext cx="438912" cy="438912"/>
          </a:xfrm>
          <a:prstGeom prst="ellipse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904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960120" y="147218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is the best model — highest F1 (0.5173), ROC-AUC (0.7589), and lowest CV variance (±0.007)</a:t>
            </a:r>
            <a:endParaRPr lang="en-US" sz="1250"/>
          </a:p>
        </p:txBody>
      </p:sp>
      <p:sp>
        <p:nvSpPr>
          <p:cNvPr id="8" name="Shape 6"/>
          <p:cNvSpPr/>
          <p:nvPr/>
        </p:nvSpPr>
        <p:spPr>
          <a:xfrm>
            <a:off x="365760" y="2203704"/>
            <a:ext cx="438912" cy="438912"/>
          </a:xfrm>
          <a:prstGeom prst="ellipse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65760" y="2203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/>
          </a:p>
        </p:txBody>
      </p:sp>
      <p:sp>
        <p:nvSpPr>
          <p:cNvPr id="10" name="Text 8"/>
          <p:cNvSpPr/>
          <p:nvPr/>
        </p:nvSpPr>
        <p:spPr>
          <a:xfrm>
            <a:off x="960120" y="218541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PAY_0 is overwhelmingly dominant at 74.6% Gini importance — recent payment behavior is the best predictor</a:t>
            </a:r>
            <a:endParaRPr lang="en-US" sz="1250"/>
          </a:p>
        </p:txBody>
      </p:sp>
      <p:sp>
        <p:nvSpPr>
          <p:cNvPr id="11" name="Shape 9"/>
          <p:cNvSpPr/>
          <p:nvPr/>
        </p:nvSpPr>
        <p:spPr>
          <a:xfrm>
            <a:off x="365760" y="2916936"/>
            <a:ext cx="438912" cy="438912"/>
          </a:xfrm>
          <a:prstGeom prst="ellipse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5760" y="291693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960120" y="28986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models fail when classes aren't separable — PCA &amp; DT results both confirm non-linear boundaries</a:t>
            </a:r>
            <a:endParaRPr lang="en-US" sz="1250"/>
          </a:p>
        </p:txBody>
      </p:sp>
      <p:sp>
        <p:nvSpPr>
          <p:cNvPr id="14" name="Shape 12"/>
          <p:cNvSpPr/>
          <p:nvPr/>
        </p:nvSpPr>
        <p:spPr>
          <a:xfrm>
            <a:off x="365760" y="3630168"/>
            <a:ext cx="438912" cy="438912"/>
          </a:xfrm>
          <a:prstGeom prst="ellipse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" y="36301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960120" y="36118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must be handled — balanced weighting was critical; SMOTE tested in final stage</a:t>
            </a:r>
            <a:endParaRPr lang="en-US" sz="1250"/>
          </a:p>
        </p:txBody>
      </p:sp>
      <p:sp>
        <p:nvSpPr>
          <p:cNvPr id="17" name="Shape 15"/>
          <p:cNvSpPr/>
          <p:nvPr/>
        </p:nvSpPr>
        <p:spPr>
          <a:xfrm>
            <a:off x="365760" y="4343400"/>
            <a:ext cx="438912" cy="438912"/>
          </a:xfrm>
          <a:prstGeom prst="ellipse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65760" y="43434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960120" y="432511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vs. Precision trade-off is domain-specific — for banks, missing a defaulter is riskier than a false flag</a:t>
            </a:r>
            <a:endParaRPr lang="en-US" sz="1250"/>
          </a:p>
        </p:txBody>
      </p:sp>
      <p:sp>
        <p:nvSpPr>
          <p:cNvPr id="20" name="Shape 18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548640"/>
            <a:ext cx="3657600" cy="3657600"/>
          </a:xfrm>
          <a:prstGeom prst="ellipse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3200400" y="2743200"/>
            <a:ext cx="2743200" cy="36576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  |  BFOR 516  |  Spring 2026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UCI Default of Credit Card Clients  |  Yeh &amp; Lien (2009)</a:t>
            </a:r>
            <a:endParaRPr lang="en-US" sz="1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14</Slides>
  <Notes>14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Credit Card Defaults - Group 3 Milestone 3</dc:title>
  <dc:subject>PptxGenJS Presentation</dc:subject>
  <dc:creator>PptxGenJS</dc:creator>
  <cp:revision>1</cp:revision>
  <dcterms:created xsi:type="dcterms:W3CDTF">2026-04-21T02:57:56Z</dcterms:created>
  <dcterms:modified xsi:type="dcterms:W3CDTF">2026-04-21T03:22:10Z</dcterms:modified>
</cp:coreProperties>
</file>